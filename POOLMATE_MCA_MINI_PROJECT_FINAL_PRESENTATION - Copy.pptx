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cf1d74f1-1f0c-ad54-73ed-bc5acbebc4ae}">
          <p14:sldIdLst>
            <p14:sldId id="256"/>
            <p14:sldId id="257"/>
            <p14:sldId id="258"/>
            <p14:sldId id="259"/>
            <p14:sldId id="260"/>
          </p14:sldIdLst>
        </p14:section>
        <p14:section name="Problem and System" id="{1f1b4a59-d21c-0958-04e2-1c74460cfda7}">
          <p14:sldIdLst>
            <p14:sldId id="261"/>
            <p14:sldId id="262"/>
            <p14:sldId id="263"/>
            <p14:sldId id="264"/>
            <p14:sldId id="265"/>
            <p14:sldId id="266"/>
          </p14:sldIdLst>
        </p14:section>
        <p14:section name="Design" id="{bb8257e8-9a9e-7e64-25e5-557b9bd8fec6}">
          <p14:sldIdLst>
            <p14:sldId id="267"/>
            <p14:sldId id="268"/>
            <p14:sldId id="269"/>
            <p14:sldId id="270"/>
            <p14:sldId id="271"/>
          </p14:sldIdLst>
        </p14:section>
        <p14:section name="Results and Evaluation" id="{350341a7-766f-f028-1871-3256a3152dbb}">
          <p14:sldIdLst>
            <p14:sldId id="272"/>
            <p14:sldId id="273"/>
            <p14:sldId id="274"/>
            <p14:sldId id="275"/>
            <p14:sldId id="276"/>
          </p14:sldIdLst>
        </p14:section>
        <p14:section name="Closing" id="{f6683a02-fa03-9790-80e7-431d22035b83}">
          <p14:sldIdLst>
            <p14:sldId id="277"/>
            <p14:sldId id="278"/>
            <p14:sldId id="279"/>
            <p14:sldId id="280"/>
            <p14:sldId id="281"/>
            <p14:sldId id="282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3" Type="http://schemas.openxmlformats.org/officeDocument/2006/relationships/tableStyles" Target="tableStyles.xml"/><Relationship Id="rId32" Type="http://schemas.openxmlformats.org/officeDocument/2006/relationships/viewProps" Target="viewProps.xml"/><Relationship Id="rId31" Type="http://schemas.openxmlformats.org/officeDocument/2006/relationships/presProps" Target="presProps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548640" y="274320"/>
            <a:ext cx="11064240" cy="777240"/>
          </a:xfrm>
          <a:prstGeom prst="rect">
            <a:avLst/>
          </a:prstGeom>
          <a:noFill/>
        </p:spPr>
        <p:txBody>
          <a:bodyPr wrap="square" rtlCol="0"/>
          <a:lstStyle>
            <a:lvl1pPr marL="0" indent="0" algn="l">
              <a:buNone/>
              <a:defRPr lang="en-US" sz="3200" b="1" dirty="0">
                <a:solidFill>
                  <a:schemeClr val="tx2"/>
                </a:solidFill>
              </a:defRPr>
            </a:lvl1pPr>
          </a:lstStyle>
          <a:p>
            <a:pPr marL="0" indent="0" algn="l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4"/>
                </a:solidFill>
              </a:rPr>
              <a:t>POOLMATE  |  MCA Mini Project Final Presentation  |  Department of Computer Applications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98480" y="6446520"/>
            <a:ext cx="914400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731520" y="1280160"/>
            <a:ext cx="7498080" cy="1097280"/>
          </a:xfrm>
          <a:prstGeom prst="rect">
            <a:avLst/>
          </a:prstGeom>
          <a:noFill/>
        </p:spPr>
        <p:txBody>
          <a:bodyPr wrap="square" rtlCol="0"/>
          <a:lstStyle>
            <a:lvl1pPr marL="0" indent="0" algn="l">
              <a:buNone/>
              <a:defRPr lang="en-US" sz="64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64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E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1371600" y="2103120"/>
            <a:ext cx="9445752" cy="1188720"/>
          </a:xfrm>
          <a:prstGeom prst="rect">
            <a:avLst/>
          </a:prstGeom>
          <a:noFill/>
        </p:spPr>
        <p:txBody>
          <a:bodyPr wrap="square" rtlCol="0"/>
          <a:lstStyle>
            <a:lvl1pPr marL="0" indent="0" algn="ctr">
              <a:buNone/>
              <a:defRPr lang="en-US" sz="6000" b="1" dirty="0">
                <a:solidFill>
                  <a:schemeClr val="bg1"/>
                </a:solidFill>
              </a:defRPr>
            </a:lvl1pPr>
          </a:lstStyle>
          <a:p>
            <a:pPr marL="0" indent="0" algn="ctr">
              <a:buNone/>
            </a:pPr>
            <a:endParaRPr lang="en-US" sz="6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98480" y="6446520"/>
            <a:ext cx="914400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4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8.png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2" Type="http://schemas.openxmlformats.org/officeDocument/2006/relationships/notesSlide" Target="../notesSlides/notesSlide5.xml"/><Relationship Id="rId11" Type="http://schemas.openxmlformats.org/officeDocument/2006/relationships/slideLayout" Target="../slideLayouts/slideLayout2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18.xml"/><Relationship Id="rId8" Type="http://schemas.openxmlformats.org/officeDocument/2006/relationships/tags" Target="../tags/tag17.xml"/><Relationship Id="rId7" Type="http://schemas.openxmlformats.org/officeDocument/2006/relationships/tags" Target="../tags/tag16.xml"/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image" Target="../media/image3.png"/><Relationship Id="rId38" Type="http://schemas.openxmlformats.org/officeDocument/2006/relationships/notesSlide" Target="../notesSlides/notesSlide7.xml"/><Relationship Id="rId37" Type="http://schemas.openxmlformats.org/officeDocument/2006/relationships/slideLayout" Target="../slideLayouts/slideLayout2.xml"/><Relationship Id="rId36" Type="http://schemas.openxmlformats.org/officeDocument/2006/relationships/tags" Target="../tags/tag40.xml"/><Relationship Id="rId35" Type="http://schemas.openxmlformats.org/officeDocument/2006/relationships/tags" Target="../tags/tag39.xml"/><Relationship Id="rId34" Type="http://schemas.openxmlformats.org/officeDocument/2006/relationships/image" Target="../media/image11.png"/><Relationship Id="rId33" Type="http://schemas.openxmlformats.org/officeDocument/2006/relationships/tags" Target="../tags/tag38.xml"/><Relationship Id="rId32" Type="http://schemas.openxmlformats.org/officeDocument/2006/relationships/tags" Target="../tags/tag37.xml"/><Relationship Id="rId31" Type="http://schemas.openxmlformats.org/officeDocument/2006/relationships/tags" Target="../tags/tag36.xml"/><Relationship Id="rId30" Type="http://schemas.openxmlformats.org/officeDocument/2006/relationships/tags" Target="../tags/tag35.xml"/><Relationship Id="rId3" Type="http://schemas.openxmlformats.org/officeDocument/2006/relationships/tags" Target="../tags/tag13.xml"/><Relationship Id="rId29" Type="http://schemas.openxmlformats.org/officeDocument/2006/relationships/tags" Target="../tags/tag34.xml"/><Relationship Id="rId28" Type="http://schemas.openxmlformats.org/officeDocument/2006/relationships/image" Target="../media/image10.png"/><Relationship Id="rId27" Type="http://schemas.openxmlformats.org/officeDocument/2006/relationships/tags" Target="../tags/tag33.xml"/><Relationship Id="rId26" Type="http://schemas.openxmlformats.org/officeDocument/2006/relationships/tags" Target="../tags/tag32.xml"/><Relationship Id="rId25" Type="http://schemas.openxmlformats.org/officeDocument/2006/relationships/tags" Target="../tags/tag31.xml"/><Relationship Id="rId24" Type="http://schemas.openxmlformats.org/officeDocument/2006/relationships/tags" Target="../tags/tag30.xml"/><Relationship Id="rId23" Type="http://schemas.openxmlformats.org/officeDocument/2006/relationships/tags" Target="../tags/tag29.xml"/><Relationship Id="rId22" Type="http://schemas.openxmlformats.org/officeDocument/2006/relationships/image" Target="../media/image7.png"/><Relationship Id="rId21" Type="http://schemas.openxmlformats.org/officeDocument/2006/relationships/tags" Target="../tags/tag28.xml"/><Relationship Id="rId20" Type="http://schemas.openxmlformats.org/officeDocument/2006/relationships/tags" Target="../tags/tag27.xml"/><Relationship Id="rId2" Type="http://schemas.openxmlformats.org/officeDocument/2006/relationships/tags" Target="../tags/tag12.xml"/><Relationship Id="rId19" Type="http://schemas.openxmlformats.org/officeDocument/2006/relationships/tags" Target="../tags/tag26.xml"/><Relationship Id="rId18" Type="http://schemas.openxmlformats.org/officeDocument/2006/relationships/tags" Target="../tags/tag25.xml"/><Relationship Id="rId17" Type="http://schemas.openxmlformats.org/officeDocument/2006/relationships/tags" Target="../tags/tag24.xml"/><Relationship Id="rId16" Type="http://schemas.openxmlformats.org/officeDocument/2006/relationships/image" Target="../media/image9.png"/><Relationship Id="rId15" Type="http://schemas.openxmlformats.org/officeDocument/2006/relationships/tags" Target="../tags/tag23.xml"/><Relationship Id="rId14" Type="http://schemas.openxmlformats.org/officeDocument/2006/relationships/tags" Target="../tags/tag22.xml"/><Relationship Id="rId13" Type="http://schemas.openxmlformats.org/officeDocument/2006/relationships/tags" Target="../tags/tag21.xml"/><Relationship Id="rId12" Type="http://schemas.openxmlformats.org/officeDocument/2006/relationships/tags" Target="../tags/tag20.xml"/><Relationship Id="rId11" Type="http://schemas.openxmlformats.org/officeDocument/2006/relationships/tags" Target="../tags/tag19.xml"/><Relationship Id="rId10" Type="http://schemas.openxmlformats.org/officeDocument/2006/relationships/image" Target="../media/image4.png"/><Relationship Id="rId1" Type="http://schemas.openxmlformats.org/officeDocument/2006/relationships/tags" Target="../tags/tag1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0.xml"/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7.png"/></Relationships>
</file>

<file path=ppt/slides/_rels/slide13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3.xml"/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image" Target="../media/image18.jpeg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image" Target="../media/image17.png"/><Relationship Id="rId8" Type="http://schemas.openxmlformats.org/officeDocument/2006/relationships/image" Target="../media/image11.png"/><Relationship Id="rId7" Type="http://schemas.openxmlformats.org/officeDocument/2006/relationships/image" Target="../media/image8.png"/><Relationship Id="rId6" Type="http://schemas.openxmlformats.org/officeDocument/2006/relationships/image" Target="../media/image7.png"/><Relationship Id="rId5" Type="http://schemas.openxmlformats.org/officeDocument/2006/relationships/image" Target="../media/image9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10.png"/><Relationship Id="rId11" Type="http://schemas.openxmlformats.org/officeDocument/2006/relationships/notesSlide" Target="../notesSlides/notesSlide14.xml"/><Relationship Id="rId10" Type="http://schemas.openxmlformats.org/officeDocument/2006/relationships/slideLayout" Target="../slideLayouts/slideLayout2.xml"/><Relationship Id="rId1" Type="http://schemas.openxmlformats.org/officeDocument/2006/relationships/image" Target="../media/image23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6.xml"/><Relationship Id="rId8" Type="http://schemas.openxmlformats.org/officeDocument/2006/relationships/slideLayout" Target="../slideLayouts/slideLayout2.xml"/><Relationship Id="rId7" Type="http://schemas.openxmlformats.org/officeDocument/2006/relationships/image" Target="../media/image24.png"/><Relationship Id="rId6" Type="http://schemas.openxmlformats.org/officeDocument/2006/relationships/image" Target="../media/image7.png"/><Relationship Id="rId5" Type="http://schemas.openxmlformats.org/officeDocument/2006/relationships/image" Target="../media/image4.png"/><Relationship Id="rId4" Type="http://schemas.openxmlformats.org/officeDocument/2006/relationships/image" Target="../media/image23.png"/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image" Target="../media/image1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5.png"/></Relationships>
</file>

<file path=ppt/slides/_rels/slide18.xml.rels><?xml version="1.0" encoding="UTF-8" standalone="yes"?>
<Relationships xmlns="http://schemas.openxmlformats.org/package/2006/relationships"><Relationship Id="rId9" Type="http://schemas.openxmlformats.org/officeDocument/2006/relationships/image" Target="../media/image34.png"/><Relationship Id="rId8" Type="http://schemas.openxmlformats.org/officeDocument/2006/relationships/image" Target="../media/image33.png"/><Relationship Id="rId7" Type="http://schemas.openxmlformats.org/officeDocument/2006/relationships/image" Target="../media/image32.png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3" Type="http://schemas.openxmlformats.org/officeDocument/2006/relationships/notesSlide" Target="../notesSlides/notesSlide18.xml"/><Relationship Id="rId12" Type="http://schemas.openxmlformats.org/officeDocument/2006/relationships/slideLayout" Target="../slideLayouts/slideLayout2.xml"/><Relationship Id="rId11" Type="http://schemas.openxmlformats.org/officeDocument/2006/relationships/image" Target="../media/image36.png"/><Relationship Id="rId10" Type="http://schemas.openxmlformats.org/officeDocument/2006/relationships/image" Target="../media/image35.png"/><Relationship Id="rId1" Type="http://schemas.openxmlformats.org/officeDocument/2006/relationships/image" Target="../media/image26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22.xml"/><Relationship Id="rId8" Type="http://schemas.openxmlformats.org/officeDocument/2006/relationships/slideLayout" Target="../slideLayouts/slideLayout2.xml"/><Relationship Id="rId7" Type="http://schemas.openxmlformats.org/officeDocument/2006/relationships/image" Target="../media/image38.png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9.png"/><Relationship Id="rId3" Type="http://schemas.openxmlformats.org/officeDocument/2006/relationships/image" Target="../media/image4.png"/><Relationship Id="rId2" Type="http://schemas.openxmlformats.org/officeDocument/2006/relationships/image" Target="../media/image37.png"/><Relationship Id="rId1" Type="http://schemas.openxmlformats.org/officeDocument/2006/relationships/image" Target="../media/image6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4.xml"/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15.png"/><Relationship Id="rId3" Type="http://schemas.openxmlformats.org/officeDocument/2006/relationships/image" Target="../media/image25.png"/><Relationship Id="rId2" Type="http://schemas.openxmlformats.org/officeDocument/2006/relationships/image" Target="../media/image1.png"/><Relationship Id="rId1" Type="http://schemas.openxmlformats.org/officeDocument/2006/relationships/image" Target="../media/image39.png"/></Relationships>
</file>

<file path=ppt/slides/_rels/slide2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image" Target="../media/image17.png"/><Relationship Id="rId7" Type="http://schemas.openxmlformats.org/officeDocument/2006/relationships/image" Target="../media/image42.png"/><Relationship Id="rId6" Type="http://schemas.openxmlformats.org/officeDocument/2006/relationships/image" Target="../media/image11.png"/><Relationship Id="rId5" Type="http://schemas.openxmlformats.org/officeDocument/2006/relationships/image" Target="../media/image41.png"/><Relationship Id="rId4" Type="http://schemas.openxmlformats.org/officeDocument/2006/relationships/image" Target="../media/image7.png"/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0" Type="http://schemas.openxmlformats.org/officeDocument/2006/relationships/notesSlide" Target="../notesSlides/notesSlide25.xml"/><Relationship Id="rId1" Type="http://schemas.openxmlformats.org/officeDocument/2006/relationships/image" Target="../media/image40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7.xml"/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731520" y="1280160"/>
            <a:ext cx="749808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400" b="1" dirty="0">
                <a:solidFill>
                  <a:schemeClr val="bg1"/>
                </a:solidFill>
              </a:rPr>
              <a:t>POOLMATE</a:t>
            </a:r>
            <a:endParaRPr lang="en-US" sz="6400" dirty="0"/>
          </a:p>
        </p:txBody>
      </p:sp>
      <p:sp>
        <p:nvSpPr>
          <p:cNvPr id="3" name="decor ring 1"/>
          <p:cNvSpPr/>
          <p:nvPr/>
        </p:nvSpPr>
        <p:spPr>
          <a:xfrm>
            <a:off x="9144000" y="1188720"/>
            <a:ext cx="1828800" cy="1828800"/>
          </a:xfrm>
          <a:prstGeom prst="ellipse">
            <a:avLst/>
          </a:prstGeom>
          <a:solidFill>
            <a:schemeClr val="accent1">
              <a:alpha val="12000"/>
            </a:schemeClr>
          </a:solidFill>
          <a:ln w="9525">
            <a:solidFill>
              <a:schemeClr val="accent6">
                <a:alpha val="40000"/>
              </a:schemeClr>
            </a:solidFill>
            <a:prstDash val="solid"/>
          </a:ln>
        </p:spPr>
      </p:sp>
      <p:sp>
        <p:nvSpPr>
          <p:cNvPr id="4" name="decor ring 2"/>
          <p:cNvSpPr/>
          <p:nvPr/>
        </p:nvSpPr>
        <p:spPr>
          <a:xfrm>
            <a:off x="8686800" y="731520"/>
            <a:ext cx="2743200" cy="2743200"/>
          </a:xfrm>
          <a:prstGeom prst="ellipse">
            <a:avLst/>
          </a:prstGeom>
          <a:solidFill>
            <a:schemeClr val="accent1">
              <a:alpha val="9000"/>
            </a:schemeClr>
          </a:solidFill>
          <a:ln w="9525">
            <a:solidFill>
              <a:schemeClr val="accent6">
                <a:alpha val="40000"/>
              </a:schemeClr>
            </a:solidFill>
            <a:prstDash val="solid"/>
          </a:ln>
        </p:spPr>
      </p:sp>
      <p:sp>
        <p:nvSpPr>
          <p:cNvPr id="5" name="decor ring 3"/>
          <p:cNvSpPr/>
          <p:nvPr/>
        </p:nvSpPr>
        <p:spPr>
          <a:xfrm>
            <a:off x="8229600" y="274320"/>
            <a:ext cx="3657600" cy="3657600"/>
          </a:xfrm>
          <a:prstGeom prst="ellipse">
            <a:avLst/>
          </a:prstGeom>
          <a:solidFill>
            <a:schemeClr val="accent1">
              <a:alpha val="6000"/>
            </a:schemeClr>
          </a:solidFill>
          <a:ln w="9525">
            <a:solidFill>
              <a:schemeClr val="accent6">
                <a:alpha val="40000"/>
              </a:schemeClr>
            </a:solidFill>
            <a:prstDash val="solid"/>
          </a:ln>
        </p:spPr>
      </p:sp>
      <p:sp>
        <p:nvSpPr>
          <p:cNvPr id="6" name="car icon bg"/>
          <p:cNvSpPr/>
          <p:nvPr/>
        </p:nvSpPr>
        <p:spPr>
          <a:xfrm>
            <a:off x="9372600" y="1417320"/>
            <a:ext cx="1371600" cy="1371600"/>
          </a:xfrm>
          <a:prstGeom prst="ellipse">
            <a:avLst/>
          </a:prstGeom>
          <a:solidFill>
            <a:schemeClr val="accent1"/>
          </a:solidFill>
        </p:spPr>
      </p:sp>
      <p:pic>
        <p:nvPicPr>
          <p:cNvPr id="7" name="Image 0" descr="car icon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42932" y="1787652"/>
            <a:ext cx="630936" cy="630936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731520" y="868680"/>
            <a:ext cx="777240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kern="0" spc="300" dirty="0">
                <a:solidFill>
                  <a:schemeClr val="accent2"/>
                </a:solidFill>
              </a:rPr>
              <a:t>MCA MINI PROJECT  |  FINAL PRESENTATION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731520" y="2423160"/>
            <a:ext cx="7772400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dirty="0">
                <a:solidFill>
                  <a:schemeClr val="accent6"/>
                </a:solidFill>
              </a:rPr>
              <a:t>Web-Based Carpooling Platform</a:t>
            </a:r>
            <a:endParaRPr lang="en-US" sz="2800" dirty="0"/>
          </a:p>
        </p:txBody>
      </p:sp>
      <p:sp>
        <p:nvSpPr>
          <p:cNvPr id="10" name="Text 7"/>
          <p:cNvSpPr txBox="1"/>
          <p:nvPr/>
        </p:nvSpPr>
        <p:spPr>
          <a:xfrm>
            <a:off x="731520" y="3200400"/>
            <a:ext cx="21945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6"/>
                </a:solidFill>
              </a:rPr>
              <a:t>Student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3017520" y="3200400"/>
            <a:ext cx="65836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bg1"/>
                </a:solidFill>
              </a:rPr>
              <a:t>Sandeep Kumar VS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731520" y="3566160"/>
            <a:ext cx="21945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6"/>
                </a:solidFill>
              </a:rPr>
              <a:t>Register / Roll No.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3017520" y="3566160"/>
            <a:ext cx="65836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IN" altLang="en-US" sz="1500" dirty="0">
                <a:solidFill>
                  <a:schemeClr val="bg1"/>
                </a:solidFill>
              </a:rPr>
              <a:t>MLM25MCA2046</a:t>
            </a:r>
            <a:endParaRPr lang="en-IN" altLang="en-US" sz="1500" dirty="0">
              <a:solidFill>
                <a:schemeClr val="bg1"/>
              </a:solidFill>
            </a:endParaRPr>
          </a:p>
        </p:txBody>
      </p:sp>
      <p:sp>
        <p:nvSpPr>
          <p:cNvPr id="14" name="Text 11"/>
          <p:cNvSpPr txBox="1"/>
          <p:nvPr/>
        </p:nvSpPr>
        <p:spPr>
          <a:xfrm>
            <a:off x="731520" y="3931920"/>
            <a:ext cx="21945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6"/>
                </a:solidFill>
              </a:rPr>
              <a:t>Department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3017520" y="3931920"/>
            <a:ext cx="65836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bg1"/>
                </a:solidFill>
              </a:rPr>
              <a:t>Department of Computer Applications (DCA)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731520" y="4297680"/>
            <a:ext cx="21945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6"/>
                </a:solidFill>
              </a:rPr>
              <a:t>College / University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3017520" y="4297680"/>
            <a:ext cx="65836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IN" altLang="en-US" sz="1500" dirty="0">
                <a:solidFill>
                  <a:schemeClr val="bg1"/>
                </a:solidFill>
              </a:rPr>
              <a:t>Mangalam college of engineering Ettumanoor </a:t>
            </a:r>
            <a:endParaRPr lang="en-IN" altLang="en-US" sz="1500" dirty="0">
              <a:solidFill>
                <a:schemeClr val="bg1"/>
              </a:solidFill>
            </a:endParaRPr>
          </a:p>
        </p:txBody>
      </p:sp>
      <p:sp>
        <p:nvSpPr>
          <p:cNvPr id="18" name="Text 15"/>
          <p:cNvSpPr txBox="1"/>
          <p:nvPr/>
        </p:nvSpPr>
        <p:spPr>
          <a:xfrm>
            <a:off x="731520" y="4663440"/>
            <a:ext cx="21945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6"/>
                </a:solidFill>
              </a:rPr>
              <a:t>Academic Year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3017520" y="4663440"/>
            <a:ext cx="65836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bg1"/>
                </a:solidFill>
              </a:rPr>
              <a:t>2025–2027</a:t>
            </a:r>
            <a:endParaRPr lang="en-US" sz="1500" dirty="0"/>
          </a:p>
        </p:txBody>
      </p:sp>
      <p:sp>
        <p:nvSpPr>
          <p:cNvPr id="20" name="Text 17"/>
          <p:cNvSpPr txBox="1"/>
          <p:nvPr/>
        </p:nvSpPr>
        <p:spPr>
          <a:xfrm>
            <a:off x="731520" y="5029200"/>
            <a:ext cx="21945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6"/>
                </a:solidFill>
              </a:rPr>
              <a:t>Project Guide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3017520" y="5029200"/>
            <a:ext cx="65836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bg1"/>
                </a:solidFill>
              </a:rPr>
              <a:t>Ms. Anjaly Sajeev, Assistant Professor</a:t>
            </a:r>
            <a:endParaRPr lang="en-US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731520" y="5394960"/>
            <a:ext cx="21945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6"/>
                </a:solidFill>
              </a:rPr>
              <a:t>Course</a:t>
            </a:r>
            <a:endParaRPr lang="en-US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3017520" y="5394960"/>
            <a:ext cx="65836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bg1"/>
                </a:solidFill>
              </a:rPr>
              <a:t>MCA (S3)</a:t>
            </a:r>
            <a:endParaRPr lang="en-US" sz="1500" dirty="0"/>
          </a:p>
        </p:txBody>
      </p:sp>
      <p:sp>
        <p:nvSpPr>
          <p:cNvPr id="24" name="route dot"/>
          <p:cNvSpPr/>
          <p:nvPr/>
        </p:nvSpPr>
        <p:spPr>
          <a:xfrm>
            <a:off x="914400" y="6172200"/>
            <a:ext cx="64008" cy="64008"/>
          </a:xfrm>
          <a:prstGeom prst="ellipse">
            <a:avLst/>
          </a:prstGeom>
          <a:solidFill>
            <a:schemeClr val="bg1">
              <a:alpha val="45000"/>
            </a:schemeClr>
          </a:solidFill>
        </p:spPr>
      </p:sp>
      <p:sp>
        <p:nvSpPr>
          <p:cNvPr id="25" name="route dot"/>
          <p:cNvSpPr/>
          <p:nvPr/>
        </p:nvSpPr>
        <p:spPr>
          <a:xfrm>
            <a:off x="1188720" y="6227883"/>
            <a:ext cx="64008" cy="64008"/>
          </a:xfrm>
          <a:prstGeom prst="ellipse">
            <a:avLst/>
          </a:prstGeom>
          <a:solidFill>
            <a:schemeClr val="bg1">
              <a:alpha val="45000"/>
            </a:schemeClr>
          </a:solidFill>
        </p:spPr>
      </p:sp>
      <p:sp>
        <p:nvSpPr>
          <p:cNvPr id="26" name="route dot"/>
          <p:cNvSpPr/>
          <p:nvPr/>
        </p:nvSpPr>
        <p:spPr>
          <a:xfrm>
            <a:off x="1463040" y="6272478"/>
            <a:ext cx="64008" cy="64008"/>
          </a:xfrm>
          <a:prstGeom prst="ellipse">
            <a:avLst/>
          </a:prstGeom>
          <a:solidFill>
            <a:schemeClr val="bg1">
              <a:alpha val="45000"/>
            </a:schemeClr>
          </a:solidFill>
        </p:spPr>
      </p:sp>
      <p:sp>
        <p:nvSpPr>
          <p:cNvPr id="27" name="route dot"/>
          <p:cNvSpPr/>
          <p:nvPr/>
        </p:nvSpPr>
        <p:spPr>
          <a:xfrm>
            <a:off x="1737360" y="6297108"/>
            <a:ext cx="64008" cy="64008"/>
          </a:xfrm>
          <a:prstGeom prst="ellipse">
            <a:avLst/>
          </a:prstGeom>
          <a:solidFill>
            <a:schemeClr val="bg1">
              <a:alpha val="45000"/>
            </a:schemeClr>
          </a:solidFill>
        </p:spPr>
      </p:sp>
      <p:sp>
        <p:nvSpPr>
          <p:cNvPr id="28" name="route dot"/>
          <p:cNvSpPr/>
          <p:nvPr/>
        </p:nvSpPr>
        <p:spPr>
          <a:xfrm>
            <a:off x="2011680" y="6296868"/>
            <a:ext cx="64008" cy="64008"/>
          </a:xfrm>
          <a:prstGeom prst="ellipse">
            <a:avLst/>
          </a:prstGeom>
          <a:solidFill>
            <a:schemeClr val="bg1">
              <a:alpha val="45000"/>
            </a:schemeClr>
          </a:solidFill>
        </p:spPr>
      </p:sp>
      <p:sp>
        <p:nvSpPr>
          <p:cNvPr id="29" name="route dot"/>
          <p:cNvSpPr/>
          <p:nvPr/>
        </p:nvSpPr>
        <p:spPr>
          <a:xfrm>
            <a:off x="2286000" y="6271806"/>
            <a:ext cx="64008" cy="64008"/>
          </a:xfrm>
          <a:prstGeom prst="ellipse">
            <a:avLst/>
          </a:prstGeom>
          <a:solidFill>
            <a:schemeClr val="bg1">
              <a:alpha val="45000"/>
            </a:schemeClr>
          </a:solidFill>
        </p:spPr>
      </p:sp>
      <p:sp>
        <p:nvSpPr>
          <p:cNvPr id="30" name="route dot"/>
          <p:cNvSpPr/>
          <p:nvPr/>
        </p:nvSpPr>
        <p:spPr>
          <a:xfrm>
            <a:off x="2560320" y="6226911"/>
            <a:ext cx="64008" cy="64008"/>
          </a:xfrm>
          <a:prstGeom prst="ellipse">
            <a:avLst/>
          </a:prstGeom>
          <a:solidFill>
            <a:schemeClr val="bg1">
              <a:alpha val="45000"/>
            </a:schemeClr>
          </a:solidFill>
        </p:spPr>
      </p:sp>
      <p:sp>
        <p:nvSpPr>
          <p:cNvPr id="31" name="route dot"/>
          <p:cNvSpPr/>
          <p:nvPr/>
        </p:nvSpPr>
        <p:spPr>
          <a:xfrm>
            <a:off x="2834640" y="6171124"/>
            <a:ext cx="64008" cy="64008"/>
          </a:xfrm>
          <a:prstGeom prst="ellipse">
            <a:avLst/>
          </a:prstGeom>
          <a:solidFill>
            <a:schemeClr val="bg1">
              <a:alpha val="45000"/>
            </a:schemeClr>
          </a:solidFill>
        </p:spPr>
      </p:sp>
      <p:sp>
        <p:nvSpPr>
          <p:cNvPr id="32" name="route dot"/>
          <p:cNvSpPr/>
          <p:nvPr/>
        </p:nvSpPr>
        <p:spPr>
          <a:xfrm>
            <a:off x="3108960" y="6115550"/>
            <a:ext cx="64008" cy="64008"/>
          </a:xfrm>
          <a:prstGeom prst="ellipse">
            <a:avLst/>
          </a:prstGeom>
          <a:solidFill>
            <a:schemeClr val="bg1">
              <a:alpha val="45000"/>
            </a:schemeClr>
          </a:solidFill>
        </p:spPr>
      </p:sp>
      <p:sp>
        <p:nvSpPr>
          <p:cNvPr id="33" name="route dot"/>
          <p:cNvSpPr/>
          <p:nvPr/>
        </p:nvSpPr>
        <p:spPr>
          <a:xfrm>
            <a:off x="3383280" y="6071256"/>
            <a:ext cx="64008" cy="64008"/>
          </a:xfrm>
          <a:prstGeom prst="ellipse">
            <a:avLst/>
          </a:prstGeom>
          <a:solidFill>
            <a:schemeClr val="bg1">
              <a:alpha val="45000"/>
            </a:schemeClr>
          </a:solidFill>
        </p:spPr>
      </p:sp>
      <p:sp>
        <p:nvSpPr>
          <p:cNvPr id="34" name="route dot"/>
          <p:cNvSpPr/>
          <p:nvPr/>
        </p:nvSpPr>
        <p:spPr>
          <a:xfrm>
            <a:off x="3657600" y="6047061"/>
            <a:ext cx="64008" cy="64008"/>
          </a:xfrm>
          <a:prstGeom prst="ellipse">
            <a:avLst/>
          </a:prstGeom>
          <a:solidFill>
            <a:schemeClr val="bg1">
              <a:alpha val="45000"/>
            </a:schemeClr>
          </a:solidFill>
        </p:spPr>
      </p:sp>
      <p:sp>
        <p:nvSpPr>
          <p:cNvPr id="35" name="route dot"/>
          <p:cNvSpPr/>
          <p:nvPr/>
        </p:nvSpPr>
        <p:spPr>
          <a:xfrm>
            <a:off x="3931920" y="6047781"/>
            <a:ext cx="64008" cy="64008"/>
          </a:xfrm>
          <a:prstGeom prst="ellipse">
            <a:avLst/>
          </a:prstGeom>
          <a:solidFill>
            <a:schemeClr val="bg1">
              <a:alpha val="45000"/>
            </a:schemeClr>
          </a:solidFill>
        </p:spPr>
      </p:sp>
      <p:sp>
        <p:nvSpPr>
          <p:cNvPr id="36" name="route dot"/>
          <p:cNvSpPr/>
          <p:nvPr/>
        </p:nvSpPr>
        <p:spPr>
          <a:xfrm>
            <a:off x="4206240" y="6073274"/>
            <a:ext cx="64008" cy="64008"/>
          </a:xfrm>
          <a:prstGeom prst="ellipse">
            <a:avLst/>
          </a:prstGeom>
          <a:solidFill>
            <a:schemeClr val="bg1">
              <a:alpha val="45000"/>
            </a:schemeClr>
          </a:solidFill>
        </p:spPr>
      </p:sp>
      <p:sp>
        <p:nvSpPr>
          <p:cNvPr id="37" name="route dot"/>
          <p:cNvSpPr/>
          <p:nvPr/>
        </p:nvSpPr>
        <p:spPr>
          <a:xfrm>
            <a:off x="4480560" y="6118463"/>
            <a:ext cx="64008" cy="64008"/>
          </a:xfrm>
          <a:prstGeom prst="ellipse">
            <a:avLst/>
          </a:prstGeom>
          <a:solidFill>
            <a:schemeClr val="bg1">
              <a:alpha val="45000"/>
            </a:schemeClr>
          </a:solidFill>
        </p:spPr>
      </p:sp>
      <p:sp>
        <p:nvSpPr>
          <p:cNvPr id="38" name="route dot"/>
          <p:cNvSpPr/>
          <p:nvPr/>
        </p:nvSpPr>
        <p:spPr>
          <a:xfrm>
            <a:off x="4754880" y="6174352"/>
            <a:ext cx="64008" cy="64008"/>
          </a:xfrm>
          <a:prstGeom prst="ellipse">
            <a:avLst/>
          </a:prstGeom>
          <a:solidFill>
            <a:schemeClr val="bg1">
              <a:alpha val="45000"/>
            </a:schemeClr>
          </a:solidFill>
        </p:spPr>
      </p:sp>
      <p:sp>
        <p:nvSpPr>
          <p:cNvPr id="39" name="route dot"/>
          <p:cNvSpPr/>
          <p:nvPr/>
        </p:nvSpPr>
        <p:spPr>
          <a:xfrm>
            <a:off x="5029200" y="6229813"/>
            <a:ext cx="64008" cy="64008"/>
          </a:xfrm>
          <a:prstGeom prst="ellipse">
            <a:avLst/>
          </a:prstGeom>
          <a:solidFill>
            <a:schemeClr val="bg1">
              <a:alpha val="45000"/>
            </a:schemeClr>
          </a:solidFill>
        </p:spPr>
      </p:sp>
      <p:sp>
        <p:nvSpPr>
          <p:cNvPr id="40" name="route dot"/>
          <p:cNvSpPr/>
          <p:nvPr/>
        </p:nvSpPr>
        <p:spPr>
          <a:xfrm>
            <a:off x="5303520" y="6273802"/>
            <a:ext cx="64008" cy="64008"/>
          </a:xfrm>
          <a:prstGeom prst="ellipse">
            <a:avLst/>
          </a:prstGeom>
          <a:solidFill>
            <a:schemeClr val="bg1">
              <a:alpha val="45000"/>
            </a:schemeClr>
          </a:solidFill>
        </p:spPr>
      </p:sp>
      <p:sp>
        <p:nvSpPr>
          <p:cNvPr id="41" name="route dot"/>
          <p:cNvSpPr/>
          <p:nvPr/>
        </p:nvSpPr>
        <p:spPr>
          <a:xfrm>
            <a:off x="5577840" y="6297562"/>
            <a:ext cx="64008" cy="64008"/>
          </a:xfrm>
          <a:prstGeom prst="ellipse">
            <a:avLst/>
          </a:prstGeom>
          <a:solidFill>
            <a:schemeClr val="bg1">
              <a:alpha val="45000"/>
            </a:schemeClr>
          </a:solidFill>
        </p:spPr>
      </p:sp>
      <p:sp>
        <p:nvSpPr>
          <p:cNvPr id="42" name="route dot"/>
          <p:cNvSpPr/>
          <p:nvPr/>
        </p:nvSpPr>
        <p:spPr>
          <a:xfrm>
            <a:off x="5852160" y="6296361"/>
            <a:ext cx="64008" cy="64008"/>
          </a:xfrm>
          <a:prstGeom prst="ellipse">
            <a:avLst/>
          </a:prstGeom>
          <a:solidFill>
            <a:schemeClr val="bg1">
              <a:alpha val="45000"/>
            </a:schemeClr>
          </a:solidFill>
        </p:spPr>
      </p:sp>
      <p:sp>
        <p:nvSpPr>
          <p:cNvPr id="43" name="route dot"/>
          <p:cNvSpPr/>
          <p:nvPr/>
        </p:nvSpPr>
        <p:spPr>
          <a:xfrm>
            <a:off x="6126480" y="6270440"/>
            <a:ext cx="64008" cy="64008"/>
          </a:xfrm>
          <a:prstGeom prst="ellipse">
            <a:avLst/>
          </a:prstGeom>
          <a:solidFill>
            <a:schemeClr val="bg1">
              <a:alpha val="45000"/>
            </a:schemeClr>
          </a:solidFill>
        </p:spPr>
      </p:sp>
      <p:sp>
        <p:nvSpPr>
          <p:cNvPr id="44" name="route dot"/>
          <p:cNvSpPr/>
          <p:nvPr/>
        </p:nvSpPr>
        <p:spPr>
          <a:xfrm>
            <a:off x="6400800" y="6224958"/>
            <a:ext cx="64008" cy="64008"/>
          </a:xfrm>
          <a:prstGeom prst="ellipse">
            <a:avLst/>
          </a:prstGeom>
          <a:solidFill>
            <a:schemeClr val="bg1">
              <a:alpha val="45000"/>
            </a:schemeClr>
          </a:solidFill>
        </p:spPr>
      </p:sp>
      <p:sp>
        <p:nvSpPr>
          <p:cNvPr id="45" name="route dot"/>
          <p:cNvSpPr/>
          <p:nvPr/>
        </p:nvSpPr>
        <p:spPr>
          <a:xfrm>
            <a:off x="6675120" y="6168972"/>
            <a:ext cx="64008" cy="64008"/>
          </a:xfrm>
          <a:prstGeom prst="ellipse">
            <a:avLst/>
          </a:prstGeom>
          <a:solidFill>
            <a:schemeClr val="bg1">
              <a:alpha val="45000"/>
            </a:schemeClr>
          </a:solidFill>
        </p:spPr>
      </p:sp>
      <p:sp>
        <p:nvSpPr>
          <p:cNvPr id="46" name="route dot"/>
          <p:cNvSpPr/>
          <p:nvPr/>
        </p:nvSpPr>
        <p:spPr>
          <a:xfrm>
            <a:off x="6949440" y="6113628"/>
            <a:ext cx="64008" cy="64008"/>
          </a:xfrm>
          <a:prstGeom prst="ellipse">
            <a:avLst/>
          </a:prstGeom>
          <a:solidFill>
            <a:schemeClr val="bg1">
              <a:alpha val="45000"/>
            </a:schemeClr>
          </a:solidFill>
        </p:spPr>
      </p:sp>
      <p:sp>
        <p:nvSpPr>
          <p:cNvPr id="47" name="route dot"/>
          <p:cNvSpPr/>
          <p:nvPr/>
        </p:nvSpPr>
        <p:spPr>
          <a:xfrm>
            <a:off x="7223760" y="6069947"/>
            <a:ext cx="64008" cy="64008"/>
          </a:xfrm>
          <a:prstGeom prst="ellipse">
            <a:avLst/>
          </a:prstGeom>
          <a:solidFill>
            <a:schemeClr val="bg1">
              <a:alpha val="45000"/>
            </a:schemeClr>
          </a:solidFill>
        </p:spPr>
      </p:sp>
      <p:sp>
        <p:nvSpPr>
          <p:cNvPr id="48" name="route dot"/>
          <p:cNvSpPr/>
          <p:nvPr/>
        </p:nvSpPr>
        <p:spPr>
          <a:xfrm>
            <a:off x="7498080" y="6046624"/>
            <a:ext cx="64008" cy="64008"/>
          </a:xfrm>
          <a:prstGeom prst="ellipse">
            <a:avLst/>
          </a:prstGeom>
          <a:solidFill>
            <a:schemeClr val="bg1">
              <a:alpha val="45000"/>
            </a:schemeClr>
          </a:solidFill>
        </p:spPr>
      </p:sp>
      <p:sp>
        <p:nvSpPr>
          <p:cNvPr id="49" name="route dot"/>
          <p:cNvSpPr/>
          <p:nvPr/>
        </p:nvSpPr>
        <p:spPr>
          <a:xfrm>
            <a:off x="7772400" y="6048305"/>
            <a:ext cx="64008" cy="64008"/>
          </a:xfrm>
          <a:prstGeom prst="ellipse">
            <a:avLst/>
          </a:prstGeom>
          <a:solidFill>
            <a:schemeClr val="bg1">
              <a:alpha val="45000"/>
            </a:schemeClr>
          </a:solidFill>
        </p:spPr>
      </p:sp>
      <p:sp>
        <p:nvSpPr>
          <p:cNvPr id="50" name="route dot"/>
          <p:cNvSpPr/>
          <p:nvPr/>
        </p:nvSpPr>
        <p:spPr>
          <a:xfrm>
            <a:off x="8046720" y="6074654"/>
            <a:ext cx="64008" cy="64008"/>
          </a:xfrm>
          <a:prstGeom prst="ellipse">
            <a:avLst/>
          </a:prstGeom>
          <a:solidFill>
            <a:schemeClr val="bg1">
              <a:alpha val="45000"/>
            </a:schemeClr>
          </a:solidFill>
        </p:spPr>
      </p:sp>
      <p:sp>
        <p:nvSpPr>
          <p:cNvPr id="51" name="route dot"/>
          <p:cNvSpPr/>
          <p:nvPr/>
        </p:nvSpPr>
        <p:spPr>
          <a:xfrm>
            <a:off x="8321040" y="6120425"/>
            <a:ext cx="64008" cy="64008"/>
          </a:xfrm>
          <a:prstGeom prst="ellipse">
            <a:avLst/>
          </a:prstGeom>
          <a:solidFill>
            <a:schemeClr val="bg1">
              <a:alpha val="45000"/>
            </a:schemeClr>
          </a:solidFill>
        </p:spPr>
      </p:sp>
      <p:sp>
        <p:nvSpPr>
          <p:cNvPr id="52" name="route dot"/>
          <p:cNvSpPr/>
          <p:nvPr/>
        </p:nvSpPr>
        <p:spPr>
          <a:xfrm>
            <a:off x="8595360" y="6176504"/>
            <a:ext cx="64008" cy="64008"/>
          </a:xfrm>
          <a:prstGeom prst="ellipse">
            <a:avLst/>
          </a:prstGeom>
          <a:solidFill>
            <a:schemeClr val="bg1">
              <a:alpha val="45000"/>
            </a:schemeClr>
          </a:solidFill>
        </p:spPr>
      </p:sp>
      <p:sp>
        <p:nvSpPr>
          <p:cNvPr id="53" name="route dot"/>
          <p:cNvSpPr/>
          <p:nvPr/>
        </p:nvSpPr>
        <p:spPr>
          <a:xfrm>
            <a:off x="8869680" y="6231727"/>
            <a:ext cx="64008" cy="64008"/>
          </a:xfrm>
          <a:prstGeom prst="ellipse">
            <a:avLst/>
          </a:prstGeom>
          <a:solidFill>
            <a:schemeClr val="bg1">
              <a:alpha val="45000"/>
            </a:schemeClr>
          </a:solidFill>
        </p:spPr>
      </p:sp>
      <p:sp>
        <p:nvSpPr>
          <p:cNvPr id="54" name="route dot"/>
          <p:cNvSpPr/>
          <p:nvPr/>
        </p:nvSpPr>
        <p:spPr>
          <a:xfrm>
            <a:off x="9144000" y="6275097"/>
            <a:ext cx="64008" cy="64008"/>
          </a:xfrm>
          <a:prstGeom prst="ellipse">
            <a:avLst/>
          </a:prstGeom>
          <a:solidFill>
            <a:schemeClr val="bg1">
              <a:alpha val="45000"/>
            </a:schemeClr>
          </a:solidFill>
        </p:spPr>
      </p:sp>
      <p:sp>
        <p:nvSpPr>
          <p:cNvPr id="55" name="route dot"/>
          <p:cNvSpPr/>
          <p:nvPr/>
        </p:nvSpPr>
        <p:spPr>
          <a:xfrm>
            <a:off x="9418320" y="6297980"/>
            <a:ext cx="64008" cy="64008"/>
          </a:xfrm>
          <a:prstGeom prst="ellipse">
            <a:avLst/>
          </a:prstGeom>
          <a:solidFill>
            <a:schemeClr val="bg1">
              <a:alpha val="45000"/>
            </a:schemeClr>
          </a:solidFill>
        </p:spPr>
      </p:sp>
      <p:sp>
        <p:nvSpPr>
          <p:cNvPr id="56" name="route dot"/>
          <p:cNvSpPr/>
          <p:nvPr/>
        </p:nvSpPr>
        <p:spPr>
          <a:xfrm>
            <a:off x="9692640" y="6295820"/>
            <a:ext cx="64008" cy="64008"/>
          </a:xfrm>
          <a:prstGeom prst="ellipse">
            <a:avLst/>
          </a:prstGeom>
          <a:solidFill>
            <a:schemeClr val="bg1">
              <a:alpha val="45000"/>
            </a:schemeClr>
          </a:solidFill>
        </p:spPr>
      </p:sp>
      <p:sp>
        <p:nvSpPr>
          <p:cNvPr id="57" name="route dot"/>
          <p:cNvSpPr/>
          <p:nvPr/>
        </p:nvSpPr>
        <p:spPr>
          <a:xfrm>
            <a:off x="9966960" y="6269046"/>
            <a:ext cx="64008" cy="64008"/>
          </a:xfrm>
          <a:prstGeom prst="ellipse">
            <a:avLst/>
          </a:prstGeom>
          <a:solidFill>
            <a:schemeClr val="bg1">
              <a:alpha val="45000"/>
            </a:schemeClr>
          </a:solidFill>
        </p:spPr>
      </p:sp>
      <p:sp>
        <p:nvSpPr>
          <p:cNvPr id="58" name="route dot"/>
          <p:cNvSpPr/>
          <p:nvPr/>
        </p:nvSpPr>
        <p:spPr>
          <a:xfrm>
            <a:off x="10241280" y="6222989"/>
            <a:ext cx="64008" cy="64008"/>
          </a:xfrm>
          <a:prstGeom prst="ellipse">
            <a:avLst/>
          </a:prstGeom>
          <a:solidFill>
            <a:schemeClr val="bg1">
              <a:alpha val="45000"/>
            </a:schemeClr>
          </a:solidFill>
        </p:spPr>
      </p:sp>
      <p:sp>
        <p:nvSpPr>
          <p:cNvPr id="59" name="route dot"/>
          <p:cNvSpPr/>
          <p:nvPr/>
        </p:nvSpPr>
        <p:spPr>
          <a:xfrm>
            <a:off x="10515600" y="6166820"/>
            <a:ext cx="64008" cy="64008"/>
          </a:xfrm>
          <a:prstGeom prst="ellipse">
            <a:avLst/>
          </a:prstGeom>
          <a:solidFill>
            <a:schemeClr val="bg1">
              <a:alpha val="45000"/>
            </a:schemeClr>
          </a:solidFill>
        </p:spPr>
      </p:sp>
      <p:sp>
        <p:nvSpPr>
          <p:cNvPr id="60" name="route dot"/>
          <p:cNvSpPr/>
          <p:nvPr/>
        </p:nvSpPr>
        <p:spPr>
          <a:xfrm>
            <a:off x="10789920" y="6111722"/>
            <a:ext cx="64008" cy="64008"/>
          </a:xfrm>
          <a:prstGeom prst="ellipse">
            <a:avLst/>
          </a:prstGeom>
          <a:solidFill>
            <a:schemeClr val="bg1">
              <a:alpha val="45000"/>
            </a:schemeClr>
          </a:solidFill>
        </p:spPr>
      </p:sp>
      <p:sp>
        <p:nvSpPr>
          <p:cNvPr id="61" name="route dot"/>
          <p:cNvSpPr/>
          <p:nvPr/>
        </p:nvSpPr>
        <p:spPr>
          <a:xfrm>
            <a:off x="11064240" y="6068666"/>
            <a:ext cx="64008" cy="64008"/>
          </a:xfrm>
          <a:prstGeom prst="ellipse">
            <a:avLst/>
          </a:prstGeom>
          <a:solidFill>
            <a:schemeClr val="bg1">
              <a:alpha val="45000"/>
            </a:schemeClr>
          </a:solidFill>
        </p:spPr>
      </p:sp>
      <p:sp>
        <p:nvSpPr>
          <p:cNvPr id="62" name="route dot"/>
          <p:cNvSpPr/>
          <p:nvPr/>
        </p:nvSpPr>
        <p:spPr>
          <a:xfrm>
            <a:off x="11338560" y="6046224"/>
            <a:ext cx="64008" cy="64008"/>
          </a:xfrm>
          <a:prstGeom prst="ellipse">
            <a:avLst/>
          </a:prstGeom>
          <a:solidFill>
            <a:schemeClr val="bg1">
              <a:alpha val="45000"/>
            </a:schemeClr>
          </a:solidFill>
        </p:spPr>
      </p:sp>
      <p:sp>
        <p:nvSpPr>
          <p:cNvPr id="63" name="route dot"/>
          <p:cNvSpPr/>
          <p:nvPr/>
        </p:nvSpPr>
        <p:spPr>
          <a:xfrm>
            <a:off x="11612880" y="6048864"/>
            <a:ext cx="64008" cy="64008"/>
          </a:xfrm>
          <a:prstGeom prst="ellipse">
            <a:avLst/>
          </a:prstGeom>
          <a:solidFill>
            <a:schemeClr val="bg1">
              <a:alpha val="45000"/>
            </a:schemeClr>
          </a:solidFill>
        </p:spPr>
      </p:sp>
      <p:sp>
        <p:nvSpPr>
          <p:cNvPr id="64" name="route start"/>
          <p:cNvSpPr/>
          <p:nvPr/>
        </p:nvSpPr>
        <p:spPr>
          <a:xfrm>
            <a:off x="685800" y="6080760"/>
            <a:ext cx="228600" cy="228600"/>
          </a:xfrm>
          <a:prstGeom prst="ellipse">
            <a:avLst/>
          </a:prstGeom>
          <a:solidFill>
            <a:schemeClr val="accent2"/>
          </a:solidFill>
        </p:spPr>
      </p:sp>
      <p:sp>
        <p:nvSpPr>
          <p:cNvPr id="65" name="destination icon bg"/>
          <p:cNvSpPr/>
          <p:nvPr/>
        </p:nvSpPr>
        <p:spPr>
          <a:xfrm>
            <a:off x="11247120" y="5989320"/>
            <a:ext cx="411480" cy="411480"/>
          </a:xfrm>
          <a:prstGeom prst="ellipse">
            <a:avLst/>
          </a:prstGeom>
          <a:solidFill>
            <a:schemeClr val="accent3"/>
          </a:solidFill>
        </p:spPr>
      </p:sp>
      <p:pic>
        <p:nvPicPr>
          <p:cNvPr id="66" name="Image 1" descr="destination ico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8220" y="6100420"/>
            <a:ext cx="189281" cy="18928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548640" y="274320"/>
            <a:ext cx="1106424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Introduction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80160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chemeClr val="accent1"/>
                </a:solidFill>
              </a:rPr>
              <a:t>WHAT IT IS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72768"/>
            <a:ext cx="6035040" cy="8686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POOLMATE is a web-based carpooling platform where registered users publish, search for and request rides. It currently focuses on four-wheeler ride sharing.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468880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chemeClr val="accent1"/>
                </a:solidFill>
              </a:rPr>
              <a:t>BACKGROUND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761488"/>
            <a:ext cx="6035040" cy="8686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Carpooling lets people travelling the same way share one vehicle and its cost. Arranging this informally is hard and offers little trust between strangers.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657600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chemeClr val="accent1"/>
                </a:solidFill>
              </a:rPr>
              <a:t>PURPOSE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950208"/>
            <a:ext cx="6035040" cy="8686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One simple platform to publish and find rides, manage requests and build trust through profiles and reviews.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846320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chemeClr val="accent1"/>
                </a:solidFill>
              </a:rPr>
              <a:t>IMPORTANCE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5138928"/>
            <a:ext cx="6035040" cy="8686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Shared travel cost, easier coordination and, when rides are genuinely shared, fewer vehicles on the road.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7132320" y="1280160"/>
            <a:ext cx="4480560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How users work with POOLMATE</a:t>
            </a:r>
            <a:endParaRPr lang="en-US" sz="1600" dirty="0"/>
          </a:p>
        </p:txBody>
      </p:sp>
      <p:sp>
        <p:nvSpPr>
          <p:cNvPr id="12" name="step card 1"/>
          <p:cNvSpPr/>
          <p:nvPr/>
        </p:nvSpPr>
        <p:spPr>
          <a:xfrm>
            <a:off x="7132320" y="1737360"/>
            <a:ext cx="4480560" cy="1325880"/>
          </a:xfrm>
          <a:prstGeom prst="roundRect">
            <a:avLst>
              <a:gd name="adj" fmla="val 8276"/>
            </a:avLst>
          </a:prstGeom>
          <a:solidFill>
            <a:schemeClr val="bg2"/>
          </a:solidFill>
        </p:spPr>
      </p:sp>
      <p:sp>
        <p:nvSpPr>
          <p:cNvPr id="13" name="Publish a ride icon bg"/>
          <p:cNvSpPr/>
          <p:nvPr/>
        </p:nvSpPr>
        <p:spPr>
          <a:xfrm>
            <a:off x="7315200" y="2075688"/>
            <a:ext cx="640080" cy="640080"/>
          </a:xfrm>
          <a:prstGeom prst="ellipse">
            <a:avLst/>
          </a:prstGeom>
          <a:solidFill>
            <a:schemeClr val="accent1"/>
          </a:solidFill>
        </p:spPr>
      </p:sp>
      <p:pic>
        <p:nvPicPr>
          <p:cNvPr id="14" name="Image 0" descr="Publish a ride icon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88022" y="2248510"/>
            <a:ext cx="294437" cy="294437"/>
          </a:xfrm>
          <a:prstGeom prst="rect">
            <a:avLst/>
          </a:prstGeom>
        </p:spPr>
      </p:pic>
      <p:sp>
        <p:nvSpPr>
          <p:cNvPr id="15" name="Text 12"/>
          <p:cNvSpPr txBox="1"/>
          <p:nvPr/>
        </p:nvSpPr>
        <p:spPr>
          <a:xfrm>
            <a:off x="8183880" y="1920240"/>
            <a:ext cx="3291840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Publish a ride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8183880" y="2286000"/>
            <a:ext cx="3291840" cy="685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Enter origin, destination, time of leave and available seats.</a:t>
            </a:r>
            <a:endParaRPr lang="en-US" sz="1400" dirty="0"/>
          </a:p>
        </p:txBody>
      </p:sp>
      <p:sp>
        <p:nvSpPr>
          <p:cNvPr id="17" name="step card 2"/>
          <p:cNvSpPr/>
          <p:nvPr/>
        </p:nvSpPr>
        <p:spPr>
          <a:xfrm>
            <a:off x="7132320" y="3200400"/>
            <a:ext cx="4480560" cy="1325880"/>
          </a:xfrm>
          <a:prstGeom prst="roundRect">
            <a:avLst>
              <a:gd name="adj" fmla="val 8276"/>
            </a:avLst>
          </a:prstGeom>
          <a:solidFill>
            <a:schemeClr val="bg2"/>
          </a:solidFill>
        </p:spPr>
      </p:sp>
      <p:sp>
        <p:nvSpPr>
          <p:cNvPr id="18" name="Search for rides icon bg"/>
          <p:cNvSpPr/>
          <p:nvPr/>
        </p:nvSpPr>
        <p:spPr>
          <a:xfrm>
            <a:off x="7315200" y="3538728"/>
            <a:ext cx="640080" cy="640080"/>
          </a:xfrm>
          <a:prstGeom prst="ellipse">
            <a:avLst/>
          </a:prstGeom>
          <a:solidFill>
            <a:schemeClr val="accent1"/>
          </a:solidFill>
        </p:spPr>
      </p:sp>
      <p:pic>
        <p:nvPicPr>
          <p:cNvPr id="19" name="Image 1" descr="Search for rides ico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88022" y="3711550"/>
            <a:ext cx="294437" cy="294437"/>
          </a:xfrm>
          <a:prstGeom prst="rect">
            <a:avLst/>
          </a:prstGeom>
        </p:spPr>
      </p:pic>
      <p:sp>
        <p:nvSpPr>
          <p:cNvPr id="20" name="Text 16"/>
          <p:cNvSpPr txBox="1"/>
          <p:nvPr/>
        </p:nvSpPr>
        <p:spPr>
          <a:xfrm>
            <a:off x="8183880" y="3383280"/>
            <a:ext cx="3291840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Search for rides</a:t>
            </a:r>
            <a:endParaRPr lang="en-US" sz="1600" dirty="0"/>
          </a:p>
        </p:txBody>
      </p:sp>
      <p:sp>
        <p:nvSpPr>
          <p:cNvPr id="21" name="Text 17"/>
          <p:cNvSpPr txBox="1"/>
          <p:nvPr/>
        </p:nvSpPr>
        <p:spPr>
          <a:xfrm>
            <a:off x="8183880" y="3749040"/>
            <a:ext cx="3291840" cy="685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Find published rides using origin and destination.</a:t>
            </a:r>
            <a:endParaRPr lang="en-US" sz="1400" dirty="0"/>
          </a:p>
        </p:txBody>
      </p:sp>
      <p:sp>
        <p:nvSpPr>
          <p:cNvPr id="22" name="step card 3"/>
          <p:cNvSpPr/>
          <p:nvPr/>
        </p:nvSpPr>
        <p:spPr>
          <a:xfrm>
            <a:off x="7132320" y="4663440"/>
            <a:ext cx="4480560" cy="1325880"/>
          </a:xfrm>
          <a:prstGeom prst="roundRect">
            <a:avLst>
              <a:gd name="adj" fmla="val 8276"/>
            </a:avLst>
          </a:prstGeom>
          <a:solidFill>
            <a:schemeClr val="bg2"/>
          </a:solidFill>
        </p:spPr>
      </p:sp>
      <p:sp>
        <p:nvSpPr>
          <p:cNvPr id="23" name="Request to join icon bg"/>
          <p:cNvSpPr/>
          <p:nvPr/>
        </p:nvSpPr>
        <p:spPr>
          <a:xfrm>
            <a:off x="7315200" y="5001768"/>
            <a:ext cx="640080" cy="640080"/>
          </a:xfrm>
          <a:prstGeom prst="ellipse">
            <a:avLst/>
          </a:prstGeom>
          <a:solidFill>
            <a:schemeClr val="accent1"/>
          </a:solidFill>
        </p:spPr>
      </p:sp>
      <p:pic>
        <p:nvPicPr>
          <p:cNvPr id="24" name="Image 2" descr="Request to join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88022" y="5174590"/>
            <a:ext cx="294437" cy="294437"/>
          </a:xfrm>
          <a:prstGeom prst="rect">
            <a:avLst/>
          </a:prstGeom>
        </p:spPr>
      </p:pic>
      <p:sp>
        <p:nvSpPr>
          <p:cNvPr id="25" name="Text 20"/>
          <p:cNvSpPr txBox="1"/>
          <p:nvPr/>
        </p:nvSpPr>
        <p:spPr>
          <a:xfrm>
            <a:off x="8183880" y="4846320"/>
            <a:ext cx="3291840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Request to join</a:t>
            </a:r>
            <a:endParaRPr lang="en-US" sz="1600" dirty="0"/>
          </a:p>
        </p:txBody>
      </p:sp>
      <p:sp>
        <p:nvSpPr>
          <p:cNvPr id="26" name="Text 21"/>
          <p:cNvSpPr txBox="1"/>
          <p:nvPr/>
        </p:nvSpPr>
        <p:spPr>
          <a:xfrm>
            <a:off x="8183880" y="5212080"/>
            <a:ext cx="3291840" cy="685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Send a request; the publisher accepts or declines it.</a:t>
            </a:r>
            <a:endParaRPr lang="en-US" sz="1400" dirty="0"/>
          </a:p>
        </p:txBody>
      </p:sp>
      <p:sp>
        <p:nvSpPr>
          <p:cNvPr id="2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98480" y="6446520"/>
            <a:ext cx="914400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548640" y="274320"/>
            <a:ext cx="1106424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Abstract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80160"/>
            <a:ext cx="2377440" cy="868680"/>
          </a:xfrm>
          <a:prstGeom prst="roundRect">
            <a:avLst>
              <a:gd name="adj" fmla="val 8421"/>
            </a:avLst>
          </a:prstGeom>
          <a:solidFill>
            <a:schemeClr val="bg1">
              <a:lumMod val="85000"/>
            </a:schemeClr>
          </a:solidFill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Overview</a:t>
            </a:r>
            <a:endParaRPr lang="en-US" sz="1500" dirty="0"/>
          </a:p>
        </p:txBody>
      </p:sp>
      <p:sp>
        <p:nvSpPr>
          <p:cNvPr id="4" name="abstract row 1"/>
          <p:cNvSpPr/>
          <p:nvPr/>
        </p:nvSpPr>
        <p:spPr>
          <a:xfrm>
            <a:off x="3063240" y="1280160"/>
            <a:ext cx="8549640" cy="868680"/>
          </a:xfrm>
          <a:prstGeom prst="roundRect">
            <a:avLst>
              <a:gd name="adj" fmla="val 12632"/>
            </a:avLst>
          </a:prstGeom>
          <a:solidFill>
            <a:schemeClr val="bg2"/>
          </a:solidFill>
        </p:spPr>
      </p:sp>
      <p:sp>
        <p:nvSpPr>
          <p:cNvPr id="5" name="Text 3"/>
          <p:cNvSpPr txBox="1"/>
          <p:nvPr/>
        </p:nvSpPr>
        <p:spPr>
          <a:xfrm>
            <a:off x="3246120" y="1280160"/>
            <a:ext cx="822960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POOLMATE is a Django-based web application for four-wheeler carpooling. Registered users publish, search for and request rides.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267712"/>
            <a:ext cx="2377440" cy="868680"/>
          </a:xfrm>
          <a:prstGeom prst="roundRect">
            <a:avLst>
              <a:gd name="adj" fmla="val 8421"/>
            </a:avLst>
          </a:prstGeom>
          <a:solidFill>
            <a:schemeClr val="bg1">
              <a:lumMod val="85000"/>
            </a:schemeClr>
          </a:solidFill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Problem</a:t>
            </a:r>
            <a:endParaRPr lang="en-US" sz="1500" dirty="0"/>
          </a:p>
        </p:txBody>
      </p:sp>
      <p:sp>
        <p:nvSpPr>
          <p:cNvPr id="7" name="abstract row 2"/>
          <p:cNvSpPr/>
          <p:nvPr/>
        </p:nvSpPr>
        <p:spPr>
          <a:xfrm>
            <a:off x="3063240" y="2267712"/>
            <a:ext cx="8549640" cy="868680"/>
          </a:xfrm>
          <a:prstGeom prst="roundRect">
            <a:avLst>
              <a:gd name="adj" fmla="val 12632"/>
            </a:avLst>
          </a:prstGeom>
          <a:solidFill>
            <a:schemeClr val="bg2"/>
          </a:solidFill>
        </p:spPr>
      </p:sp>
      <p:sp>
        <p:nvSpPr>
          <p:cNvPr id="8" name="Text 6"/>
          <p:cNvSpPr txBox="1"/>
          <p:nvPr/>
        </p:nvSpPr>
        <p:spPr>
          <a:xfrm>
            <a:off x="3246120" y="2267712"/>
            <a:ext cx="822960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No simple, dedicated platform lets individuals share rides and manage requests, notifications and trust between co-travellers.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255264"/>
            <a:ext cx="2377440" cy="868680"/>
          </a:xfrm>
          <a:prstGeom prst="roundRect">
            <a:avLst>
              <a:gd name="adj" fmla="val 8421"/>
            </a:avLst>
          </a:prstGeom>
          <a:solidFill>
            <a:schemeClr val="bg1">
              <a:lumMod val="85000"/>
            </a:schemeClr>
          </a:solidFill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Solution</a:t>
            </a:r>
            <a:endParaRPr lang="en-US" sz="1500" dirty="0"/>
          </a:p>
        </p:txBody>
      </p:sp>
      <p:sp>
        <p:nvSpPr>
          <p:cNvPr id="10" name="abstract row 3"/>
          <p:cNvSpPr/>
          <p:nvPr/>
        </p:nvSpPr>
        <p:spPr>
          <a:xfrm>
            <a:off x="3063240" y="3255264"/>
            <a:ext cx="8549640" cy="868680"/>
          </a:xfrm>
          <a:prstGeom prst="roundRect">
            <a:avLst>
              <a:gd name="adj" fmla="val 12632"/>
            </a:avLst>
          </a:prstGeom>
          <a:solidFill>
            <a:schemeClr val="bg2"/>
          </a:solidFill>
        </p:spPr>
      </p:sp>
      <p:sp>
        <p:nvSpPr>
          <p:cNvPr id="11" name="Text 9"/>
          <p:cNvSpPr txBox="1"/>
          <p:nvPr/>
        </p:nvSpPr>
        <p:spPr>
          <a:xfrm>
            <a:off x="3246120" y="3255264"/>
            <a:ext cx="822960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Ride publishing and search, a request–notification–accept/decline workflow, profiles, reviews and payments, plus an admin module.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4242816"/>
            <a:ext cx="2377440" cy="868680"/>
          </a:xfrm>
          <a:prstGeom prst="roundRect">
            <a:avLst>
              <a:gd name="adj" fmla="val 8421"/>
            </a:avLst>
          </a:prstGeom>
          <a:solidFill>
            <a:schemeClr val="bg1">
              <a:lumMod val="85000"/>
            </a:schemeClr>
          </a:solidFill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Technologies / Method</a:t>
            </a:r>
            <a:endParaRPr lang="en-US" sz="1500" dirty="0"/>
          </a:p>
        </p:txBody>
      </p:sp>
      <p:sp>
        <p:nvSpPr>
          <p:cNvPr id="13" name="abstract row 4"/>
          <p:cNvSpPr/>
          <p:nvPr/>
        </p:nvSpPr>
        <p:spPr>
          <a:xfrm>
            <a:off x="3063240" y="4242816"/>
            <a:ext cx="8549640" cy="868680"/>
          </a:xfrm>
          <a:prstGeom prst="roundRect">
            <a:avLst>
              <a:gd name="adj" fmla="val 12632"/>
            </a:avLst>
          </a:prstGeom>
          <a:solidFill>
            <a:schemeClr val="bg2"/>
          </a:solidFill>
        </p:spPr>
      </p:sp>
      <p:sp>
        <p:nvSpPr>
          <p:cNvPr id="14" name="Text 12"/>
          <p:cNvSpPr txBox="1"/>
          <p:nvPr/>
        </p:nvSpPr>
        <p:spPr>
          <a:xfrm>
            <a:off x="3246120" y="4242816"/>
            <a:ext cx="822960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HTML, CSS, JavaScript, AJAX; Python (Django); SQLite. Developed iteratively in sprints.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5230368"/>
            <a:ext cx="2377440" cy="868680"/>
          </a:xfrm>
          <a:prstGeom prst="roundRect">
            <a:avLst>
              <a:gd name="adj" fmla="val 8421"/>
            </a:avLst>
          </a:prstGeom>
          <a:solidFill>
            <a:schemeClr val="bg1">
              <a:lumMod val="85000"/>
            </a:schemeClr>
          </a:solidFill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Outcome</a:t>
            </a:r>
            <a:endParaRPr lang="en-US" sz="1500" dirty="0"/>
          </a:p>
        </p:txBody>
      </p:sp>
      <p:sp>
        <p:nvSpPr>
          <p:cNvPr id="16" name="abstract row 5"/>
          <p:cNvSpPr/>
          <p:nvPr/>
        </p:nvSpPr>
        <p:spPr>
          <a:xfrm>
            <a:off x="3063240" y="5230368"/>
            <a:ext cx="8549640" cy="868680"/>
          </a:xfrm>
          <a:prstGeom prst="roundRect">
            <a:avLst>
              <a:gd name="adj" fmla="val 12632"/>
            </a:avLst>
          </a:prstGeom>
          <a:solidFill>
            <a:schemeClr val="bg2"/>
          </a:solidFill>
        </p:spPr>
      </p:sp>
      <p:sp>
        <p:nvSpPr>
          <p:cNvPr id="17" name="Text 15"/>
          <p:cNvSpPr txBox="1"/>
          <p:nvPr/>
        </p:nvSpPr>
        <p:spPr>
          <a:xfrm>
            <a:off x="3246120" y="5230368"/>
            <a:ext cx="822960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A working web application covering the documented modules. Quantitative evaluation was not part of the supplied project material.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98480" y="6446520"/>
            <a:ext cx="914400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548640" y="274320"/>
            <a:ext cx="1106424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Problem Definition</a:t>
            </a:r>
            <a:endParaRPr lang="en-US" sz="3200" dirty="0"/>
          </a:p>
        </p:txBody>
      </p:sp>
      <p:sp>
        <p:nvSpPr>
          <p:cNvPr id="3" name="problem statement"/>
          <p:cNvSpPr/>
          <p:nvPr/>
        </p:nvSpPr>
        <p:spPr>
          <a:xfrm>
            <a:off x="548640" y="1280160"/>
            <a:ext cx="11064240" cy="1600200"/>
          </a:xfrm>
          <a:prstGeom prst="roundRect">
            <a:avLst>
              <a:gd name="adj" fmla="val 6857"/>
            </a:avLst>
          </a:prstGeom>
          <a:solidFill>
            <a:schemeClr val="bg1">
              <a:lumMod val="75000"/>
            </a:schemeClr>
          </a:solidFill>
        </p:spPr>
      </p:sp>
      <p:sp>
        <p:nvSpPr>
          <p:cNvPr id="4" name="Text 2"/>
          <p:cNvSpPr txBox="1"/>
          <p:nvPr/>
        </p:nvSpPr>
        <p:spPr>
          <a:xfrm>
            <a:off x="868680" y="1417320"/>
            <a:ext cx="10424160" cy="86868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bg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Individuals lack a simple, dedicated web platform to publish and find four-wheeler rides and to manage ride requests with trust.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2331720"/>
            <a:ext cx="10424160" cy="36576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Need: a structured ride-publishing and ride-request platform.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10896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Why coordination is difficult</a:t>
            </a:r>
            <a:endParaRPr lang="en-US" sz="1600" dirty="0"/>
          </a:p>
        </p:txBody>
      </p:sp>
      <p:sp>
        <p:nvSpPr>
          <p:cNvPr id="7" name="difficulty card 1"/>
          <p:cNvSpPr/>
          <p:nvPr/>
        </p:nvSpPr>
        <p:spPr>
          <a:xfrm>
            <a:off x="548640" y="3566160"/>
            <a:ext cx="2679192" cy="2606040"/>
          </a:xfrm>
          <a:prstGeom prst="roundRect">
            <a:avLst>
              <a:gd name="adj" fmla="val 4211"/>
            </a:avLst>
          </a:prstGeom>
          <a:solidFill>
            <a:schemeClr val="bg1">
              <a:lumMod val="85000"/>
            </a:schemeClr>
          </a:solidFill>
        </p:spPr>
      </p:sp>
      <p:sp>
        <p:nvSpPr>
          <p:cNvPr id="8" name="No dedicated platform icon bg"/>
          <p:cNvSpPr/>
          <p:nvPr/>
        </p:nvSpPr>
        <p:spPr>
          <a:xfrm>
            <a:off x="731520" y="3749040"/>
            <a:ext cx="640080" cy="640080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</p:sp>
      <p:pic>
        <p:nvPicPr>
          <p:cNvPr id="9" name="Image 0" descr="No dedicated platform icon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4342" y="3921862"/>
            <a:ext cx="294437" cy="29443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</p:pic>
      <p:sp>
        <p:nvSpPr>
          <p:cNvPr id="10" name="Text 7"/>
          <p:cNvSpPr txBox="1"/>
          <p:nvPr/>
        </p:nvSpPr>
        <p:spPr>
          <a:xfrm>
            <a:off x="731520" y="4526280"/>
            <a:ext cx="2331720" cy="36576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No dedicated platform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731520" y="4937760"/>
            <a:ext cx="2331720" cy="1143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No easy way to share four-wheeler rides for daily or occasional travel.</a:t>
            </a:r>
            <a:endParaRPr lang="en-US" sz="1400" dirty="0"/>
          </a:p>
        </p:txBody>
      </p:sp>
      <p:sp>
        <p:nvSpPr>
          <p:cNvPr id="12" name="difficulty card 2"/>
          <p:cNvSpPr/>
          <p:nvPr/>
        </p:nvSpPr>
        <p:spPr>
          <a:xfrm>
            <a:off x="3355848" y="3566160"/>
            <a:ext cx="2679192" cy="2606040"/>
          </a:xfrm>
          <a:prstGeom prst="roundRect">
            <a:avLst>
              <a:gd name="adj" fmla="val 4211"/>
            </a:avLst>
          </a:prstGeom>
          <a:solidFill>
            <a:schemeClr val="bg1">
              <a:lumMod val="85000"/>
            </a:schemeClr>
          </a:solidFill>
        </p:spPr>
      </p:sp>
      <p:sp>
        <p:nvSpPr>
          <p:cNvPr id="13" name="No simple matching icon bg"/>
          <p:cNvSpPr/>
          <p:nvPr/>
        </p:nvSpPr>
        <p:spPr>
          <a:xfrm>
            <a:off x="3538728" y="3749040"/>
            <a:ext cx="640080" cy="640080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</p:sp>
      <p:pic>
        <p:nvPicPr>
          <p:cNvPr id="14" name="Image 1" descr="No simple matching ico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1550" y="3921862"/>
            <a:ext cx="294437" cy="29443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</p:pic>
      <p:sp>
        <p:nvSpPr>
          <p:cNvPr id="15" name="Text 11"/>
          <p:cNvSpPr txBox="1"/>
          <p:nvPr/>
        </p:nvSpPr>
        <p:spPr>
          <a:xfrm>
            <a:off x="3538728" y="4526280"/>
            <a:ext cx="2331720" cy="36576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No simple matching</a:t>
            </a:r>
            <a:endParaRPr lang="en-US" sz="1600" dirty="0"/>
          </a:p>
        </p:txBody>
      </p:sp>
      <p:sp>
        <p:nvSpPr>
          <p:cNvPr id="16" name="Text 12"/>
          <p:cNvSpPr txBox="1"/>
          <p:nvPr/>
        </p:nvSpPr>
        <p:spPr>
          <a:xfrm>
            <a:off x="3538728" y="4937760"/>
            <a:ext cx="2331720" cy="1143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Publishers and seekers are hard to match on origin and destination.</a:t>
            </a:r>
            <a:endParaRPr lang="en-US" sz="1400" dirty="0"/>
          </a:p>
        </p:txBody>
      </p:sp>
      <p:sp>
        <p:nvSpPr>
          <p:cNvPr id="17" name="difficulty card 3"/>
          <p:cNvSpPr/>
          <p:nvPr/>
        </p:nvSpPr>
        <p:spPr>
          <a:xfrm>
            <a:off x="6163056" y="3566160"/>
            <a:ext cx="2679192" cy="2606040"/>
          </a:xfrm>
          <a:prstGeom prst="roundRect">
            <a:avLst>
              <a:gd name="adj" fmla="val 4211"/>
            </a:avLst>
          </a:prstGeom>
          <a:solidFill>
            <a:schemeClr val="bg1">
              <a:lumMod val="85000"/>
            </a:schemeClr>
          </a:solidFill>
        </p:spPr>
      </p:sp>
      <p:sp>
        <p:nvSpPr>
          <p:cNvPr id="18" name="No request workflow icon bg"/>
          <p:cNvSpPr/>
          <p:nvPr/>
        </p:nvSpPr>
        <p:spPr>
          <a:xfrm>
            <a:off x="6345936" y="3749040"/>
            <a:ext cx="640080" cy="640080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</p:sp>
      <p:pic>
        <p:nvPicPr>
          <p:cNvPr id="19" name="Image 2" descr="No request workflow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8758" y="3921862"/>
            <a:ext cx="294437" cy="29443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</p:pic>
      <p:sp>
        <p:nvSpPr>
          <p:cNvPr id="20" name="Text 15"/>
          <p:cNvSpPr txBox="1"/>
          <p:nvPr/>
        </p:nvSpPr>
        <p:spPr>
          <a:xfrm>
            <a:off x="6345936" y="4526280"/>
            <a:ext cx="2331720" cy="36576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No request workflow</a:t>
            </a:r>
            <a:endParaRPr lang="en-US" sz="1600" dirty="0"/>
          </a:p>
        </p:txBody>
      </p:sp>
      <p:sp>
        <p:nvSpPr>
          <p:cNvPr id="21" name="Text 16"/>
          <p:cNvSpPr txBox="1"/>
          <p:nvPr/>
        </p:nvSpPr>
        <p:spPr>
          <a:xfrm>
            <a:off x="6345936" y="4937760"/>
            <a:ext cx="2331720" cy="1143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No structured way to handle requests, accept/reject and notify users.</a:t>
            </a:r>
            <a:endParaRPr lang="en-US" sz="1400" dirty="0"/>
          </a:p>
        </p:txBody>
      </p:sp>
      <p:sp>
        <p:nvSpPr>
          <p:cNvPr id="22" name="difficulty card 4"/>
          <p:cNvSpPr/>
          <p:nvPr/>
        </p:nvSpPr>
        <p:spPr>
          <a:xfrm>
            <a:off x="8970264" y="3566160"/>
            <a:ext cx="2679192" cy="2606040"/>
          </a:xfrm>
          <a:prstGeom prst="roundRect">
            <a:avLst>
              <a:gd name="adj" fmla="val 4211"/>
            </a:avLst>
          </a:prstGeom>
          <a:solidFill>
            <a:schemeClr val="bg1">
              <a:lumMod val="85000"/>
            </a:schemeClr>
          </a:solidFill>
        </p:spPr>
      </p:sp>
      <p:sp>
        <p:nvSpPr>
          <p:cNvPr id="23" name="No trust mechanism icon bg"/>
          <p:cNvSpPr/>
          <p:nvPr/>
        </p:nvSpPr>
        <p:spPr>
          <a:xfrm>
            <a:off x="9153144" y="3749040"/>
            <a:ext cx="640080" cy="640080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</p:sp>
      <p:pic>
        <p:nvPicPr>
          <p:cNvPr id="24" name="Image 3" descr="No trust mechanism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25966" y="3921862"/>
            <a:ext cx="294437" cy="29443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</p:pic>
      <p:sp>
        <p:nvSpPr>
          <p:cNvPr id="25" name="Text 19"/>
          <p:cNvSpPr txBox="1"/>
          <p:nvPr/>
        </p:nvSpPr>
        <p:spPr>
          <a:xfrm>
            <a:off x="9153144" y="4526280"/>
            <a:ext cx="2331720" cy="36576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No trust mechanism</a:t>
            </a:r>
            <a:endParaRPr lang="en-US" sz="1600" dirty="0"/>
          </a:p>
        </p:txBody>
      </p:sp>
      <p:sp>
        <p:nvSpPr>
          <p:cNvPr id="26" name="Text 20"/>
          <p:cNvSpPr txBox="1"/>
          <p:nvPr/>
        </p:nvSpPr>
        <p:spPr>
          <a:xfrm>
            <a:off x="9153144" y="4937760"/>
            <a:ext cx="2331720" cy="1143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No review or rating system to build safety among co-travellers.</a:t>
            </a:r>
            <a:endParaRPr lang="en-US" sz="1400" dirty="0"/>
          </a:p>
        </p:txBody>
      </p:sp>
      <p:sp>
        <p:nvSpPr>
          <p:cNvPr id="2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98480" y="6446520"/>
            <a:ext cx="914400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548640" y="274320"/>
            <a:ext cx="1106424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Objectives</a:t>
            </a:r>
            <a:endParaRPr lang="en-US" sz="3200" dirty="0"/>
          </a:p>
        </p:txBody>
      </p:sp>
      <p:sp>
        <p:nvSpPr>
          <p:cNvPr id="3" name="main objective"/>
          <p:cNvSpPr/>
          <p:nvPr/>
        </p:nvSpPr>
        <p:spPr>
          <a:xfrm>
            <a:off x="548640" y="1280160"/>
            <a:ext cx="3931920" cy="2514600"/>
          </a:xfrm>
          <a:prstGeom prst="roundRect">
            <a:avLst>
              <a:gd name="adj" fmla="val 4364"/>
            </a:avLst>
          </a:prstGeom>
          <a:solidFill>
            <a:schemeClr val="bg1">
              <a:lumMod val="75000"/>
            </a:schemeClr>
          </a:solidFill>
        </p:spPr>
      </p:sp>
      <p:sp>
        <p:nvSpPr>
          <p:cNvPr id="4" name="Text 2"/>
          <p:cNvSpPr txBox="1"/>
          <p:nvPr/>
        </p:nvSpPr>
        <p:spPr>
          <a:xfrm>
            <a:off x="777240" y="1463040"/>
            <a:ext cx="347472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chemeClr val="accent2"/>
                </a:solidFill>
              </a:rPr>
              <a:t>MAIN OBJECTIVE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828800"/>
            <a:ext cx="3474720" cy="1828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Build a web platform that lets users share four-wheeler rides conveniently and at lower cost.</a:t>
            </a:r>
            <a:endParaRPr lang="en-US" sz="1800" dirty="0"/>
          </a:p>
        </p:txBody>
      </p:sp>
      <p:sp>
        <p:nvSpPr>
          <p:cNvPr id="6" name="expected outcome"/>
          <p:cNvSpPr/>
          <p:nvPr/>
        </p:nvSpPr>
        <p:spPr>
          <a:xfrm>
            <a:off x="548640" y="3977640"/>
            <a:ext cx="3931920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</p:spPr>
      </p:sp>
      <p:sp>
        <p:nvSpPr>
          <p:cNvPr id="7" name="Text 5"/>
          <p:cNvSpPr txBox="1"/>
          <p:nvPr/>
        </p:nvSpPr>
        <p:spPr>
          <a:xfrm>
            <a:off x="777240" y="4160520"/>
            <a:ext cx="347472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chemeClr val="accent1"/>
                </a:solidFill>
              </a:rPr>
              <a:t>EXPECTED OUTCOME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4526280"/>
            <a:ext cx="3474720" cy="15544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A working platform where users publish, search, request and confirm rides, with notifications, reviews and payments.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4754880" y="1280160"/>
            <a:ext cx="6858000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Specific objectives</a:t>
            </a:r>
            <a:endParaRPr lang="en-US" sz="1600" dirty="0"/>
          </a:p>
        </p:txBody>
      </p:sp>
      <p:sp>
        <p:nvSpPr>
          <p:cNvPr id="10" name="objective number 1"/>
          <p:cNvSpPr txBox="1"/>
          <p:nvPr>
            <p:custDataLst>
              <p:tags r:id="rId1"/>
            </p:custDataLst>
          </p:nvPr>
        </p:nvSpPr>
        <p:spPr>
          <a:xfrm>
            <a:off x="4754880" y="1737360"/>
            <a:ext cx="457200" cy="457200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1</a:t>
            </a:r>
            <a:endParaRPr lang="en-US" sz="1500" dirty="0"/>
          </a:p>
        </p:txBody>
      </p:sp>
      <p:sp>
        <p:nvSpPr>
          <p:cNvPr id="11" name="Text 9"/>
          <p:cNvSpPr txBox="1"/>
          <p:nvPr>
            <p:custDataLst>
              <p:tags r:id="rId2"/>
            </p:custDataLst>
          </p:nvPr>
        </p:nvSpPr>
        <p:spPr>
          <a:xfrm>
            <a:off x="5394960" y="1691640"/>
            <a:ext cx="62179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Reduce travel costs by sharing rides with users heading the same way.</a:t>
            </a:r>
            <a:endParaRPr lang="en-US" sz="1500" dirty="0"/>
          </a:p>
        </p:txBody>
      </p:sp>
      <p:sp>
        <p:nvSpPr>
          <p:cNvPr id="12" name="objective number 2"/>
          <p:cNvSpPr txBox="1"/>
          <p:nvPr>
            <p:custDataLst>
              <p:tags r:id="rId3"/>
            </p:custDataLst>
          </p:nvPr>
        </p:nvSpPr>
        <p:spPr>
          <a:xfrm>
            <a:off x="4754880" y="2377440"/>
            <a:ext cx="457200" cy="457200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2</a:t>
            </a:r>
            <a:endParaRPr lang="en-US" sz="1500" dirty="0"/>
          </a:p>
        </p:txBody>
      </p:sp>
      <p:sp>
        <p:nvSpPr>
          <p:cNvPr id="13" name="Text 11"/>
          <p:cNvSpPr txBox="1"/>
          <p:nvPr>
            <p:custDataLst>
              <p:tags r:id="rId4"/>
            </p:custDataLst>
          </p:nvPr>
        </p:nvSpPr>
        <p:spPr>
          <a:xfrm>
            <a:off x="5394960" y="2331720"/>
            <a:ext cx="62179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Save time by matching publishers and seekers on origin, destination and time.</a:t>
            </a:r>
            <a:endParaRPr lang="en-US" sz="1500" dirty="0"/>
          </a:p>
        </p:txBody>
      </p:sp>
      <p:sp>
        <p:nvSpPr>
          <p:cNvPr id="14" name="objective number 3"/>
          <p:cNvSpPr txBox="1"/>
          <p:nvPr>
            <p:custDataLst>
              <p:tags r:id="rId5"/>
            </p:custDataLst>
          </p:nvPr>
        </p:nvSpPr>
        <p:spPr>
          <a:xfrm>
            <a:off x="4754880" y="3017520"/>
            <a:ext cx="457200" cy="457200"/>
          </a:xfrm>
          <a:prstGeom prst="ellipse">
            <a:avLst/>
          </a:prstGeom>
          <a:solidFill>
            <a:schemeClr val="bg1">
              <a:lumMod val="75000"/>
            </a:schemeClr>
          </a:solidFill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3</a:t>
            </a:r>
            <a:endParaRPr lang="en-US" sz="1500" dirty="0"/>
          </a:p>
        </p:txBody>
      </p:sp>
      <p:sp>
        <p:nvSpPr>
          <p:cNvPr id="15" name="Text 13"/>
          <p:cNvSpPr txBox="1"/>
          <p:nvPr>
            <p:custDataLst>
              <p:tags r:id="rId6"/>
            </p:custDataLst>
          </p:nvPr>
        </p:nvSpPr>
        <p:spPr>
          <a:xfrm>
            <a:off x="5394960" y="2971800"/>
            <a:ext cx="62179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Reduce traffic congestion and fuel consumption through shared travel.</a:t>
            </a:r>
            <a:endParaRPr lang="en-US" sz="1500" dirty="0"/>
          </a:p>
        </p:txBody>
      </p:sp>
      <p:sp>
        <p:nvSpPr>
          <p:cNvPr id="16" name="objective number 4"/>
          <p:cNvSpPr txBox="1"/>
          <p:nvPr>
            <p:custDataLst>
              <p:tags r:id="rId7"/>
            </p:custDataLst>
          </p:nvPr>
        </p:nvSpPr>
        <p:spPr>
          <a:xfrm>
            <a:off x="4754880" y="3657600"/>
            <a:ext cx="457200" cy="4572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4</a:t>
            </a:r>
            <a:endParaRPr lang="en-US" sz="1500" dirty="0"/>
          </a:p>
        </p:txBody>
      </p:sp>
      <p:sp>
        <p:nvSpPr>
          <p:cNvPr id="17" name="Text 15"/>
          <p:cNvSpPr txBox="1"/>
          <p:nvPr>
            <p:custDataLst>
              <p:tags r:id="rId8"/>
            </p:custDataLst>
          </p:nvPr>
        </p:nvSpPr>
        <p:spPr>
          <a:xfrm>
            <a:off x="5394960" y="3611880"/>
            <a:ext cx="62179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Promote a trustworthy community through reviews and profile management.</a:t>
            </a:r>
            <a:endParaRPr lang="en-US" sz="1500" dirty="0"/>
          </a:p>
        </p:txBody>
      </p:sp>
      <p:sp>
        <p:nvSpPr>
          <p:cNvPr id="18" name="objective number 5"/>
          <p:cNvSpPr txBox="1"/>
          <p:nvPr>
            <p:custDataLst>
              <p:tags r:id="rId9"/>
            </p:custDataLst>
          </p:nvPr>
        </p:nvSpPr>
        <p:spPr>
          <a:xfrm>
            <a:off x="4754880" y="4297680"/>
            <a:ext cx="457200" cy="457200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5</a:t>
            </a:r>
            <a:endParaRPr lang="en-US" sz="1500" dirty="0"/>
          </a:p>
        </p:txBody>
      </p:sp>
      <p:sp>
        <p:nvSpPr>
          <p:cNvPr id="19" name="Text 17"/>
          <p:cNvSpPr txBox="1"/>
          <p:nvPr>
            <p:custDataLst>
              <p:tags r:id="rId10"/>
            </p:custDataLst>
          </p:nvPr>
        </p:nvSpPr>
        <p:spPr>
          <a:xfrm>
            <a:off x="5394960" y="4251960"/>
            <a:ext cx="62179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Make publishing, searching and booking of rides easy.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4754880" y="4983480"/>
            <a:ext cx="6858000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Benefits to users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4754880" y="5394960"/>
            <a:ext cx="1645920" cy="731520"/>
          </a:xfrm>
          <a:prstGeom prst="roundRect">
            <a:avLst>
              <a:gd name="adj" fmla="val 10000"/>
            </a:avLst>
          </a:prstGeom>
          <a:solidFill>
            <a:schemeClr val="bg1">
              <a:lumMod val="85000"/>
            </a:schemeClr>
          </a:solidFill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Shared travel cost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6492240" y="5394960"/>
            <a:ext cx="1645920" cy="731520"/>
          </a:xfrm>
          <a:prstGeom prst="roundRect">
            <a:avLst>
              <a:gd name="adj" fmla="val 10000"/>
            </a:avLst>
          </a:prstGeom>
          <a:solidFill>
            <a:schemeClr val="bg1">
              <a:lumMod val="75000"/>
            </a:schemeClr>
          </a:solidFill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Convenient coordination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8229600" y="5394960"/>
            <a:ext cx="1645920" cy="731520"/>
          </a:xfrm>
          <a:prstGeom prst="roundRect">
            <a:avLst>
              <a:gd name="adj" fmla="val 10000"/>
            </a:avLst>
          </a:prstGeom>
          <a:solidFill>
            <a:schemeClr val="bg1">
              <a:lumMod val="85000"/>
            </a:schemeClr>
          </a:solidFill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Time saving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9966960" y="5394960"/>
            <a:ext cx="1645920" cy="731520"/>
          </a:xfrm>
          <a:prstGeom prst="roundRect">
            <a:avLst>
              <a:gd name="adj" fmla="val 10000"/>
            </a:avLst>
          </a:prstGeom>
          <a:solidFill>
            <a:schemeClr val="bg1">
              <a:lumMod val="75000"/>
            </a:schemeClr>
          </a:solidFill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Trusted co-travellers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98480" y="6446520"/>
            <a:ext cx="914400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548640" y="274320"/>
            <a:ext cx="1106424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Existing System</a:t>
            </a:r>
            <a:endParaRPr lang="en-US" sz="3200" dirty="0"/>
          </a:p>
        </p:txBody>
      </p:sp>
      <p:sp>
        <p:nvSpPr>
          <p:cNvPr id="3" name="platform BlaBlaCar"/>
          <p:cNvSpPr/>
          <p:nvPr/>
        </p:nvSpPr>
        <p:spPr>
          <a:xfrm>
            <a:off x="548640" y="1280160"/>
            <a:ext cx="3566160" cy="2651760"/>
          </a:xfrm>
          <a:prstGeom prst="roundRect">
            <a:avLst>
              <a:gd name="adj" fmla="val 4138"/>
            </a:avLst>
          </a:prstGeom>
          <a:solidFill>
            <a:schemeClr val="bg2"/>
          </a:solidFill>
        </p:spPr>
      </p:sp>
      <p:sp>
        <p:nvSpPr>
          <p:cNvPr id="4" name="Text 2"/>
          <p:cNvSpPr txBox="1"/>
          <p:nvPr/>
        </p:nvSpPr>
        <p:spPr>
          <a:xfrm>
            <a:off x="777240" y="1417320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BlaBlaCar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874520"/>
            <a:ext cx="3108960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chemeClr val="accent1"/>
                </a:solidFill>
              </a:rPr>
              <a:t>FOCUS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103120"/>
            <a:ext cx="3108960" cy="640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Widely used for intercity carpooling.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788920"/>
            <a:ext cx="3108960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chemeClr val="accent5"/>
                </a:solidFill>
              </a:rPr>
              <a:t>GAP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017520"/>
            <a:ext cx="3108960" cy="822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Not localized for short, daily intra-city commutes.</a:t>
            </a:r>
            <a:endParaRPr lang="en-US" sz="1400" dirty="0"/>
          </a:p>
        </p:txBody>
      </p:sp>
      <p:sp>
        <p:nvSpPr>
          <p:cNvPr id="9" name="platform Uber Pool / Ola Share"/>
          <p:cNvSpPr/>
          <p:nvPr/>
        </p:nvSpPr>
        <p:spPr>
          <a:xfrm>
            <a:off x="4297680" y="1280160"/>
            <a:ext cx="3566160" cy="2651760"/>
          </a:xfrm>
          <a:prstGeom prst="roundRect">
            <a:avLst>
              <a:gd name="adj" fmla="val 4138"/>
            </a:avLst>
          </a:prstGeom>
          <a:solidFill>
            <a:schemeClr val="bg2"/>
          </a:solidFill>
        </p:spPr>
      </p:sp>
      <p:sp>
        <p:nvSpPr>
          <p:cNvPr id="10" name="Text 8"/>
          <p:cNvSpPr txBox="1"/>
          <p:nvPr/>
        </p:nvSpPr>
        <p:spPr>
          <a:xfrm>
            <a:off x="4526280" y="1417320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Uber Pool / Ola Share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4526280" y="1874520"/>
            <a:ext cx="3108960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chemeClr val="accent1"/>
                </a:solidFill>
              </a:rPr>
              <a:t>FOCUS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26280" y="2103120"/>
            <a:ext cx="3108960" cy="640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Cab-sharing with company-owned drivers.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526280" y="2788920"/>
            <a:ext cx="3108960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chemeClr val="accent5"/>
                </a:solidFill>
              </a:rPr>
              <a:t>GAP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4526280" y="3017520"/>
            <a:ext cx="3108960" cy="822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Not peer-to-peer ride sharing between regular users.</a:t>
            </a:r>
            <a:endParaRPr lang="en-US" sz="1400" dirty="0"/>
          </a:p>
        </p:txBody>
      </p:sp>
      <p:sp>
        <p:nvSpPr>
          <p:cNvPr id="15" name="platform Quick Ride"/>
          <p:cNvSpPr/>
          <p:nvPr/>
        </p:nvSpPr>
        <p:spPr>
          <a:xfrm>
            <a:off x="8046720" y="1280160"/>
            <a:ext cx="3566160" cy="2651760"/>
          </a:xfrm>
          <a:prstGeom prst="roundRect">
            <a:avLst>
              <a:gd name="adj" fmla="val 4138"/>
            </a:avLst>
          </a:prstGeom>
          <a:solidFill>
            <a:schemeClr val="bg2"/>
          </a:solidFill>
        </p:spPr>
      </p:sp>
      <p:sp>
        <p:nvSpPr>
          <p:cNvPr id="16" name="Text 14"/>
          <p:cNvSpPr txBox="1"/>
          <p:nvPr/>
        </p:nvSpPr>
        <p:spPr>
          <a:xfrm>
            <a:off x="8275320" y="1417320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Quick Ride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8275320" y="1874520"/>
            <a:ext cx="3108960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chemeClr val="accent1"/>
                </a:solidFill>
              </a:rPr>
              <a:t>FOCUS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8275320" y="2103120"/>
            <a:ext cx="3108960" cy="640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Popular carpooling app in India.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8275320" y="2788920"/>
            <a:ext cx="3108960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chemeClr val="accent5"/>
                </a:solidFill>
              </a:rPr>
              <a:t>GAP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8275320" y="3017520"/>
            <a:ext cx="3108960" cy="822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Lacks a strong review/rating system for trust between co-travellers.</a:t>
            </a:r>
            <a:endParaRPr lang="en-US" sz="1400" dirty="0"/>
          </a:p>
        </p:txBody>
      </p:sp>
      <p:sp>
        <p:nvSpPr>
          <p:cNvPr id="21" name="general gaps"/>
          <p:cNvSpPr/>
          <p:nvPr/>
        </p:nvSpPr>
        <p:spPr>
          <a:xfrm>
            <a:off x="548640" y="4160520"/>
            <a:ext cx="5943600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</p:spPr>
      </p:sp>
      <p:sp>
        <p:nvSpPr>
          <p:cNvPr id="22" name="Text 20"/>
          <p:cNvSpPr txBox="1"/>
          <p:nvPr/>
        </p:nvSpPr>
        <p:spPr>
          <a:xfrm>
            <a:off x="777240" y="429768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General gaps in existing apps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777240" y="4709160"/>
            <a:ext cx="5486400" cy="1371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No integrated request – notification – accept/decline workflow.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No unified profile and review system.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No simple publish-and-search model in a single platform.</a:t>
            </a:r>
            <a:endParaRPr lang="en-US" sz="1400" dirty="0"/>
          </a:p>
        </p:txBody>
      </p:sp>
      <p:sp>
        <p:nvSpPr>
          <p:cNvPr id="24" name="poolmate difference"/>
          <p:cNvSpPr/>
          <p:nvPr/>
        </p:nvSpPr>
        <p:spPr>
          <a:xfrm>
            <a:off x="6675120" y="4160520"/>
            <a:ext cx="4937760" cy="2011680"/>
          </a:xfrm>
          <a:prstGeom prst="roundRect">
            <a:avLst>
              <a:gd name="adj" fmla="val 5455"/>
            </a:avLst>
          </a:prstGeom>
          <a:solidFill>
            <a:schemeClr val="bg1">
              <a:lumMod val="75000"/>
            </a:schemeClr>
          </a:solidFill>
        </p:spPr>
      </p:sp>
      <p:sp>
        <p:nvSpPr>
          <p:cNvPr id="25" name="Text 23"/>
          <p:cNvSpPr txBox="1"/>
          <p:nvPr/>
        </p:nvSpPr>
        <p:spPr>
          <a:xfrm>
            <a:off x="6903720" y="4297680"/>
            <a:ext cx="4572000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How POOLMATE differs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6903720" y="4709160"/>
            <a:ext cx="4480560" cy="1371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bg1"/>
                </a:solidFill>
              </a:rPr>
              <a:t>Peer-to-peer four-wheeler sharing with one integrated flow: publish → search → request → accept/decline → notify.</a:t>
            </a:r>
            <a:endParaRPr lang="en-US" sz="1500" dirty="0"/>
          </a:p>
        </p:txBody>
      </p:sp>
      <p:sp>
        <p:nvSpPr>
          <p:cNvPr id="2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98480" y="6446520"/>
            <a:ext cx="914400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548640" y="274320"/>
            <a:ext cx="1106424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Proposed System</a:t>
            </a:r>
            <a:endParaRPr lang="en-US" sz="3200" dirty="0"/>
          </a:p>
        </p:txBody>
      </p:sp>
      <p:sp>
        <p:nvSpPr>
          <p:cNvPr id="3" name="feature Ride publishing"/>
          <p:cNvSpPr/>
          <p:nvPr>
            <p:custDataLst>
              <p:tags r:id="rId1"/>
            </p:custDataLst>
          </p:nvPr>
        </p:nvSpPr>
        <p:spPr>
          <a:xfrm>
            <a:off x="548640" y="1280160"/>
            <a:ext cx="3566160" cy="1645920"/>
          </a:xfrm>
          <a:prstGeom prst="roundRect">
            <a:avLst>
              <a:gd name="adj" fmla="val 6667"/>
            </a:avLst>
          </a:prstGeom>
          <a:solidFill>
            <a:schemeClr val="bg2"/>
          </a:solidFill>
        </p:spPr>
      </p:sp>
      <p:sp>
        <p:nvSpPr>
          <p:cNvPr id="4" name="Ride publishing icon bg"/>
          <p:cNvSpPr/>
          <p:nvPr>
            <p:custDataLst>
              <p:tags r:id="rId2"/>
            </p:custDataLst>
          </p:nvPr>
        </p:nvSpPr>
        <p:spPr>
          <a:xfrm>
            <a:off x="731520" y="1463040"/>
            <a:ext cx="594360" cy="594360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</p:sp>
      <p:pic>
        <p:nvPicPr>
          <p:cNvPr id="5" name="Image 0" descr="Ride publishing icon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891997" y="1623517"/>
            <a:ext cx="273406" cy="273406"/>
          </a:xfrm>
          <a:prstGeom prst="rect">
            <a:avLst/>
          </a:prstGeom>
        </p:spPr>
      </p:pic>
      <p:sp>
        <p:nvSpPr>
          <p:cNvPr id="6" name="Text 3"/>
          <p:cNvSpPr txBox="1"/>
          <p:nvPr>
            <p:custDataLst>
              <p:tags r:id="rId5"/>
            </p:custDataLst>
          </p:nvPr>
        </p:nvSpPr>
        <p:spPr>
          <a:xfrm>
            <a:off x="1508760" y="1536192"/>
            <a:ext cx="24688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Ride publishing</a:t>
            </a:r>
            <a:endParaRPr lang="en-US" sz="1600" dirty="0"/>
          </a:p>
        </p:txBody>
      </p:sp>
      <p:sp>
        <p:nvSpPr>
          <p:cNvPr id="7" name="Text 4"/>
          <p:cNvSpPr txBox="1"/>
          <p:nvPr>
            <p:custDataLst>
              <p:tags r:id="rId6"/>
            </p:custDataLst>
          </p:nvPr>
        </p:nvSpPr>
        <p:spPr>
          <a:xfrm>
            <a:off x="777240" y="2194560"/>
            <a:ext cx="3154680" cy="685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Origin, destination, time of leave and available seats.</a:t>
            </a:r>
            <a:endParaRPr lang="en-US" sz="1400" dirty="0"/>
          </a:p>
        </p:txBody>
      </p:sp>
      <p:sp>
        <p:nvSpPr>
          <p:cNvPr id="8" name="feature Ride searching"/>
          <p:cNvSpPr/>
          <p:nvPr>
            <p:custDataLst>
              <p:tags r:id="rId7"/>
            </p:custDataLst>
          </p:nvPr>
        </p:nvSpPr>
        <p:spPr>
          <a:xfrm>
            <a:off x="4297680" y="1280160"/>
            <a:ext cx="3566160" cy="1645920"/>
          </a:xfrm>
          <a:prstGeom prst="roundRect">
            <a:avLst>
              <a:gd name="adj" fmla="val 6667"/>
            </a:avLst>
          </a:prstGeom>
          <a:solidFill>
            <a:schemeClr val="bg2"/>
          </a:solidFill>
        </p:spPr>
      </p:sp>
      <p:sp>
        <p:nvSpPr>
          <p:cNvPr id="9" name="Ride searching icon bg"/>
          <p:cNvSpPr/>
          <p:nvPr>
            <p:custDataLst>
              <p:tags r:id="rId8"/>
            </p:custDataLst>
          </p:nvPr>
        </p:nvSpPr>
        <p:spPr>
          <a:xfrm>
            <a:off x="4480560" y="1463040"/>
            <a:ext cx="594360" cy="594360"/>
          </a:xfrm>
          <a:prstGeom prst="ellipse">
            <a:avLst/>
          </a:prstGeom>
          <a:solidFill>
            <a:schemeClr val="bg1">
              <a:lumMod val="75000"/>
            </a:schemeClr>
          </a:solidFill>
        </p:spPr>
      </p:sp>
      <p:pic>
        <p:nvPicPr>
          <p:cNvPr id="10" name="Image 1" descr="Ride searching icon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4641037" y="1623517"/>
            <a:ext cx="273406" cy="273406"/>
          </a:xfrm>
          <a:prstGeom prst="rect">
            <a:avLst/>
          </a:prstGeom>
        </p:spPr>
      </p:pic>
      <p:sp>
        <p:nvSpPr>
          <p:cNvPr id="11" name="Text 7"/>
          <p:cNvSpPr txBox="1"/>
          <p:nvPr>
            <p:custDataLst>
              <p:tags r:id="rId11"/>
            </p:custDataLst>
          </p:nvPr>
        </p:nvSpPr>
        <p:spPr>
          <a:xfrm>
            <a:off x="5257800" y="1536192"/>
            <a:ext cx="24688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Ride searching</a:t>
            </a:r>
            <a:endParaRPr lang="en-US" sz="1600" dirty="0"/>
          </a:p>
        </p:txBody>
      </p:sp>
      <p:sp>
        <p:nvSpPr>
          <p:cNvPr id="12" name="Text 8"/>
          <p:cNvSpPr txBox="1"/>
          <p:nvPr>
            <p:custDataLst>
              <p:tags r:id="rId12"/>
            </p:custDataLst>
          </p:nvPr>
        </p:nvSpPr>
        <p:spPr>
          <a:xfrm>
            <a:off x="4526280" y="2194560"/>
            <a:ext cx="3154680" cy="685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Search published rides by origin and destination.</a:t>
            </a:r>
            <a:endParaRPr lang="en-US" sz="1400" dirty="0"/>
          </a:p>
        </p:txBody>
      </p:sp>
      <p:sp>
        <p:nvSpPr>
          <p:cNvPr id="13" name="feature Ride requests"/>
          <p:cNvSpPr/>
          <p:nvPr>
            <p:custDataLst>
              <p:tags r:id="rId13"/>
            </p:custDataLst>
          </p:nvPr>
        </p:nvSpPr>
        <p:spPr>
          <a:xfrm>
            <a:off x="8046720" y="1280160"/>
            <a:ext cx="3566160" cy="1645920"/>
          </a:xfrm>
          <a:prstGeom prst="roundRect">
            <a:avLst>
              <a:gd name="adj" fmla="val 6667"/>
            </a:avLst>
          </a:prstGeom>
          <a:solidFill>
            <a:schemeClr val="bg2"/>
          </a:solidFill>
        </p:spPr>
      </p:sp>
      <p:sp>
        <p:nvSpPr>
          <p:cNvPr id="14" name="Ride requests icon bg"/>
          <p:cNvSpPr/>
          <p:nvPr>
            <p:custDataLst>
              <p:tags r:id="rId14"/>
            </p:custDataLst>
          </p:nvPr>
        </p:nvSpPr>
        <p:spPr>
          <a:xfrm>
            <a:off x="8229600" y="1463040"/>
            <a:ext cx="594360" cy="594360"/>
          </a:xfrm>
          <a:prstGeom prst="ellipse">
            <a:avLst/>
          </a:prstGeom>
          <a:solidFill>
            <a:schemeClr val="bg1">
              <a:lumMod val="75000"/>
            </a:schemeClr>
          </a:solidFill>
        </p:spPr>
      </p:sp>
      <p:pic>
        <p:nvPicPr>
          <p:cNvPr id="15" name="Image 2" descr="Ride requests icon"/>
          <p:cNvPicPr>
            <a:picLocks noChangeAspect="1"/>
          </p:cNvPicPr>
          <p:nvPr>
            <p:custDataLst>
              <p:tags r:id="rId15"/>
            </p:custDataLst>
          </p:nvPr>
        </p:nvPicPr>
        <p:blipFill>
          <a:blip r:embed="rId16"/>
          <a:stretch>
            <a:fillRect/>
          </a:stretch>
        </p:blipFill>
        <p:spPr>
          <a:xfrm>
            <a:off x="8390077" y="1623517"/>
            <a:ext cx="273406" cy="273406"/>
          </a:xfrm>
          <a:prstGeom prst="rect">
            <a:avLst/>
          </a:prstGeom>
        </p:spPr>
      </p:pic>
      <p:sp>
        <p:nvSpPr>
          <p:cNvPr id="16" name="Text 11"/>
          <p:cNvSpPr txBox="1"/>
          <p:nvPr>
            <p:custDataLst>
              <p:tags r:id="rId17"/>
            </p:custDataLst>
          </p:nvPr>
        </p:nvSpPr>
        <p:spPr>
          <a:xfrm>
            <a:off x="9006840" y="1536192"/>
            <a:ext cx="24688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Ride requests</a:t>
            </a:r>
            <a:endParaRPr lang="en-US" sz="1600" dirty="0"/>
          </a:p>
        </p:txBody>
      </p:sp>
      <p:sp>
        <p:nvSpPr>
          <p:cNvPr id="17" name="Text 12"/>
          <p:cNvSpPr txBox="1"/>
          <p:nvPr>
            <p:custDataLst>
              <p:tags r:id="rId18"/>
            </p:custDataLst>
          </p:nvPr>
        </p:nvSpPr>
        <p:spPr>
          <a:xfrm>
            <a:off x="8275320" y="2194560"/>
            <a:ext cx="3154680" cy="685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Seekers send requests; publishers accept or decline.</a:t>
            </a:r>
            <a:endParaRPr lang="en-US" sz="1400" dirty="0"/>
          </a:p>
        </p:txBody>
      </p:sp>
      <p:sp>
        <p:nvSpPr>
          <p:cNvPr id="18" name="feature Notifications"/>
          <p:cNvSpPr/>
          <p:nvPr>
            <p:custDataLst>
              <p:tags r:id="rId19"/>
            </p:custDataLst>
          </p:nvPr>
        </p:nvSpPr>
        <p:spPr>
          <a:xfrm>
            <a:off x="548640" y="3063240"/>
            <a:ext cx="3566160" cy="1645920"/>
          </a:xfrm>
          <a:prstGeom prst="roundRect">
            <a:avLst>
              <a:gd name="adj" fmla="val 6667"/>
            </a:avLst>
          </a:prstGeom>
          <a:solidFill>
            <a:schemeClr val="bg2"/>
          </a:solidFill>
        </p:spPr>
      </p:sp>
      <p:sp>
        <p:nvSpPr>
          <p:cNvPr id="19" name="Notifications icon bg"/>
          <p:cNvSpPr/>
          <p:nvPr>
            <p:custDataLst>
              <p:tags r:id="rId20"/>
            </p:custDataLst>
          </p:nvPr>
        </p:nvSpPr>
        <p:spPr>
          <a:xfrm>
            <a:off x="731520" y="3246120"/>
            <a:ext cx="594360" cy="594360"/>
          </a:xfrm>
          <a:prstGeom prst="ellipse">
            <a:avLst/>
          </a:prstGeom>
          <a:solidFill>
            <a:schemeClr val="bg1">
              <a:lumMod val="75000"/>
            </a:schemeClr>
          </a:solidFill>
        </p:spPr>
      </p:sp>
      <p:pic>
        <p:nvPicPr>
          <p:cNvPr id="20" name="Image 3" descr="Notifications icon"/>
          <p:cNvPicPr>
            <a:picLocks noChangeAspect="1"/>
          </p:cNvPicPr>
          <p:nvPr>
            <p:custDataLst>
              <p:tags r:id="rId21"/>
            </p:custDataLst>
          </p:nvPr>
        </p:nvPicPr>
        <p:blipFill>
          <a:blip r:embed="rId22"/>
          <a:stretch>
            <a:fillRect/>
          </a:stretch>
        </p:blipFill>
        <p:spPr>
          <a:xfrm>
            <a:off x="891997" y="3406597"/>
            <a:ext cx="273406" cy="273406"/>
          </a:xfrm>
          <a:prstGeom prst="rect">
            <a:avLst/>
          </a:prstGeom>
        </p:spPr>
      </p:pic>
      <p:sp>
        <p:nvSpPr>
          <p:cNvPr id="21" name="Text 15"/>
          <p:cNvSpPr txBox="1"/>
          <p:nvPr>
            <p:custDataLst>
              <p:tags r:id="rId23"/>
            </p:custDataLst>
          </p:nvPr>
        </p:nvSpPr>
        <p:spPr>
          <a:xfrm>
            <a:off x="1508760" y="3319272"/>
            <a:ext cx="24688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Notifications</a:t>
            </a:r>
            <a:endParaRPr lang="en-US" sz="1600" dirty="0"/>
          </a:p>
        </p:txBody>
      </p:sp>
      <p:sp>
        <p:nvSpPr>
          <p:cNvPr id="22" name="Text 16"/>
          <p:cNvSpPr txBox="1"/>
          <p:nvPr>
            <p:custDataLst>
              <p:tags r:id="rId24"/>
            </p:custDataLst>
          </p:nvPr>
        </p:nvSpPr>
        <p:spPr>
          <a:xfrm>
            <a:off x="777240" y="3977640"/>
            <a:ext cx="3154680" cy="685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Publishers and seekers are notified of requests and decisions.</a:t>
            </a:r>
            <a:endParaRPr lang="en-US" sz="1400" dirty="0"/>
          </a:p>
        </p:txBody>
      </p:sp>
      <p:sp>
        <p:nvSpPr>
          <p:cNvPr id="23" name="feature Profiles and reviews"/>
          <p:cNvSpPr/>
          <p:nvPr>
            <p:custDataLst>
              <p:tags r:id="rId25"/>
            </p:custDataLst>
          </p:nvPr>
        </p:nvSpPr>
        <p:spPr>
          <a:xfrm>
            <a:off x="4297680" y="3063240"/>
            <a:ext cx="3566160" cy="1645920"/>
          </a:xfrm>
          <a:prstGeom prst="roundRect">
            <a:avLst>
              <a:gd name="adj" fmla="val 6667"/>
            </a:avLst>
          </a:prstGeom>
          <a:solidFill>
            <a:schemeClr val="bg2"/>
          </a:solidFill>
        </p:spPr>
      </p:sp>
      <p:sp>
        <p:nvSpPr>
          <p:cNvPr id="24" name="Profiles and reviews icon bg"/>
          <p:cNvSpPr/>
          <p:nvPr>
            <p:custDataLst>
              <p:tags r:id="rId26"/>
            </p:custDataLst>
          </p:nvPr>
        </p:nvSpPr>
        <p:spPr>
          <a:xfrm>
            <a:off x="4480560" y="3246120"/>
            <a:ext cx="594360" cy="594360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</p:sp>
      <p:pic>
        <p:nvPicPr>
          <p:cNvPr id="25" name="Image 4" descr="Profiles and reviews icon"/>
          <p:cNvPicPr>
            <a:picLocks noChangeAspect="1"/>
          </p:cNvPicPr>
          <p:nvPr>
            <p:custDataLst>
              <p:tags r:id="rId27"/>
            </p:custDataLst>
          </p:nvPr>
        </p:nvPicPr>
        <p:blipFill>
          <a:blip r:embed="rId28"/>
          <a:stretch>
            <a:fillRect/>
          </a:stretch>
        </p:blipFill>
        <p:spPr>
          <a:xfrm>
            <a:off x="4641037" y="3406597"/>
            <a:ext cx="273406" cy="273406"/>
          </a:xfrm>
          <a:prstGeom prst="rect">
            <a:avLst/>
          </a:prstGeom>
        </p:spPr>
      </p:pic>
      <p:sp>
        <p:nvSpPr>
          <p:cNvPr id="26" name="Text 19"/>
          <p:cNvSpPr txBox="1"/>
          <p:nvPr>
            <p:custDataLst>
              <p:tags r:id="rId29"/>
            </p:custDataLst>
          </p:nvPr>
        </p:nvSpPr>
        <p:spPr>
          <a:xfrm>
            <a:off x="5257800" y="3319272"/>
            <a:ext cx="24688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Profiles and reviews</a:t>
            </a:r>
            <a:endParaRPr lang="en-US" sz="1600" dirty="0"/>
          </a:p>
        </p:txBody>
      </p:sp>
      <p:sp>
        <p:nvSpPr>
          <p:cNvPr id="27" name="Text 20"/>
          <p:cNvSpPr txBox="1"/>
          <p:nvPr>
            <p:custDataLst>
              <p:tags r:id="rId30"/>
            </p:custDataLst>
          </p:nvPr>
        </p:nvSpPr>
        <p:spPr>
          <a:xfrm>
            <a:off x="4526280" y="3977640"/>
            <a:ext cx="3154680" cy="685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Profile with preferences; reviews to build trust.</a:t>
            </a:r>
            <a:endParaRPr lang="en-US" sz="1400" dirty="0"/>
          </a:p>
        </p:txBody>
      </p:sp>
      <p:sp>
        <p:nvSpPr>
          <p:cNvPr id="28" name="feature Payments"/>
          <p:cNvSpPr/>
          <p:nvPr>
            <p:custDataLst>
              <p:tags r:id="rId31"/>
            </p:custDataLst>
          </p:nvPr>
        </p:nvSpPr>
        <p:spPr>
          <a:xfrm>
            <a:off x="8046720" y="3063240"/>
            <a:ext cx="3566160" cy="1645920"/>
          </a:xfrm>
          <a:prstGeom prst="roundRect">
            <a:avLst>
              <a:gd name="adj" fmla="val 6667"/>
            </a:avLst>
          </a:prstGeom>
          <a:solidFill>
            <a:schemeClr val="bg2"/>
          </a:solidFill>
        </p:spPr>
      </p:sp>
      <p:sp>
        <p:nvSpPr>
          <p:cNvPr id="29" name="Payments icon bg"/>
          <p:cNvSpPr/>
          <p:nvPr>
            <p:custDataLst>
              <p:tags r:id="rId32"/>
            </p:custDataLst>
          </p:nvPr>
        </p:nvSpPr>
        <p:spPr>
          <a:xfrm>
            <a:off x="8229600" y="3246120"/>
            <a:ext cx="594360" cy="594360"/>
          </a:xfrm>
          <a:prstGeom prst="ellipse">
            <a:avLst/>
          </a:prstGeom>
          <a:solidFill>
            <a:schemeClr val="bg1">
              <a:lumMod val="75000"/>
            </a:schemeClr>
          </a:solidFill>
        </p:spPr>
      </p:sp>
      <p:pic>
        <p:nvPicPr>
          <p:cNvPr id="30" name="Image 5" descr="Payments icon"/>
          <p:cNvPicPr>
            <a:picLocks noChangeAspect="1"/>
          </p:cNvPicPr>
          <p:nvPr>
            <p:custDataLst>
              <p:tags r:id="rId33"/>
            </p:custDataLst>
          </p:nvPr>
        </p:nvPicPr>
        <p:blipFill>
          <a:blip r:embed="rId34"/>
          <a:stretch>
            <a:fillRect/>
          </a:stretch>
        </p:blipFill>
        <p:spPr>
          <a:xfrm>
            <a:off x="8390077" y="3406597"/>
            <a:ext cx="273406" cy="273406"/>
          </a:xfrm>
          <a:prstGeom prst="rect">
            <a:avLst/>
          </a:prstGeom>
        </p:spPr>
      </p:pic>
      <p:sp>
        <p:nvSpPr>
          <p:cNvPr id="31" name="Text 23"/>
          <p:cNvSpPr txBox="1"/>
          <p:nvPr>
            <p:custDataLst>
              <p:tags r:id="rId35"/>
            </p:custDataLst>
          </p:nvPr>
        </p:nvSpPr>
        <p:spPr>
          <a:xfrm>
            <a:off x="9006840" y="3319272"/>
            <a:ext cx="24688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Payments</a:t>
            </a:r>
            <a:endParaRPr lang="en-US" sz="1600" dirty="0"/>
          </a:p>
        </p:txBody>
      </p:sp>
      <p:sp>
        <p:nvSpPr>
          <p:cNvPr id="32" name="Text 24"/>
          <p:cNvSpPr txBox="1"/>
          <p:nvPr>
            <p:custDataLst>
              <p:tags r:id="rId36"/>
            </p:custDataLst>
          </p:nvPr>
        </p:nvSpPr>
        <p:spPr>
          <a:xfrm>
            <a:off x="8275320" y="3977640"/>
            <a:ext cx="3154680" cy="685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Payment functionality for booked rides.</a:t>
            </a:r>
            <a:endParaRPr lang="en-US" sz="1400" dirty="0"/>
          </a:p>
        </p:txBody>
      </p:sp>
      <p:sp>
        <p:nvSpPr>
          <p:cNvPr id="33" name="improvements"/>
          <p:cNvSpPr/>
          <p:nvPr/>
        </p:nvSpPr>
        <p:spPr>
          <a:xfrm>
            <a:off x="548640" y="4937760"/>
            <a:ext cx="11064240" cy="1234440"/>
          </a:xfrm>
          <a:prstGeom prst="roundRect">
            <a:avLst>
              <a:gd name="adj" fmla="val 8889"/>
            </a:avLst>
          </a:prstGeom>
          <a:solidFill>
            <a:schemeClr val="bg1">
              <a:lumMod val="85000"/>
            </a:schemeClr>
          </a:solidFill>
        </p:spPr>
        <p:txBody>
          <a:bodyPr/>
          <a:p>
            <a:endParaRPr lang="en-GB" altLang="en-US"/>
          </a:p>
        </p:txBody>
      </p:sp>
      <p:sp>
        <p:nvSpPr>
          <p:cNvPr id="34" name="Text 26"/>
          <p:cNvSpPr txBox="1"/>
          <p:nvPr/>
        </p:nvSpPr>
        <p:spPr>
          <a:xfrm>
            <a:off x="777240" y="504748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chemeClr val="accent2"/>
                </a:solidFill>
              </a:rPr>
              <a:t>IMPROVEMENTS OVER EXISTING APPS</a:t>
            </a:r>
            <a:endParaRPr lang="en-US" sz="1300" dirty="0"/>
          </a:p>
        </p:txBody>
      </p:sp>
      <p:sp>
        <p:nvSpPr>
          <p:cNvPr id="35" name="Text 27"/>
          <p:cNvSpPr txBox="1"/>
          <p:nvPr/>
        </p:nvSpPr>
        <p:spPr>
          <a:xfrm>
            <a:off x="777240" y="5440680"/>
            <a:ext cx="3383280" cy="640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</a:rPr>
              <a:t>Integrated request–notify–accept/decline workflow</a:t>
            </a:r>
            <a:endParaRPr lang="en-US" sz="1400" dirty="0"/>
          </a:p>
        </p:txBody>
      </p:sp>
      <p:sp>
        <p:nvSpPr>
          <p:cNvPr id="36" name="Text 28"/>
          <p:cNvSpPr txBox="1"/>
          <p:nvPr/>
        </p:nvSpPr>
        <p:spPr>
          <a:xfrm>
            <a:off x="4434840" y="5440680"/>
            <a:ext cx="3383280" cy="640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</a:rPr>
              <a:t>Unified profile and review system</a:t>
            </a:r>
            <a:endParaRPr lang="en-US" sz="1400" dirty="0"/>
          </a:p>
        </p:txBody>
      </p:sp>
      <p:sp>
        <p:nvSpPr>
          <p:cNvPr id="37" name="Text 29"/>
          <p:cNvSpPr txBox="1"/>
          <p:nvPr/>
        </p:nvSpPr>
        <p:spPr>
          <a:xfrm>
            <a:off x="8092440" y="5440680"/>
            <a:ext cx="3383280" cy="640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</a:rPr>
              <a:t>Simple publish-and-search in one platform</a:t>
            </a:r>
            <a:endParaRPr lang="en-US" sz="1400" dirty="0"/>
          </a:p>
        </p:txBody>
      </p:sp>
      <p:sp>
        <p:nvSpPr>
          <p:cNvPr id="3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98480" y="6446520"/>
            <a:ext cx="914400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548640" y="274320"/>
            <a:ext cx="1106424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Scope of the Project</a:t>
            </a:r>
            <a:endParaRPr lang="en-US" sz="3200" dirty="0"/>
          </a:p>
        </p:txBody>
      </p:sp>
      <p:sp>
        <p:nvSpPr>
          <p:cNvPr id="3" name="scope users"/>
          <p:cNvSpPr/>
          <p:nvPr/>
        </p:nvSpPr>
        <p:spPr>
          <a:xfrm>
            <a:off x="548640" y="1280160"/>
            <a:ext cx="3566160" cy="4114800"/>
          </a:xfrm>
          <a:prstGeom prst="roundRect">
            <a:avLst>
              <a:gd name="adj" fmla="val 3077"/>
            </a:avLst>
          </a:prstGeom>
          <a:solidFill>
            <a:schemeClr val="bg2"/>
          </a:solidFill>
        </p:spPr>
      </p:sp>
      <p:sp>
        <p:nvSpPr>
          <p:cNvPr id="4" name="Text 2"/>
          <p:cNvSpPr txBox="1"/>
          <p:nvPr/>
        </p:nvSpPr>
        <p:spPr>
          <a:xfrm>
            <a:off x="777240" y="1417320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Target users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920240"/>
            <a:ext cx="3108960" cy="33832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Individuals travelling by four-wheeler, daily or occasionally</a:t>
            </a:r>
            <a:endParaRPr lang="en-US" sz="16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Registered users who publish and/or search for rides</a:t>
            </a:r>
            <a:endParaRPr lang="en-US" sz="16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Administrators managing users and reviews</a:t>
            </a:r>
            <a:endParaRPr lang="en-US" sz="16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Application area: road travel sharing</a:t>
            </a:r>
            <a:endParaRPr lang="en-US" sz="1600" dirty="0"/>
          </a:p>
        </p:txBody>
      </p:sp>
      <p:sp>
        <p:nvSpPr>
          <p:cNvPr id="6" name="scope included"/>
          <p:cNvSpPr/>
          <p:nvPr/>
        </p:nvSpPr>
        <p:spPr>
          <a:xfrm>
            <a:off x="4251960" y="1280160"/>
            <a:ext cx="3931920" cy="4114800"/>
          </a:xfrm>
          <a:prstGeom prst="roundRect">
            <a:avLst>
              <a:gd name="adj" fmla="val 2791"/>
            </a:avLst>
          </a:prstGeom>
          <a:solidFill>
            <a:schemeClr val="bg2"/>
          </a:solidFill>
        </p:spPr>
      </p:sp>
      <p:sp>
        <p:nvSpPr>
          <p:cNvPr id="7" name="Text 5"/>
          <p:cNvSpPr txBox="1"/>
          <p:nvPr/>
        </p:nvSpPr>
        <p:spPr>
          <a:xfrm>
            <a:off x="4480560" y="1417320"/>
            <a:ext cx="347472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Included in the project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4480560" y="1920240"/>
            <a:ext cx="3474720" cy="33832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Registration, login, profile and preferences</a:t>
            </a:r>
            <a:endParaRPr lang="en-US" sz="16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Ride publishing and searching (four-wheeler only)</a:t>
            </a:r>
            <a:endParaRPr lang="en-US" sz="16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Ride requests, notifications, accept/decline</a:t>
            </a:r>
            <a:endParaRPr lang="en-US" sz="16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Reviews for rides and users</a:t>
            </a:r>
            <a:endParaRPr lang="en-US" sz="16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Payment for booked rides</a:t>
            </a:r>
            <a:endParaRPr lang="en-US" sz="16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Admin module for users and reviews</a:t>
            </a:r>
            <a:endParaRPr lang="en-US" sz="1600" dirty="0"/>
          </a:p>
        </p:txBody>
      </p:sp>
      <p:sp>
        <p:nvSpPr>
          <p:cNvPr id="9" name="scope future"/>
          <p:cNvSpPr/>
          <p:nvPr/>
        </p:nvSpPr>
        <p:spPr>
          <a:xfrm>
            <a:off x="8321040" y="1280160"/>
            <a:ext cx="3291840" cy="4114800"/>
          </a:xfrm>
          <a:prstGeom prst="roundRect">
            <a:avLst>
              <a:gd name="adj" fmla="val 3333"/>
            </a:avLst>
          </a:prstGeom>
          <a:solidFill>
            <a:schemeClr val="bg1"/>
          </a:solidFill>
        </p:spPr>
      </p:sp>
      <p:sp>
        <p:nvSpPr>
          <p:cNvPr id="10" name="scope future outline"/>
          <p:cNvSpPr/>
          <p:nvPr/>
        </p:nvSpPr>
        <p:spPr>
          <a:xfrm>
            <a:off x="8321040" y="1280160"/>
            <a:ext cx="3291840" cy="4114800"/>
          </a:xfrm>
          <a:prstGeom prst="roundRect">
            <a:avLst>
              <a:gd name="adj" fmla="val 3333"/>
            </a:avLst>
          </a:prstGeom>
          <a:ln w="12700" cmpd="sng">
            <a:solidFill>
              <a:schemeClr val="accent1">
                <a:shade val="50000"/>
              </a:schemeClr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549640" y="1417320"/>
            <a:ext cx="283464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Possible future work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8549640" y="1828800"/>
            <a:ext cx="1737360" cy="274320"/>
          </a:xfrm>
          <a:prstGeom prst="roundRect">
            <a:avLst>
              <a:gd name="adj" fmla="val 26667"/>
            </a:avLst>
          </a:prstGeom>
          <a:noFill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tx2"/>
                </a:solidFill>
              </a:rPr>
              <a:t>NOT IMPLEMENTED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8549640" y="2286000"/>
            <a:ext cx="2834640" cy="2926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Maps / GPS integration</a:t>
            </a:r>
            <a:endParaRPr lang="en-US" sz="16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Real-time tracking</a:t>
            </a:r>
            <a:endParaRPr lang="en-US" sz="16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Mobile application</a:t>
            </a:r>
            <a:endParaRPr lang="en-US" sz="16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Verified identities</a:t>
            </a:r>
            <a:endParaRPr lang="en-US" sz="1600" dirty="0"/>
          </a:p>
        </p:txBody>
      </p:sp>
      <p:sp>
        <p:nvSpPr>
          <p:cNvPr id="14" name="scope note"/>
          <p:cNvSpPr/>
          <p:nvPr/>
        </p:nvSpPr>
        <p:spPr>
          <a:xfrm>
            <a:off x="548640" y="5532120"/>
            <a:ext cx="11064240" cy="640080"/>
          </a:xfrm>
          <a:prstGeom prst="roundRect">
            <a:avLst>
              <a:gd name="adj" fmla="val 17143"/>
            </a:avLst>
          </a:prstGeom>
          <a:solidFill>
            <a:schemeClr val="bg1">
              <a:lumMod val="75000"/>
            </a:schemeClr>
          </a:solidFill>
        </p:spPr>
      </p:sp>
      <p:sp>
        <p:nvSpPr>
          <p:cNvPr id="15" name="Text 13"/>
          <p:cNvSpPr txBox="1"/>
          <p:nvPr/>
        </p:nvSpPr>
        <p:spPr>
          <a:xfrm>
            <a:off x="777240" y="5532120"/>
            <a:ext cx="106070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Single-user model: the same user can both publish and search for rides (no separate driver / passenger roles).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98480" y="6446520"/>
            <a:ext cx="914400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548640" y="274320"/>
            <a:ext cx="1106424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Literature Review</a:t>
            </a:r>
            <a:endParaRPr lang="en-US" sz="3200" dirty="0"/>
          </a:p>
        </p:txBody>
      </p:sp>
      <p:graphicFrame>
        <p:nvGraphicFramePr>
          <p:cNvPr id="10" name="literature table"/>
          <p:cNvGraphicFramePr>
            <a:graphicFrameLocks noGrp="1"/>
          </p:cNvGraphicFramePr>
          <p:nvPr/>
        </p:nvGraphicFramePr>
        <p:xfrm>
          <a:off x="548640" y="1280160"/>
          <a:ext cx="11064240" cy="4480560"/>
        </p:xfrm>
        <a:graphic>
          <a:graphicData uri="http://schemas.openxmlformats.org/drawingml/2006/table">
            <a:tbl>
              <a:tblPr/>
              <a:tblGrid>
                <a:gridCol w="2468880"/>
                <a:gridCol w="1737360"/>
                <a:gridCol w="1737360"/>
                <a:gridCol w="2011680"/>
                <a:gridCol w="1554480"/>
                <a:gridCol w="1554480"/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Title &amp; Year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Author &amp; Publication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Algorithm Used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Features / Methodology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Performance Metric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Result / Findings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8046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Ride-Sharing Matching Under Travel Time Uncertainty (2022)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Xiaoming Li et al., IEEE Access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GRU + Robust Optimization + LS-SA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Travel-time prediction, ride matching, uncertainty handling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Matching rate, violation rate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Reduced violations; improved ride matching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8046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QE-Ride (2024)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[Authors – verify], IEEE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ML + Multi-objective Optimization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QoE-based ride recommendation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Accuracy, user satisfaction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Better passenger experience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8046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i-CAP Intelligent Carpooling (2023)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[Authors – verify], IEEE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Dynamic Ride Matching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Real-time matching and route optimization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Matching success rate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Reduced travel time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8046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ML-based Ride Recommendation (2024)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[Authors – verify], Springer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ML + Route Optimization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Preference analysis and recommendation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Accuracy, precision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Improved recommendation quality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8046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POOLMATE (2025) – present work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Project work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Django-based ride matching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Ride publishing, booking, authentication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Response time [not measured]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Centralized carpool web platform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98480" y="6446520"/>
            <a:ext cx="914400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548640" y="274320"/>
            <a:ext cx="1106424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Technologies Used</a:t>
            </a:r>
            <a:endParaRPr lang="en-US" sz="3200" dirty="0"/>
          </a:p>
        </p:txBody>
      </p:sp>
      <p:sp>
        <p:nvSpPr>
          <p:cNvPr id="3" name="tech Frontend"/>
          <p:cNvSpPr/>
          <p:nvPr/>
        </p:nvSpPr>
        <p:spPr>
          <a:xfrm>
            <a:off x="548640" y="1280160"/>
            <a:ext cx="2148840" cy="3931920"/>
          </a:xfrm>
          <a:prstGeom prst="roundRect">
            <a:avLst>
              <a:gd name="adj" fmla="val 5106"/>
            </a:avLst>
          </a:prstGeom>
          <a:solidFill>
            <a:schemeClr val="bg2"/>
          </a:solidFill>
        </p:spPr>
      </p:sp>
      <p:sp>
        <p:nvSpPr>
          <p:cNvPr id="4" name="Frontend icon bg"/>
          <p:cNvSpPr/>
          <p:nvPr/>
        </p:nvSpPr>
        <p:spPr>
          <a:xfrm>
            <a:off x="1280160" y="1463040"/>
            <a:ext cx="685800" cy="685800"/>
          </a:xfrm>
          <a:prstGeom prst="ellipse">
            <a:avLst/>
          </a:prstGeom>
          <a:solidFill>
            <a:schemeClr val="accent1"/>
          </a:solidFill>
        </p:spPr>
      </p:sp>
      <p:pic>
        <p:nvPicPr>
          <p:cNvPr id="5" name="Image 0" descr="Frontend icon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65326" y="1648206"/>
            <a:ext cx="315468" cy="31546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40080" y="2286000"/>
            <a:ext cx="196596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700" b="1" dirty="0">
                <a:solidFill>
                  <a:schemeClr val="tx2"/>
                </a:solidFill>
              </a:rPr>
              <a:t>Frontend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2788920"/>
            <a:ext cx="1783080" cy="23774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chemeClr val="accent1"/>
                </a:solidFill>
              </a:rPr>
              <a:t>HTML5</a:t>
            </a:r>
            <a:endParaRPr lang="en-US" sz="1400" dirty="0"/>
          </a:p>
          <a:p>
            <a:pPr marL="0" indent="0" algn="l">
              <a:spcAft>
                <a:spcPts val="6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Page structure</a:t>
            </a:r>
            <a:endParaRPr lang="en-US" sz="1400" dirty="0"/>
          </a:p>
          <a:p>
            <a:pPr marL="0" indent="0" algn="l">
              <a:buNone/>
            </a:pPr>
            <a:r>
              <a:rPr lang="en-US" sz="1500" b="1" dirty="0">
                <a:solidFill>
                  <a:schemeClr val="accent1"/>
                </a:solidFill>
              </a:rPr>
              <a:t>CSS3</a:t>
            </a:r>
            <a:endParaRPr lang="en-US" sz="1400" dirty="0"/>
          </a:p>
          <a:p>
            <a:pPr marL="0" indent="0" algn="l">
              <a:spcAft>
                <a:spcPts val="6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Styling and layout</a:t>
            </a:r>
            <a:endParaRPr lang="en-US" sz="1400" dirty="0"/>
          </a:p>
          <a:p>
            <a:pPr marL="0" indent="0" algn="l">
              <a:buNone/>
            </a:pPr>
            <a:r>
              <a:rPr lang="en-US" sz="1500" b="1" dirty="0">
                <a:solidFill>
                  <a:schemeClr val="accent1"/>
                </a:solidFill>
              </a:rPr>
              <a:t>JavaScript</a:t>
            </a:r>
            <a:endParaRPr lang="en-US" sz="1400" dirty="0"/>
          </a:p>
          <a:p>
            <a:pPr marL="0" indent="0" algn="l">
              <a:spcAft>
                <a:spcPts val="6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Client-side behaviour</a:t>
            </a:r>
            <a:endParaRPr lang="en-US" sz="1400" dirty="0"/>
          </a:p>
          <a:p>
            <a:pPr marL="0" indent="0" algn="l">
              <a:buNone/>
            </a:pPr>
            <a:r>
              <a:rPr lang="en-US" sz="1500" b="1" dirty="0">
                <a:solidFill>
                  <a:schemeClr val="accent1"/>
                </a:solidFill>
              </a:rPr>
              <a:t>AJAX</a:t>
            </a:r>
            <a:endParaRPr lang="en-US" sz="1400" dirty="0"/>
          </a:p>
          <a:p>
            <a:pPr marL="0" indent="0" algn="l">
              <a:spcAft>
                <a:spcPts val="6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Updates without page reload</a:t>
            </a:r>
            <a:endParaRPr lang="en-US" sz="1400" dirty="0"/>
          </a:p>
        </p:txBody>
      </p:sp>
      <p:sp>
        <p:nvSpPr>
          <p:cNvPr id="8" name="tech Backend"/>
          <p:cNvSpPr/>
          <p:nvPr/>
        </p:nvSpPr>
        <p:spPr>
          <a:xfrm>
            <a:off x="2825496" y="1280160"/>
            <a:ext cx="2148840" cy="3931920"/>
          </a:xfrm>
          <a:prstGeom prst="roundRect">
            <a:avLst>
              <a:gd name="adj" fmla="val 5106"/>
            </a:avLst>
          </a:prstGeom>
          <a:solidFill>
            <a:schemeClr val="bg2"/>
          </a:solidFill>
        </p:spPr>
      </p:sp>
      <p:sp>
        <p:nvSpPr>
          <p:cNvPr id="9" name="Backend icon bg"/>
          <p:cNvSpPr/>
          <p:nvPr/>
        </p:nvSpPr>
        <p:spPr>
          <a:xfrm>
            <a:off x="3557016" y="1463040"/>
            <a:ext cx="685800" cy="685800"/>
          </a:xfrm>
          <a:prstGeom prst="ellipse">
            <a:avLst/>
          </a:prstGeom>
          <a:solidFill>
            <a:schemeClr val="accent1"/>
          </a:solidFill>
        </p:spPr>
      </p:sp>
      <p:pic>
        <p:nvPicPr>
          <p:cNvPr id="10" name="Image 1" descr="Backend ico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2182" y="1648206"/>
            <a:ext cx="315468" cy="31546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2916936" y="2286000"/>
            <a:ext cx="196596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700" b="1" dirty="0">
                <a:solidFill>
                  <a:schemeClr val="tx2"/>
                </a:solidFill>
              </a:rPr>
              <a:t>Backend</a:t>
            </a:r>
            <a:endParaRPr lang="en-US" sz="1700" dirty="0"/>
          </a:p>
        </p:txBody>
      </p:sp>
      <p:sp>
        <p:nvSpPr>
          <p:cNvPr id="12" name="Text 8"/>
          <p:cNvSpPr txBox="1"/>
          <p:nvPr/>
        </p:nvSpPr>
        <p:spPr>
          <a:xfrm>
            <a:off x="3008376" y="2788920"/>
            <a:ext cx="1783080" cy="23774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chemeClr val="accent1"/>
                </a:solidFill>
              </a:rPr>
              <a:t>Python</a:t>
            </a:r>
            <a:endParaRPr lang="en-US" sz="1400" dirty="0"/>
          </a:p>
          <a:p>
            <a:pPr marL="0" indent="0" algn="l">
              <a:spcAft>
                <a:spcPts val="6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Application logic</a:t>
            </a:r>
            <a:endParaRPr lang="en-US" sz="1400" dirty="0"/>
          </a:p>
          <a:p>
            <a:pPr marL="0" indent="0" algn="l">
              <a:buNone/>
            </a:pPr>
            <a:r>
              <a:rPr lang="en-US" sz="1500" b="1" dirty="0">
                <a:solidFill>
                  <a:schemeClr val="accent1"/>
                </a:solidFill>
              </a:rPr>
              <a:t>Django</a:t>
            </a:r>
            <a:endParaRPr lang="en-US" sz="1400" dirty="0"/>
          </a:p>
          <a:p>
            <a:pPr marL="0" indent="0" algn="l">
              <a:spcAft>
                <a:spcPts val="6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Web framework</a:t>
            </a:r>
            <a:endParaRPr lang="en-US" sz="1400" dirty="0"/>
          </a:p>
          <a:p>
            <a:pPr marL="0" indent="0" algn="l">
              <a:buNone/>
            </a:pPr>
            <a:r>
              <a:rPr lang="en-US" sz="1500" b="1" dirty="0">
                <a:solidFill>
                  <a:schemeClr val="accent1"/>
                </a:solidFill>
              </a:rPr>
              <a:t>Django ORM</a:t>
            </a:r>
            <a:endParaRPr lang="en-US" sz="1400" dirty="0"/>
          </a:p>
          <a:p>
            <a:pPr marL="0" indent="0" algn="l">
              <a:spcAft>
                <a:spcPts val="6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Database access</a:t>
            </a:r>
            <a:endParaRPr lang="en-US" sz="1400" dirty="0"/>
          </a:p>
        </p:txBody>
      </p:sp>
      <p:sp>
        <p:nvSpPr>
          <p:cNvPr id="13" name="tech Database"/>
          <p:cNvSpPr/>
          <p:nvPr/>
        </p:nvSpPr>
        <p:spPr>
          <a:xfrm>
            <a:off x="5102352" y="1280160"/>
            <a:ext cx="2148840" cy="3931920"/>
          </a:xfrm>
          <a:prstGeom prst="roundRect">
            <a:avLst>
              <a:gd name="adj" fmla="val 5106"/>
            </a:avLst>
          </a:prstGeom>
          <a:solidFill>
            <a:schemeClr val="bg2"/>
          </a:solidFill>
        </p:spPr>
      </p:sp>
      <p:sp>
        <p:nvSpPr>
          <p:cNvPr id="14" name="Database icon bg"/>
          <p:cNvSpPr/>
          <p:nvPr/>
        </p:nvSpPr>
        <p:spPr>
          <a:xfrm>
            <a:off x="5833872" y="1463040"/>
            <a:ext cx="685800" cy="685800"/>
          </a:xfrm>
          <a:prstGeom prst="ellipse">
            <a:avLst/>
          </a:prstGeom>
          <a:solidFill>
            <a:schemeClr val="accent1"/>
          </a:solidFill>
        </p:spPr>
      </p:sp>
      <p:pic>
        <p:nvPicPr>
          <p:cNvPr id="15" name="Image 2" descr="Database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9038" y="1648206"/>
            <a:ext cx="315468" cy="315468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5193792" y="2286000"/>
            <a:ext cx="196596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700" b="1" dirty="0">
                <a:solidFill>
                  <a:schemeClr val="tx2"/>
                </a:solidFill>
              </a:rPr>
              <a:t>Database</a:t>
            </a:r>
            <a:endParaRPr lang="en-US" sz="1700" dirty="0"/>
          </a:p>
        </p:txBody>
      </p:sp>
      <p:sp>
        <p:nvSpPr>
          <p:cNvPr id="17" name="Text 12"/>
          <p:cNvSpPr txBox="1"/>
          <p:nvPr/>
        </p:nvSpPr>
        <p:spPr>
          <a:xfrm>
            <a:off x="5285232" y="2788920"/>
            <a:ext cx="1783080" cy="23774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chemeClr val="accent1"/>
                </a:solidFill>
              </a:rPr>
              <a:t>SQLite</a:t>
            </a:r>
            <a:endParaRPr lang="en-US" sz="1400" dirty="0"/>
          </a:p>
          <a:p>
            <a:pPr marL="0" indent="0" algn="l">
              <a:spcAft>
                <a:spcPts val="6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Lightweight relational store for users, rides, requests, payments and reviews</a:t>
            </a:r>
            <a:endParaRPr lang="en-US" sz="1400" dirty="0"/>
          </a:p>
        </p:txBody>
      </p:sp>
      <p:sp>
        <p:nvSpPr>
          <p:cNvPr id="18" name="tech Dev Tools"/>
          <p:cNvSpPr/>
          <p:nvPr/>
        </p:nvSpPr>
        <p:spPr>
          <a:xfrm>
            <a:off x="7379208" y="1280160"/>
            <a:ext cx="2148840" cy="3931920"/>
          </a:xfrm>
          <a:prstGeom prst="roundRect">
            <a:avLst>
              <a:gd name="adj" fmla="val 5106"/>
            </a:avLst>
          </a:prstGeom>
          <a:solidFill>
            <a:schemeClr val="bg2"/>
          </a:solidFill>
        </p:spPr>
      </p:sp>
      <p:sp>
        <p:nvSpPr>
          <p:cNvPr id="19" name="Dev Tools icon bg"/>
          <p:cNvSpPr/>
          <p:nvPr/>
        </p:nvSpPr>
        <p:spPr>
          <a:xfrm>
            <a:off x="8110728" y="1463040"/>
            <a:ext cx="685800" cy="685800"/>
          </a:xfrm>
          <a:prstGeom prst="ellipse">
            <a:avLst/>
          </a:prstGeom>
          <a:solidFill>
            <a:schemeClr val="accent1"/>
          </a:solidFill>
        </p:spPr>
      </p:sp>
      <p:pic>
        <p:nvPicPr>
          <p:cNvPr id="20" name="Image 3" descr="Dev Tools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95894" y="1648206"/>
            <a:ext cx="315468" cy="315468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7470648" y="2286000"/>
            <a:ext cx="196596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700" b="1" dirty="0">
                <a:solidFill>
                  <a:schemeClr val="tx2"/>
                </a:solidFill>
              </a:rPr>
              <a:t>Dev Tools</a:t>
            </a:r>
            <a:endParaRPr lang="en-US" sz="1700" dirty="0"/>
          </a:p>
        </p:txBody>
      </p:sp>
      <p:sp>
        <p:nvSpPr>
          <p:cNvPr id="22" name="Text 16"/>
          <p:cNvSpPr txBox="1"/>
          <p:nvPr/>
        </p:nvSpPr>
        <p:spPr>
          <a:xfrm>
            <a:off x="7562088" y="2788920"/>
            <a:ext cx="1783080" cy="23774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chemeClr val="accent1"/>
                </a:solidFill>
              </a:rPr>
              <a:t>VS Code</a:t>
            </a:r>
            <a:endParaRPr lang="en-US" sz="1400" dirty="0"/>
          </a:p>
          <a:p>
            <a:pPr marL="0" indent="0" algn="l">
              <a:spcAft>
                <a:spcPts val="6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Code editor</a:t>
            </a:r>
            <a:endParaRPr lang="en-US" sz="1400" dirty="0"/>
          </a:p>
          <a:p>
            <a:pPr marL="0" indent="0" algn="l">
              <a:buNone/>
            </a:pPr>
            <a:r>
              <a:rPr lang="en-US" sz="1500" b="1" dirty="0">
                <a:solidFill>
                  <a:schemeClr val="accent1"/>
                </a:solidFill>
              </a:rPr>
              <a:t>Git / GitHub</a:t>
            </a:r>
            <a:endParaRPr lang="en-US" sz="1400" dirty="0"/>
          </a:p>
          <a:p>
            <a:pPr marL="0" indent="0" algn="l">
              <a:spcAft>
                <a:spcPts val="6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Version control</a:t>
            </a:r>
            <a:endParaRPr lang="en-US" sz="1400" dirty="0"/>
          </a:p>
        </p:txBody>
      </p:sp>
      <p:sp>
        <p:nvSpPr>
          <p:cNvPr id="23" name="tech Testing"/>
          <p:cNvSpPr/>
          <p:nvPr/>
        </p:nvSpPr>
        <p:spPr>
          <a:xfrm>
            <a:off x="9656064" y="1280160"/>
            <a:ext cx="2148840" cy="3931920"/>
          </a:xfrm>
          <a:prstGeom prst="roundRect">
            <a:avLst>
              <a:gd name="adj" fmla="val 5106"/>
            </a:avLst>
          </a:prstGeom>
          <a:solidFill>
            <a:schemeClr val="bg2"/>
          </a:solidFill>
        </p:spPr>
      </p:sp>
      <p:sp>
        <p:nvSpPr>
          <p:cNvPr id="24" name="Testing icon bg"/>
          <p:cNvSpPr/>
          <p:nvPr/>
        </p:nvSpPr>
        <p:spPr>
          <a:xfrm>
            <a:off x="10387584" y="1463040"/>
            <a:ext cx="685800" cy="685800"/>
          </a:xfrm>
          <a:prstGeom prst="ellipse">
            <a:avLst/>
          </a:prstGeom>
          <a:solidFill>
            <a:schemeClr val="accent1"/>
          </a:solidFill>
        </p:spPr>
      </p:sp>
      <p:pic>
        <p:nvPicPr>
          <p:cNvPr id="25" name="Image 4" descr="Testing 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72750" y="1648206"/>
            <a:ext cx="315468" cy="315468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9747504" y="2286000"/>
            <a:ext cx="196596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700" b="1" dirty="0">
                <a:solidFill>
                  <a:schemeClr val="tx2"/>
                </a:solidFill>
              </a:rPr>
              <a:t>Testing</a:t>
            </a:r>
            <a:endParaRPr lang="en-US" sz="1700" dirty="0"/>
          </a:p>
        </p:txBody>
      </p:sp>
      <p:sp>
        <p:nvSpPr>
          <p:cNvPr id="27" name="Text 20"/>
          <p:cNvSpPr txBox="1"/>
          <p:nvPr/>
        </p:nvSpPr>
        <p:spPr>
          <a:xfrm>
            <a:off x="9838944" y="2788920"/>
            <a:ext cx="1783080" cy="23774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chemeClr val="accent1"/>
                </a:solidFill>
              </a:rPr>
              <a:t>Unit testing</a:t>
            </a:r>
            <a:endParaRPr lang="en-US" sz="1400" dirty="0"/>
          </a:p>
          <a:p>
            <a:pPr marL="0" indent="0" algn="l">
              <a:spcAft>
                <a:spcPts val="6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Individual modules</a:t>
            </a:r>
            <a:endParaRPr lang="en-US" sz="1400" dirty="0"/>
          </a:p>
          <a:p>
            <a:pPr marL="0" indent="0" algn="l">
              <a:buNone/>
            </a:pPr>
            <a:r>
              <a:rPr lang="en-US" sz="1500" b="1" dirty="0">
                <a:solidFill>
                  <a:schemeClr val="accent1"/>
                </a:solidFill>
              </a:rPr>
              <a:t>Integration testing</a:t>
            </a:r>
            <a:endParaRPr lang="en-US" sz="1400" dirty="0"/>
          </a:p>
          <a:p>
            <a:pPr marL="0" indent="0" algn="l">
              <a:spcAft>
                <a:spcPts val="6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Overall system flow</a:t>
            </a:r>
            <a:endParaRPr lang="en-US" sz="1400" dirty="0"/>
          </a:p>
        </p:txBody>
      </p:sp>
      <p:sp>
        <p:nvSpPr>
          <p:cNvPr id="28" name="tech note"/>
          <p:cNvSpPr/>
          <p:nvPr/>
        </p:nvSpPr>
        <p:spPr>
          <a:xfrm>
            <a:off x="548640" y="5440680"/>
            <a:ext cx="11064240" cy="731520"/>
          </a:xfrm>
          <a:prstGeom prst="roundRect">
            <a:avLst>
              <a:gd name="adj" fmla="val 15000"/>
            </a:avLst>
          </a:prstGeom>
          <a:solidFill>
            <a:schemeClr val="tx2"/>
          </a:solidFill>
        </p:spPr>
      </p:sp>
      <p:sp>
        <p:nvSpPr>
          <p:cNvPr id="29" name="Text 22"/>
          <p:cNvSpPr txBox="1"/>
          <p:nvPr/>
        </p:nvSpPr>
        <p:spPr>
          <a:xfrm>
            <a:off x="777240" y="5440680"/>
            <a:ext cx="1060704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</a:rPr>
              <a:t>Open-source, reliable and well-supported technologies keep development cost low (feasibility study).</a:t>
            </a:r>
            <a:endParaRPr lang="en-US" sz="1600" dirty="0"/>
          </a:p>
        </p:txBody>
      </p:sp>
      <p:sp>
        <p:nvSpPr>
          <p:cNvPr id="3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98480" y="6446520"/>
            <a:ext cx="914400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548640" y="274320"/>
            <a:ext cx="1106424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Software and Hardware Requirements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80160"/>
            <a:ext cx="5486400" cy="457200"/>
          </a:xfrm>
          <a:prstGeom prst="roundRect">
            <a:avLst>
              <a:gd name="adj" fmla="val 16000"/>
            </a:avLst>
          </a:prstGeom>
          <a:solidFill>
            <a:schemeClr val="accent1"/>
          </a:solidFill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Software Requirements</a:t>
            </a:r>
            <a:endParaRPr lang="en-US" sz="1500" dirty="0"/>
          </a:p>
        </p:txBody>
      </p:sp>
      <p:graphicFrame>
        <p:nvGraphicFramePr>
          <p:cNvPr id="12" name="Software Requirements table"/>
          <p:cNvGraphicFramePr>
            <a:graphicFrameLocks noGrp="1"/>
          </p:cNvGraphicFramePr>
          <p:nvPr/>
        </p:nvGraphicFramePr>
        <p:xfrm>
          <a:off x="548640" y="1874520"/>
          <a:ext cx="5486400" cy="3968496"/>
        </p:xfrm>
        <a:graphic>
          <a:graphicData uri="http://schemas.openxmlformats.org/drawingml/2006/table">
            <a:tbl>
              <a:tblPr/>
              <a:tblGrid>
                <a:gridCol w="1463040"/>
                <a:gridCol w="2807208"/>
                <a:gridCol w="1216152"/>
              </a:tblGrid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Item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Requirement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Basis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Operating system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Windows 10/11 (or Linux / macOS)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accent4"/>
                          </a:solidFill>
                        </a:rPr>
                        <a:t>Suggested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Python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Python 3.x [exact version – add]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accent5"/>
                          </a:solidFill>
                        </a:rPr>
                        <a:t>To confirm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Django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Django [version – add]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accent5"/>
                          </a:solidFill>
                        </a:rPr>
                        <a:t>To confirm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Web browser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Chrome / Edge / Firefox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accent4"/>
                          </a:solidFill>
                        </a:rPr>
                        <a:t>Suggested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Database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SQLite (bundled with Python)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accent3"/>
                          </a:solidFill>
                        </a:rPr>
                        <a:t>Confirmed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Code editor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VS Code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accent3"/>
                          </a:solidFill>
                        </a:rPr>
                        <a:t>Confirmed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6309360" y="1280160"/>
            <a:ext cx="5303520" cy="457200"/>
          </a:xfrm>
          <a:prstGeom prst="roundRect">
            <a:avLst>
              <a:gd name="adj" fmla="val 16000"/>
            </a:avLst>
          </a:prstGeom>
          <a:solidFill>
            <a:schemeClr val="accent1"/>
          </a:solidFill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Hardware Requirements</a:t>
            </a:r>
            <a:endParaRPr lang="en-US" sz="1500" dirty="0"/>
          </a:p>
        </p:txBody>
      </p:sp>
      <p:graphicFrame>
        <p:nvGraphicFramePr>
          <p:cNvPr id="23" name="Hardware Requirements table"/>
          <p:cNvGraphicFramePr>
            <a:graphicFrameLocks noGrp="1"/>
          </p:cNvGraphicFramePr>
          <p:nvPr/>
        </p:nvGraphicFramePr>
        <p:xfrm>
          <a:off x="6309360" y="1874520"/>
          <a:ext cx="5303520" cy="3401568"/>
        </p:xfrm>
        <a:graphic>
          <a:graphicData uri="http://schemas.openxmlformats.org/drawingml/2006/table">
            <a:tbl>
              <a:tblPr/>
              <a:tblGrid>
                <a:gridCol w="1280160"/>
                <a:gridCol w="2880360"/>
                <a:gridCol w="1143000"/>
              </a:tblGrid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Item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Requirement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Basis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Processor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Dual-core, 2 GHz or higher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accent4"/>
                          </a:solidFill>
                        </a:rPr>
                        <a:t>Suggested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RAM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4 GB minimum (8 GB preferred)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accent4"/>
                          </a:solidFill>
                        </a:rPr>
                        <a:t>Suggested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Storage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 GB free disk space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accent4"/>
                          </a:solidFill>
                        </a:rPr>
                        <a:t>Suggested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Display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1366 × 768 or higher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accent4"/>
                          </a:solidFill>
                        </a:rPr>
                        <a:t>Suggested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Network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Internet / LAN for browser access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accent4"/>
                          </a:solidFill>
                        </a:rPr>
                        <a:t>Suggested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98480" y="6446520"/>
            <a:ext cx="914400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548640" y="274320"/>
            <a:ext cx="1106424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System Architecture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192024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chemeClr val="accent4"/>
                </a:solidFill>
              </a:rPr>
              <a:t>USER INTERACTION</a:t>
            </a:r>
            <a:endParaRPr lang="en-US" sz="1100" dirty="0"/>
          </a:p>
        </p:txBody>
      </p:sp>
      <p:sp>
        <p:nvSpPr>
          <p:cNvPr id="4" name="layer Users"/>
          <p:cNvSpPr/>
          <p:nvPr/>
        </p:nvSpPr>
        <p:spPr>
          <a:xfrm>
            <a:off x="548640" y="1508760"/>
            <a:ext cx="1920240" cy="3337560"/>
          </a:xfrm>
          <a:prstGeom prst="roundRect">
            <a:avLst>
              <a:gd name="adj" fmla="val 5714"/>
            </a:avLst>
          </a:prstGeom>
          <a:solidFill>
            <a:schemeClr val="bg2"/>
          </a:solidFill>
        </p:spPr>
      </p:sp>
      <p:sp>
        <p:nvSpPr>
          <p:cNvPr id="5" name="layer header Users"/>
          <p:cNvSpPr txBox="1"/>
          <p:nvPr/>
        </p:nvSpPr>
        <p:spPr>
          <a:xfrm>
            <a:off x="548640" y="1508760"/>
            <a:ext cx="1920240" cy="502920"/>
          </a:xfrm>
          <a:prstGeom prst="roundRect">
            <a:avLst>
              <a:gd name="adj" fmla="val 21818"/>
            </a:avLst>
          </a:prstGeom>
          <a:solidFill>
            <a:schemeClr val="bg1">
              <a:lumMod val="85000"/>
            </a:schemeClr>
          </a:solidFill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Users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167128"/>
            <a:ext cx="1645920" cy="2606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Passenger / driver (registered user)</a:t>
            </a:r>
            <a:endParaRPr lang="en-US" sz="13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Web browser</a:t>
            </a:r>
            <a:endParaRPr lang="en-US" sz="13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Administrator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2880360" y="118872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chemeClr val="accent4"/>
                </a:solidFill>
              </a:rPr>
              <a:t>PRESENTATION LAYER</a:t>
            </a:r>
            <a:endParaRPr lang="en-US" sz="1100" dirty="0"/>
          </a:p>
        </p:txBody>
      </p:sp>
      <p:sp>
        <p:nvSpPr>
          <p:cNvPr id="8" name="layer Frontend"/>
          <p:cNvSpPr/>
          <p:nvPr/>
        </p:nvSpPr>
        <p:spPr>
          <a:xfrm>
            <a:off x="2880360" y="1508760"/>
            <a:ext cx="2743200" cy="3337560"/>
          </a:xfrm>
          <a:prstGeom prst="roundRect">
            <a:avLst>
              <a:gd name="adj" fmla="val 4000"/>
            </a:avLst>
          </a:prstGeom>
          <a:solidFill>
            <a:schemeClr val="bg2"/>
          </a:solidFill>
        </p:spPr>
      </p:sp>
      <p:sp>
        <p:nvSpPr>
          <p:cNvPr id="9" name="layer header Frontend"/>
          <p:cNvSpPr txBox="1"/>
          <p:nvPr/>
        </p:nvSpPr>
        <p:spPr>
          <a:xfrm>
            <a:off x="2880360" y="1508760"/>
            <a:ext cx="2743200" cy="685800"/>
          </a:xfrm>
          <a:prstGeom prst="roundRect">
            <a:avLst>
              <a:gd name="adj" fmla="val 16000"/>
            </a:avLst>
          </a:prstGeom>
          <a:solidFill>
            <a:schemeClr val="bg1">
              <a:lumMod val="85000"/>
            </a:schemeClr>
          </a:solidFill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Frontend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2880360" y="1920240"/>
            <a:ext cx="2743200" cy="25603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bg1"/>
                </a:solidFill>
              </a:rPr>
              <a:t>HTML5 · CSS3 · JavaScript · AJAX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3017520" y="2350008"/>
            <a:ext cx="2468880" cy="24231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Register / login</a:t>
            </a:r>
            <a:endParaRPr lang="en-US" sz="13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Home</a:t>
            </a:r>
            <a:endParaRPr lang="en-US" sz="13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Publish ride</a:t>
            </a:r>
            <a:endParaRPr lang="en-US" sz="13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Search ride</a:t>
            </a:r>
            <a:endParaRPr lang="en-US" sz="13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Ride request</a:t>
            </a:r>
            <a:endParaRPr lang="en-US" sz="13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My rides</a:t>
            </a:r>
            <a:endParaRPr lang="en-US" sz="13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Notifications</a:t>
            </a:r>
            <a:endParaRPr lang="en-US" sz="13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Profile &amp; preferences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6035040" y="1188720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chemeClr val="accent4"/>
                </a:solidFill>
              </a:rPr>
              <a:t>APPLICATION / BUSINESS LOGIC</a:t>
            </a:r>
            <a:endParaRPr lang="en-US" sz="1100" dirty="0"/>
          </a:p>
        </p:txBody>
      </p:sp>
      <p:sp>
        <p:nvSpPr>
          <p:cNvPr id="13" name="layer Django Backend"/>
          <p:cNvSpPr/>
          <p:nvPr/>
        </p:nvSpPr>
        <p:spPr>
          <a:xfrm>
            <a:off x="6035040" y="1508760"/>
            <a:ext cx="2926080" cy="3337560"/>
          </a:xfrm>
          <a:prstGeom prst="roundRect">
            <a:avLst>
              <a:gd name="adj" fmla="val 3750"/>
            </a:avLst>
          </a:prstGeom>
          <a:solidFill>
            <a:schemeClr val="bg2"/>
          </a:solidFill>
        </p:spPr>
      </p:sp>
      <p:sp>
        <p:nvSpPr>
          <p:cNvPr id="14" name="layer header Django Backend"/>
          <p:cNvSpPr txBox="1"/>
          <p:nvPr/>
        </p:nvSpPr>
        <p:spPr>
          <a:xfrm>
            <a:off x="6035040" y="1508760"/>
            <a:ext cx="2926080" cy="685800"/>
          </a:xfrm>
          <a:prstGeom prst="roundRect">
            <a:avLst>
              <a:gd name="adj" fmla="val 16000"/>
            </a:avLst>
          </a:prstGeom>
          <a:solidFill>
            <a:schemeClr val="bg1">
              <a:lumMod val="85000"/>
            </a:schemeClr>
          </a:solidFill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Django Backend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6035040" y="1920240"/>
            <a:ext cx="2926080" cy="25603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bg1"/>
                </a:solidFill>
              </a:rPr>
              <a:t>Python · Django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6172200" y="2350008"/>
            <a:ext cx="2651760" cy="24231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User management</a:t>
            </a:r>
            <a:endParaRPr lang="en-US" sz="13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Ride management</a:t>
            </a:r>
            <a:endParaRPr lang="en-US" sz="13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Search &amp; filter</a:t>
            </a:r>
            <a:endParaRPr lang="en-US" sz="13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Ride request management</a:t>
            </a:r>
            <a:endParaRPr lang="en-US" sz="13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Notification service</a:t>
            </a:r>
            <a:endParaRPr lang="en-US" sz="13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Review &amp; rating</a:t>
            </a:r>
            <a:endParaRPr lang="en-US" sz="13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Payment management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9372600" y="1188720"/>
            <a:ext cx="224028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chemeClr val="accent4"/>
                </a:solidFill>
              </a:rPr>
              <a:t>DATABASE LAYER</a:t>
            </a:r>
            <a:endParaRPr lang="en-US" sz="1100" dirty="0"/>
          </a:p>
        </p:txBody>
      </p:sp>
      <p:sp>
        <p:nvSpPr>
          <p:cNvPr id="18" name="layer SQLite"/>
          <p:cNvSpPr/>
          <p:nvPr/>
        </p:nvSpPr>
        <p:spPr>
          <a:xfrm>
            <a:off x="9372600" y="1508760"/>
            <a:ext cx="2240280" cy="3337560"/>
          </a:xfrm>
          <a:prstGeom prst="roundRect">
            <a:avLst>
              <a:gd name="adj" fmla="val 4898"/>
            </a:avLst>
          </a:prstGeom>
          <a:solidFill>
            <a:schemeClr val="bg2"/>
          </a:solidFill>
        </p:spPr>
      </p:sp>
      <p:sp>
        <p:nvSpPr>
          <p:cNvPr id="19" name="layer header SQLite"/>
          <p:cNvSpPr txBox="1"/>
          <p:nvPr/>
        </p:nvSpPr>
        <p:spPr>
          <a:xfrm>
            <a:off x="9372600" y="1508760"/>
            <a:ext cx="2240280" cy="685800"/>
          </a:xfrm>
          <a:prstGeom prst="roundRect">
            <a:avLst>
              <a:gd name="adj" fmla="val 16000"/>
            </a:avLst>
          </a:prstGeom>
          <a:solidFill>
            <a:schemeClr val="bg1">
              <a:lumMod val="85000"/>
            </a:schemeClr>
          </a:solidFill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SQLite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9372600" y="1920240"/>
            <a:ext cx="2240280" cy="25603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bg1"/>
                </a:solidFill>
              </a:rPr>
              <a:t>via Django ORM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9509760" y="2350008"/>
            <a:ext cx="1965960" cy="24231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User</a:t>
            </a:r>
            <a:endParaRPr lang="en-US" sz="13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Ride</a:t>
            </a:r>
            <a:endParaRPr lang="en-US" sz="13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Ride request</a:t>
            </a:r>
            <a:endParaRPr lang="en-US" sz="13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Ride booking</a:t>
            </a:r>
            <a:endParaRPr lang="en-US" sz="13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Payment</a:t>
            </a:r>
            <a:endParaRPr lang="en-US" sz="13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Review</a:t>
            </a:r>
            <a:endParaRPr lang="en-US" sz="13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Notification</a:t>
            </a:r>
            <a:endParaRPr lang="en-US" sz="13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User preference</a:t>
            </a:r>
            <a:endParaRPr lang="en-US" sz="1300" dirty="0"/>
          </a:p>
        </p:txBody>
      </p:sp>
      <p:sp>
        <p:nvSpPr>
          <p:cNvPr id="22" name="layer link"/>
          <p:cNvSpPr/>
          <p:nvPr/>
        </p:nvSpPr>
        <p:spPr>
          <a:xfrm>
            <a:off x="2487168" y="3108960"/>
            <a:ext cx="374904" cy="0"/>
          </a:xfrm>
          <a:prstGeom prst="line">
            <a:avLst/>
          </a:prstGeom>
          <a:noFill/>
          <a:ln w="31750">
            <a:solidFill>
              <a:schemeClr val="accent2"/>
            </a:solidFill>
            <a:prstDash val="solid"/>
            <a:headEnd type="triangle"/>
            <a:tailEnd type="triangle"/>
          </a:ln>
        </p:spPr>
      </p:sp>
      <p:sp>
        <p:nvSpPr>
          <p:cNvPr id="23" name="layer link"/>
          <p:cNvSpPr/>
          <p:nvPr/>
        </p:nvSpPr>
        <p:spPr>
          <a:xfrm>
            <a:off x="5641848" y="3108960"/>
            <a:ext cx="374904" cy="0"/>
          </a:xfrm>
          <a:prstGeom prst="line">
            <a:avLst/>
          </a:prstGeom>
          <a:noFill/>
          <a:ln w="31750">
            <a:solidFill>
              <a:schemeClr val="accent2"/>
            </a:solidFill>
            <a:prstDash val="solid"/>
            <a:headEnd type="triangle"/>
            <a:tailEnd type="triangle"/>
          </a:ln>
        </p:spPr>
      </p:sp>
      <p:sp>
        <p:nvSpPr>
          <p:cNvPr id="24" name="layer link"/>
          <p:cNvSpPr/>
          <p:nvPr/>
        </p:nvSpPr>
        <p:spPr>
          <a:xfrm>
            <a:off x="8979408" y="3108960"/>
            <a:ext cx="374904" cy="0"/>
          </a:xfrm>
          <a:prstGeom prst="line">
            <a:avLst/>
          </a:prstGeom>
          <a:noFill/>
          <a:ln w="31750">
            <a:solidFill>
              <a:schemeClr val="accent2"/>
            </a:solidFill>
            <a:prstDash val="solid"/>
            <a:headEnd type="triangle"/>
            <a:tailEnd type="triangle"/>
          </a:ln>
        </p:spPr>
      </p:sp>
      <p:sp>
        <p:nvSpPr>
          <p:cNvPr id="25" name="admin band"/>
          <p:cNvSpPr/>
          <p:nvPr/>
        </p:nvSpPr>
        <p:spPr>
          <a:xfrm>
            <a:off x="2880360" y="5120640"/>
            <a:ext cx="6080760" cy="1097280"/>
          </a:xfrm>
          <a:prstGeom prst="roundRect">
            <a:avLst>
              <a:gd name="adj" fmla="val 10000"/>
            </a:avLst>
          </a:prstGeom>
          <a:solidFill>
            <a:schemeClr val="bg1">
              <a:lumMod val="85000"/>
            </a:schemeClr>
          </a:solidFill>
        </p:spPr>
        <p:txBody>
          <a:bodyPr/>
          <a:p>
            <a:endParaRPr lang="en-GB" altLang="en-US"/>
          </a:p>
        </p:txBody>
      </p:sp>
      <p:sp>
        <p:nvSpPr>
          <p:cNvPr id="26" name="admin icon bg"/>
          <p:cNvSpPr/>
          <p:nvPr/>
        </p:nvSpPr>
        <p:spPr>
          <a:xfrm>
            <a:off x="3063240" y="5349240"/>
            <a:ext cx="640080" cy="640080"/>
          </a:xfrm>
          <a:prstGeom prst="ellipse">
            <a:avLst/>
          </a:prstGeom>
          <a:solidFill>
            <a:schemeClr val="tx2"/>
          </a:solidFill>
        </p:spPr>
      </p:sp>
      <p:pic>
        <p:nvPicPr>
          <p:cNvPr id="27" name="Image 0" descr="admin icon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36062" y="5522062"/>
            <a:ext cx="294437" cy="294437"/>
          </a:xfrm>
          <a:prstGeom prst="rect">
            <a:avLst/>
          </a:prstGeom>
        </p:spPr>
      </p:pic>
      <p:sp>
        <p:nvSpPr>
          <p:cNvPr id="28" name="Text 25"/>
          <p:cNvSpPr txBox="1"/>
          <p:nvPr/>
        </p:nvSpPr>
        <p:spPr>
          <a:xfrm>
            <a:off x="3886200" y="5193792"/>
            <a:ext cx="4937760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Administration (Admin panel)</a:t>
            </a:r>
            <a:endParaRPr lang="en-US" sz="1500" dirty="0"/>
          </a:p>
        </p:txBody>
      </p:sp>
      <p:sp>
        <p:nvSpPr>
          <p:cNvPr id="29" name="Text 26"/>
          <p:cNvSpPr txBox="1"/>
          <p:nvPr/>
        </p:nvSpPr>
        <p:spPr>
          <a:xfrm>
            <a:off x="3886200" y="5532120"/>
            <a:ext cx="4937760" cy="640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Manage users, rides, ride requests, reviews and payments; generate reports; system settings</a:t>
            </a:r>
            <a:endParaRPr lang="en-US" sz="1300" dirty="0"/>
          </a:p>
        </p:txBody>
      </p:sp>
      <p:sp>
        <p:nvSpPr>
          <p:cNvPr id="30" name="admin link"/>
          <p:cNvSpPr/>
          <p:nvPr/>
        </p:nvSpPr>
        <p:spPr>
          <a:xfrm flipV="1">
            <a:off x="4572000" y="4864608"/>
            <a:ext cx="0" cy="256032"/>
          </a:xfrm>
          <a:prstGeom prst="line">
            <a:avLst/>
          </a:prstGeom>
          <a:noFill/>
          <a:ln w="25400">
            <a:solidFill>
              <a:schemeClr val="tx2"/>
            </a:solidFill>
            <a:prstDash val="solid"/>
            <a:headEnd type="triangle"/>
            <a:tailEnd type="triangle"/>
          </a:ln>
        </p:spPr>
      </p:sp>
      <p:sp>
        <p:nvSpPr>
          <p:cNvPr id="31" name="admin link"/>
          <p:cNvSpPr/>
          <p:nvPr/>
        </p:nvSpPr>
        <p:spPr>
          <a:xfrm flipV="1">
            <a:off x="7498080" y="4864608"/>
            <a:ext cx="0" cy="256032"/>
          </a:xfrm>
          <a:prstGeom prst="line">
            <a:avLst/>
          </a:prstGeom>
          <a:noFill/>
          <a:ln w="25400">
            <a:solidFill>
              <a:schemeClr val="tx2"/>
            </a:solidFill>
            <a:prstDash val="solid"/>
            <a:headEnd type="triangle"/>
            <a:tailEnd type="triangle"/>
          </a:ln>
        </p:spPr>
      </p:sp>
      <p:sp>
        <p:nvSpPr>
          <p:cNvPr id="32" name="external services outline"/>
          <p:cNvSpPr/>
          <p:nvPr/>
        </p:nvSpPr>
        <p:spPr>
          <a:xfrm>
            <a:off x="9372600" y="5120640"/>
            <a:ext cx="2240280" cy="1097280"/>
          </a:xfrm>
          <a:prstGeom prst="roundRect">
            <a:avLst>
              <a:gd name="adj" fmla="val 10000"/>
            </a:avLst>
          </a:prstGeom>
          <a:ln w="19050">
            <a:solidFill>
              <a:schemeClr val="accent2"/>
            </a:solidFill>
            <a:prstDash val="dash"/>
          </a:ln>
        </p:spPr>
      </p:sp>
      <p:sp>
        <p:nvSpPr>
          <p:cNvPr id="33" name="Text 30"/>
          <p:cNvSpPr txBox="1"/>
          <p:nvPr/>
        </p:nvSpPr>
        <p:spPr>
          <a:xfrm>
            <a:off x="9464040" y="5166360"/>
            <a:ext cx="205740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tx2"/>
                </a:solidFill>
              </a:rPr>
              <a:t>External services</a:t>
            </a:r>
            <a:endParaRPr lang="en-US" sz="1300" dirty="0"/>
          </a:p>
        </p:txBody>
      </p:sp>
      <p:sp>
        <p:nvSpPr>
          <p:cNvPr id="34" name="Text 31"/>
          <p:cNvSpPr txBox="1"/>
          <p:nvPr/>
        </p:nvSpPr>
        <p:spPr>
          <a:xfrm>
            <a:off x="9464040" y="5458968"/>
            <a:ext cx="2057400" cy="7315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4"/>
                </a:solidFill>
              </a:rPr>
              <a:t>Maps, SMS/OTP, payment gateway: planned, not confirmed</a:t>
            </a:r>
            <a:endParaRPr lang="en-US" sz="1200" dirty="0"/>
          </a:p>
        </p:txBody>
      </p:sp>
      <p:sp>
        <p:nvSpPr>
          <p:cNvPr id="3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98480" y="6446520"/>
            <a:ext cx="914400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548640" y="274320"/>
            <a:ext cx="1106424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Design Diagrams</a:t>
            </a:r>
            <a:endParaRPr lang="en-US" sz="3200" dirty="0"/>
          </a:p>
        </p:txBody>
      </p:sp>
      <p:sp>
        <p:nvSpPr>
          <p:cNvPr id="3" name="diagram tile Data Flow Diagram (Level 0, Level 1 User / Admin)"/>
          <p:cNvSpPr/>
          <p:nvPr/>
        </p:nvSpPr>
        <p:spPr>
          <a:xfrm>
            <a:off x="548640" y="1188720"/>
            <a:ext cx="3566160" cy="2331720"/>
          </a:xfrm>
          <a:prstGeom prst="roundRect">
            <a:avLst>
              <a:gd name="adj" fmla="val 4706"/>
            </a:avLst>
          </a:prstGeom>
          <a:solidFill>
            <a:schemeClr val="bg2"/>
          </a:solidFill>
        </p:spPr>
      </p:sp>
      <p:sp>
        <p:nvSpPr>
          <p:cNvPr id="4" name="diagram frame"/>
          <p:cNvSpPr/>
          <p:nvPr/>
        </p:nvSpPr>
        <p:spPr>
          <a:xfrm>
            <a:off x="640080" y="1280160"/>
            <a:ext cx="3383280" cy="1691640"/>
          </a:xfrm>
          <a:prstGeom prst="rect">
            <a:avLst/>
          </a:prstGeom>
          <a:solidFill>
            <a:schemeClr val="bg1"/>
          </a:solidFill>
        </p:spPr>
      </p:sp>
      <p:pic>
        <p:nvPicPr>
          <p:cNvPr id="5" name="Image 0" descr="Data Flow Diagram (Level 0, Level 1 User / Admin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99032" y="1307592"/>
            <a:ext cx="2065375" cy="163677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40080" y="3017520"/>
            <a:ext cx="33832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2"/>
                </a:solidFill>
              </a:rPr>
              <a:t>Data Flow Diagram (Level 0, Level 1 User / Admin)</a:t>
            </a:r>
            <a:endParaRPr lang="en-US" sz="1300" dirty="0"/>
          </a:p>
        </p:txBody>
      </p:sp>
      <p:sp>
        <p:nvSpPr>
          <p:cNvPr id="7" name="diagram tile Use Case Diagram"/>
          <p:cNvSpPr/>
          <p:nvPr/>
        </p:nvSpPr>
        <p:spPr>
          <a:xfrm>
            <a:off x="4297680" y="1188720"/>
            <a:ext cx="3566160" cy="2331720"/>
          </a:xfrm>
          <a:prstGeom prst="roundRect">
            <a:avLst>
              <a:gd name="adj" fmla="val 4706"/>
            </a:avLst>
          </a:prstGeom>
          <a:solidFill>
            <a:schemeClr val="bg2"/>
          </a:solidFill>
        </p:spPr>
      </p:sp>
      <p:sp>
        <p:nvSpPr>
          <p:cNvPr id="8" name="diagram frame"/>
          <p:cNvSpPr/>
          <p:nvPr/>
        </p:nvSpPr>
        <p:spPr>
          <a:xfrm>
            <a:off x="4389120" y="1280160"/>
            <a:ext cx="3383280" cy="1691640"/>
          </a:xfrm>
          <a:prstGeom prst="rect">
            <a:avLst/>
          </a:prstGeom>
          <a:solidFill>
            <a:schemeClr val="bg1"/>
          </a:solidFill>
        </p:spPr>
      </p:sp>
      <p:pic>
        <p:nvPicPr>
          <p:cNvPr id="9" name="Image 1" descr="Use Case Diagram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8369" y="1307592"/>
            <a:ext cx="1264781" cy="1636776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4389120" y="3017520"/>
            <a:ext cx="33832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2"/>
                </a:solidFill>
              </a:rPr>
              <a:t>Use Case Diagram</a:t>
            </a:r>
            <a:endParaRPr lang="en-US" sz="1300" dirty="0"/>
          </a:p>
        </p:txBody>
      </p:sp>
      <p:sp>
        <p:nvSpPr>
          <p:cNvPr id="11" name="diagram tile Class Diagram"/>
          <p:cNvSpPr/>
          <p:nvPr/>
        </p:nvSpPr>
        <p:spPr>
          <a:xfrm>
            <a:off x="8046720" y="1188720"/>
            <a:ext cx="3566160" cy="2331720"/>
          </a:xfrm>
          <a:prstGeom prst="roundRect">
            <a:avLst>
              <a:gd name="adj" fmla="val 4706"/>
            </a:avLst>
          </a:prstGeom>
          <a:solidFill>
            <a:schemeClr val="bg2"/>
          </a:solidFill>
        </p:spPr>
      </p:sp>
      <p:sp>
        <p:nvSpPr>
          <p:cNvPr id="12" name="diagram frame"/>
          <p:cNvSpPr/>
          <p:nvPr/>
        </p:nvSpPr>
        <p:spPr>
          <a:xfrm>
            <a:off x="8138160" y="1280160"/>
            <a:ext cx="3383280" cy="1691640"/>
          </a:xfrm>
          <a:prstGeom prst="rect">
            <a:avLst/>
          </a:prstGeom>
          <a:solidFill>
            <a:schemeClr val="bg1"/>
          </a:solidFill>
        </p:spPr>
      </p:sp>
      <p:pic>
        <p:nvPicPr>
          <p:cNvPr id="13" name="Image 2" descr="Class Diagram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9417" y="1307592"/>
            <a:ext cx="2380765" cy="1636776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8138160" y="3017520"/>
            <a:ext cx="33832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2"/>
                </a:solidFill>
              </a:rPr>
              <a:t>Class Diagram</a:t>
            </a:r>
            <a:endParaRPr lang="en-US" sz="1300" dirty="0"/>
          </a:p>
        </p:txBody>
      </p:sp>
      <p:sp>
        <p:nvSpPr>
          <p:cNvPr id="15" name="diagram tile State Diagram (ride request)"/>
          <p:cNvSpPr/>
          <p:nvPr/>
        </p:nvSpPr>
        <p:spPr>
          <a:xfrm>
            <a:off x="548640" y="3611880"/>
            <a:ext cx="3566160" cy="2331720"/>
          </a:xfrm>
          <a:prstGeom prst="roundRect">
            <a:avLst>
              <a:gd name="adj" fmla="val 4706"/>
            </a:avLst>
          </a:prstGeom>
          <a:solidFill>
            <a:schemeClr val="bg2"/>
          </a:solidFill>
        </p:spPr>
      </p:sp>
      <p:sp>
        <p:nvSpPr>
          <p:cNvPr id="16" name="diagram frame"/>
          <p:cNvSpPr/>
          <p:nvPr/>
        </p:nvSpPr>
        <p:spPr>
          <a:xfrm>
            <a:off x="640080" y="3703320"/>
            <a:ext cx="3383280" cy="1691640"/>
          </a:xfrm>
          <a:prstGeom prst="rect">
            <a:avLst/>
          </a:prstGeom>
          <a:solidFill>
            <a:schemeClr val="bg1"/>
          </a:solidFill>
        </p:spPr>
      </p:sp>
      <p:sp>
        <p:nvSpPr>
          <p:cNvPr id="17" name="state start"/>
          <p:cNvSpPr/>
          <p:nvPr/>
        </p:nvSpPr>
        <p:spPr>
          <a:xfrm>
            <a:off x="747522" y="4610862"/>
            <a:ext cx="164592" cy="164592"/>
          </a:xfrm>
          <a:prstGeom prst="ellipse">
            <a:avLst/>
          </a:prstGeom>
          <a:solidFill>
            <a:schemeClr val="tx2"/>
          </a:solidFill>
        </p:spPr>
      </p:sp>
      <p:sp>
        <p:nvSpPr>
          <p:cNvPr id="18" name="state Pending"/>
          <p:cNvSpPr txBox="1"/>
          <p:nvPr/>
        </p:nvSpPr>
        <p:spPr>
          <a:xfrm>
            <a:off x="1097280" y="4549140"/>
            <a:ext cx="699516" cy="329184"/>
          </a:xfrm>
          <a:prstGeom prst="roundRect">
            <a:avLst>
              <a:gd name="adj" fmla="val 10000"/>
            </a:avLst>
          </a:prstGeom>
          <a:solidFill>
            <a:schemeClr val="accent1"/>
          </a:solidFill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</a:rPr>
              <a:t>Pending</a:t>
            </a:r>
            <a:endParaRPr lang="en-US" sz="1000" dirty="0"/>
          </a:p>
        </p:txBody>
      </p:sp>
      <p:sp>
        <p:nvSpPr>
          <p:cNvPr id="19" name="state Accepted"/>
          <p:cNvSpPr txBox="1"/>
          <p:nvPr/>
        </p:nvSpPr>
        <p:spPr>
          <a:xfrm>
            <a:off x="2208276" y="4055364"/>
            <a:ext cx="699516" cy="329184"/>
          </a:xfrm>
          <a:prstGeom prst="roundRect">
            <a:avLst>
              <a:gd name="adj" fmla="val 10000"/>
            </a:avLst>
          </a:prstGeom>
          <a:solidFill>
            <a:schemeClr val="accent3"/>
          </a:solidFill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</a:rPr>
              <a:t>Accepted</a:t>
            </a:r>
            <a:endParaRPr lang="en-US" sz="1000" dirty="0"/>
          </a:p>
        </p:txBody>
      </p:sp>
      <p:sp>
        <p:nvSpPr>
          <p:cNvPr id="20" name="state Declined"/>
          <p:cNvSpPr txBox="1"/>
          <p:nvPr/>
        </p:nvSpPr>
        <p:spPr>
          <a:xfrm>
            <a:off x="2208276" y="5042916"/>
            <a:ext cx="699516" cy="329184"/>
          </a:xfrm>
          <a:prstGeom prst="roundRect">
            <a:avLst>
              <a:gd name="adj" fmla="val 10000"/>
            </a:avLst>
          </a:prstGeom>
          <a:solidFill>
            <a:schemeClr val="accent5"/>
          </a:solidFill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</a:rPr>
              <a:t>Declined</a:t>
            </a:r>
            <a:endParaRPr lang="en-US" sz="1000" dirty="0"/>
          </a:p>
        </p:txBody>
      </p:sp>
      <p:sp>
        <p:nvSpPr>
          <p:cNvPr id="21" name="state Booked"/>
          <p:cNvSpPr txBox="1"/>
          <p:nvPr/>
        </p:nvSpPr>
        <p:spPr>
          <a:xfrm>
            <a:off x="3236976" y="4055364"/>
            <a:ext cx="699516" cy="329184"/>
          </a:xfrm>
          <a:prstGeom prst="roundRect">
            <a:avLst>
              <a:gd name="adj" fmla="val 10000"/>
            </a:avLst>
          </a:prstGeom>
          <a:solidFill>
            <a:schemeClr val="tx2"/>
          </a:solidFill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</a:rPr>
              <a:t>Booked</a:t>
            </a:r>
            <a:endParaRPr lang="en-US" sz="1000" dirty="0"/>
          </a:p>
        </p:txBody>
      </p:sp>
      <p:sp>
        <p:nvSpPr>
          <p:cNvPr id="22" name="state Search again"/>
          <p:cNvSpPr txBox="1"/>
          <p:nvPr/>
        </p:nvSpPr>
        <p:spPr>
          <a:xfrm>
            <a:off x="3236976" y="5042916"/>
            <a:ext cx="699516" cy="329184"/>
          </a:xfrm>
          <a:prstGeom prst="roundRect">
            <a:avLst>
              <a:gd name="adj" fmla="val 10000"/>
            </a:avLst>
          </a:prstGeom>
          <a:solidFill>
            <a:schemeClr val="accent4"/>
          </a:solidFill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</a:rPr>
              <a:t>Search again</a:t>
            </a:r>
            <a:endParaRPr lang="en-US" sz="1000" dirty="0"/>
          </a:p>
        </p:txBody>
      </p:sp>
      <p:sp>
        <p:nvSpPr>
          <p:cNvPr id="23" name="state transition"/>
          <p:cNvSpPr/>
          <p:nvPr/>
        </p:nvSpPr>
        <p:spPr>
          <a:xfrm>
            <a:off x="912114" y="4693158"/>
            <a:ext cx="185166" cy="0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  <a:tailEnd type="triangle"/>
          </a:ln>
        </p:spPr>
      </p:sp>
      <p:sp>
        <p:nvSpPr>
          <p:cNvPr id="24" name="state transition"/>
          <p:cNvSpPr/>
          <p:nvPr/>
        </p:nvSpPr>
        <p:spPr>
          <a:xfrm flipV="1">
            <a:off x="1796796" y="4219956"/>
            <a:ext cx="411480" cy="411480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  <a:tailEnd type="triangle"/>
          </a:ln>
        </p:spPr>
      </p:sp>
      <p:sp>
        <p:nvSpPr>
          <p:cNvPr id="25" name="state transition"/>
          <p:cNvSpPr/>
          <p:nvPr/>
        </p:nvSpPr>
        <p:spPr>
          <a:xfrm>
            <a:off x="1796796" y="4796028"/>
            <a:ext cx="411480" cy="411480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  <a:tailEnd type="triangle"/>
          </a:ln>
        </p:spPr>
      </p:sp>
      <p:sp>
        <p:nvSpPr>
          <p:cNvPr id="26" name="state transition"/>
          <p:cNvSpPr/>
          <p:nvPr/>
        </p:nvSpPr>
        <p:spPr>
          <a:xfrm>
            <a:off x="2907792" y="4219956"/>
            <a:ext cx="329184" cy="0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  <a:tailEnd type="triangle"/>
          </a:ln>
        </p:spPr>
      </p:sp>
      <p:sp>
        <p:nvSpPr>
          <p:cNvPr id="27" name="state transition"/>
          <p:cNvSpPr/>
          <p:nvPr/>
        </p:nvSpPr>
        <p:spPr>
          <a:xfrm>
            <a:off x="2907792" y="5207508"/>
            <a:ext cx="329184" cy="0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  <a:tailEnd type="triangle"/>
          </a:ln>
        </p:spPr>
      </p:sp>
      <p:sp>
        <p:nvSpPr>
          <p:cNvPr id="28" name="Text 23"/>
          <p:cNvSpPr txBox="1"/>
          <p:nvPr/>
        </p:nvSpPr>
        <p:spPr>
          <a:xfrm>
            <a:off x="640080" y="5440680"/>
            <a:ext cx="33832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2"/>
                </a:solidFill>
              </a:rPr>
              <a:t>State Diagram (ride request)</a:t>
            </a:r>
            <a:endParaRPr lang="en-US" sz="1300" dirty="0"/>
          </a:p>
        </p:txBody>
      </p:sp>
      <p:sp>
        <p:nvSpPr>
          <p:cNvPr id="29" name="diagram tile Activity Diagram (User / Admin)"/>
          <p:cNvSpPr/>
          <p:nvPr/>
        </p:nvSpPr>
        <p:spPr>
          <a:xfrm>
            <a:off x="4297680" y="3611880"/>
            <a:ext cx="3566160" cy="2331720"/>
          </a:xfrm>
          <a:prstGeom prst="roundRect">
            <a:avLst>
              <a:gd name="adj" fmla="val 4706"/>
            </a:avLst>
          </a:prstGeom>
          <a:solidFill>
            <a:schemeClr val="bg2"/>
          </a:solidFill>
        </p:spPr>
      </p:sp>
      <p:sp>
        <p:nvSpPr>
          <p:cNvPr id="30" name="diagram frame"/>
          <p:cNvSpPr/>
          <p:nvPr/>
        </p:nvSpPr>
        <p:spPr>
          <a:xfrm>
            <a:off x="4389120" y="3703320"/>
            <a:ext cx="3383280" cy="1691640"/>
          </a:xfrm>
          <a:prstGeom prst="rect">
            <a:avLst/>
          </a:prstGeom>
          <a:solidFill>
            <a:schemeClr val="bg1"/>
          </a:solidFill>
        </p:spPr>
      </p:sp>
      <p:pic>
        <p:nvPicPr>
          <p:cNvPr id="31" name="Image 3" descr="Activity Diagram (User / Admin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0377" y="3730752"/>
            <a:ext cx="2380765" cy="1636776"/>
          </a:xfrm>
          <a:prstGeom prst="rect">
            <a:avLst/>
          </a:prstGeom>
        </p:spPr>
      </p:pic>
      <p:sp>
        <p:nvSpPr>
          <p:cNvPr id="32" name="Text 26"/>
          <p:cNvSpPr txBox="1"/>
          <p:nvPr/>
        </p:nvSpPr>
        <p:spPr>
          <a:xfrm>
            <a:off x="4389120" y="5440680"/>
            <a:ext cx="33832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2"/>
                </a:solidFill>
              </a:rPr>
              <a:t>Activity Diagram (User / Admin)</a:t>
            </a:r>
            <a:endParaRPr lang="en-US" sz="1300" dirty="0"/>
          </a:p>
        </p:txBody>
      </p:sp>
      <p:sp>
        <p:nvSpPr>
          <p:cNvPr id="33" name="diagram tile Sequence Diagram"/>
          <p:cNvSpPr/>
          <p:nvPr/>
        </p:nvSpPr>
        <p:spPr>
          <a:xfrm>
            <a:off x="8046720" y="3611880"/>
            <a:ext cx="3566160" cy="2331720"/>
          </a:xfrm>
          <a:prstGeom prst="roundRect">
            <a:avLst>
              <a:gd name="adj" fmla="val 4706"/>
            </a:avLst>
          </a:prstGeom>
          <a:solidFill>
            <a:schemeClr val="bg2"/>
          </a:solidFill>
        </p:spPr>
      </p:sp>
      <p:sp>
        <p:nvSpPr>
          <p:cNvPr id="34" name="diagram frame"/>
          <p:cNvSpPr/>
          <p:nvPr/>
        </p:nvSpPr>
        <p:spPr>
          <a:xfrm>
            <a:off x="8138160" y="3703320"/>
            <a:ext cx="3383280" cy="1691640"/>
          </a:xfrm>
          <a:prstGeom prst="rect">
            <a:avLst/>
          </a:prstGeom>
          <a:solidFill>
            <a:schemeClr val="bg1"/>
          </a:solidFill>
        </p:spPr>
      </p:sp>
      <p:pic>
        <p:nvPicPr>
          <p:cNvPr id="35" name="Image 4" descr="Sequence Diagram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38616" y="3730752"/>
            <a:ext cx="2182368" cy="1636776"/>
          </a:xfrm>
          <a:prstGeom prst="rect">
            <a:avLst/>
          </a:prstGeom>
        </p:spPr>
      </p:pic>
      <p:sp>
        <p:nvSpPr>
          <p:cNvPr id="36" name="Text 29"/>
          <p:cNvSpPr txBox="1"/>
          <p:nvPr/>
        </p:nvSpPr>
        <p:spPr>
          <a:xfrm>
            <a:off x="8138160" y="5440680"/>
            <a:ext cx="33832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2"/>
                </a:solidFill>
              </a:rPr>
              <a:t>Sequence Diagram</a:t>
            </a:r>
            <a:endParaRPr lang="en-US" sz="1300" dirty="0"/>
          </a:p>
        </p:txBody>
      </p:sp>
      <p:sp>
        <p:nvSpPr>
          <p:cNvPr id="3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98480" y="6446520"/>
            <a:ext cx="914400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548640" y="274320"/>
            <a:ext cx="1106424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Module Description</a:t>
            </a:r>
            <a:endParaRPr lang="en-US" sz="3200" dirty="0"/>
          </a:p>
        </p:txBody>
      </p:sp>
      <p:sp>
        <p:nvSpPr>
          <p:cNvPr id="3" name="module Registration &amp; Authentication"/>
          <p:cNvSpPr/>
          <p:nvPr/>
        </p:nvSpPr>
        <p:spPr>
          <a:xfrm>
            <a:off x="548640" y="1234440"/>
            <a:ext cx="35661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</p:spPr>
      </p:sp>
      <p:sp>
        <p:nvSpPr>
          <p:cNvPr id="4" name="Registration &amp; Authentication icon bg"/>
          <p:cNvSpPr/>
          <p:nvPr/>
        </p:nvSpPr>
        <p:spPr>
          <a:xfrm>
            <a:off x="713232" y="1371600"/>
            <a:ext cx="502920" cy="502920"/>
          </a:xfrm>
          <a:prstGeom prst="ellipse">
            <a:avLst/>
          </a:prstGeom>
          <a:solidFill>
            <a:schemeClr val="accent1"/>
          </a:solidFill>
        </p:spPr>
      </p:sp>
      <p:pic>
        <p:nvPicPr>
          <p:cNvPr id="5" name="Image 0" descr="Registration &amp; Authentication icon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9020" y="1507388"/>
            <a:ext cx="231343" cy="231343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25880" y="1371600"/>
            <a:ext cx="26974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Registration &amp; Authentication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1984248"/>
            <a:ext cx="3246120" cy="7315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Register and log in; authentication and authorization.</a:t>
            </a:r>
            <a:endParaRPr lang="en-US" sz="1300" dirty="0"/>
          </a:p>
        </p:txBody>
      </p:sp>
      <p:sp>
        <p:nvSpPr>
          <p:cNvPr id="8" name="module Profile Management"/>
          <p:cNvSpPr/>
          <p:nvPr/>
        </p:nvSpPr>
        <p:spPr>
          <a:xfrm>
            <a:off x="4297680" y="1234440"/>
            <a:ext cx="35661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</p:spPr>
      </p:sp>
      <p:sp>
        <p:nvSpPr>
          <p:cNvPr id="9" name="Profile Management icon bg"/>
          <p:cNvSpPr/>
          <p:nvPr/>
        </p:nvSpPr>
        <p:spPr>
          <a:xfrm>
            <a:off x="4462272" y="1371600"/>
            <a:ext cx="502920" cy="502920"/>
          </a:xfrm>
          <a:prstGeom prst="ellipse">
            <a:avLst/>
          </a:prstGeom>
          <a:solidFill>
            <a:schemeClr val="accent1"/>
          </a:solidFill>
        </p:spPr>
      </p:sp>
      <p:pic>
        <p:nvPicPr>
          <p:cNvPr id="10" name="Image 1" descr="Profile Management ico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8060" y="1507388"/>
            <a:ext cx="231343" cy="231343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074920" y="1371600"/>
            <a:ext cx="26974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Profile Management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4480560" y="1984248"/>
            <a:ext cx="3246120" cy="7315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Manage profile and preferences; update personal details.</a:t>
            </a:r>
            <a:endParaRPr lang="en-US" sz="1300" dirty="0"/>
          </a:p>
        </p:txBody>
      </p:sp>
      <p:sp>
        <p:nvSpPr>
          <p:cNvPr id="13" name="module Ride Publishing"/>
          <p:cNvSpPr/>
          <p:nvPr/>
        </p:nvSpPr>
        <p:spPr>
          <a:xfrm>
            <a:off x="8046720" y="1234440"/>
            <a:ext cx="35661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</p:spPr>
      </p:sp>
      <p:sp>
        <p:nvSpPr>
          <p:cNvPr id="14" name="Ride Publishing icon bg"/>
          <p:cNvSpPr/>
          <p:nvPr/>
        </p:nvSpPr>
        <p:spPr>
          <a:xfrm>
            <a:off x="8211312" y="1371600"/>
            <a:ext cx="502920" cy="502920"/>
          </a:xfrm>
          <a:prstGeom prst="ellipse">
            <a:avLst/>
          </a:prstGeom>
          <a:solidFill>
            <a:schemeClr val="accent1"/>
          </a:solidFill>
        </p:spPr>
      </p:sp>
      <p:pic>
        <p:nvPicPr>
          <p:cNvPr id="15" name="Image 2" descr="Ride Publishing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47100" y="1507388"/>
            <a:ext cx="231343" cy="231343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8823960" y="1371600"/>
            <a:ext cx="26974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Ride Publishing</a:t>
            </a:r>
            <a:endParaRPr lang="en-US" sz="1500" dirty="0"/>
          </a:p>
        </p:txBody>
      </p:sp>
      <p:sp>
        <p:nvSpPr>
          <p:cNvPr id="17" name="Text 12"/>
          <p:cNvSpPr txBox="1"/>
          <p:nvPr/>
        </p:nvSpPr>
        <p:spPr>
          <a:xfrm>
            <a:off x="8229600" y="1984248"/>
            <a:ext cx="3246120" cy="7315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Publish rides with origin, destination, date, time, seats and fare; update or cancel.</a:t>
            </a:r>
            <a:endParaRPr lang="en-US" sz="1300" dirty="0"/>
          </a:p>
        </p:txBody>
      </p:sp>
      <p:sp>
        <p:nvSpPr>
          <p:cNvPr id="18" name="module Ride Searching"/>
          <p:cNvSpPr/>
          <p:nvPr/>
        </p:nvSpPr>
        <p:spPr>
          <a:xfrm>
            <a:off x="548640" y="2880360"/>
            <a:ext cx="35661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</p:spPr>
      </p:sp>
      <p:sp>
        <p:nvSpPr>
          <p:cNvPr id="19" name="Ride Searching icon bg"/>
          <p:cNvSpPr/>
          <p:nvPr/>
        </p:nvSpPr>
        <p:spPr>
          <a:xfrm>
            <a:off x="713232" y="3017520"/>
            <a:ext cx="502920" cy="502920"/>
          </a:xfrm>
          <a:prstGeom prst="ellipse">
            <a:avLst/>
          </a:prstGeom>
          <a:solidFill>
            <a:schemeClr val="accent1"/>
          </a:solidFill>
        </p:spPr>
      </p:sp>
      <p:pic>
        <p:nvPicPr>
          <p:cNvPr id="20" name="Image 3" descr="Ride Searching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9020" y="3153308"/>
            <a:ext cx="231343" cy="231343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325880" y="3017520"/>
            <a:ext cx="26974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Ride Searching</a:t>
            </a:r>
            <a:endParaRPr lang="en-US" sz="1500" dirty="0"/>
          </a:p>
        </p:txBody>
      </p:sp>
      <p:sp>
        <p:nvSpPr>
          <p:cNvPr id="22" name="Text 16"/>
          <p:cNvSpPr txBox="1"/>
          <p:nvPr/>
        </p:nvSpPr>
        <p:spPr>
          <a:xfrm>
            <a:off x="731520" y="3630168"/>
            <a:ext cx="3246120" cy="7315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Search by origin and destination; view available rides; select a ride.</a:t>
            </a:r>
            <a:endParaRPr lang="en-US" sz="1300" dirty="0"/>
          </a:p>
        </p:txBody>
      </p:sp>
      <p:sp>
        <p:nvSpPr>
          <p:cNvPr id="23" name="module Ride Request Management"/>
          <p:cNvSpPr/>
          <p:nvPr/>
        </p:nvSpPr>
        <p:spPr>
          <a:xfrm>
            <a:off x="4297680" y="2880360"/>
            <a:ext cx="35661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</p:spPr>
      </p:sp>
      <p:sp>
        <p:nvSpPr>
          <p:cNvPr id="24" name="Ride Request Management icon bg"/>
          <p:cNvSpPr/>
          <p:nvPr/>
        </p:nvSpPr>
        <p:spPr>
          <a:xfrm>
            <a:off x="4462272" y="3017520"/>
            <a:ext cx="502920" cy="502920"/>
          </a:xfrm>
          <a:prstGeom prst="ellipse">
            <a:avLst/>
          </a:prstGeom>
          <a:solidFill>
            <a:schemeClr val="accent1"/>
          </a:solidFill>
        </p:spPr>
      </p:sp>
      <p:pic>
        <p:nvPicPr>
          <p:cNvPr id="25" name="Image 4" descr="Ride Request Management 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98060" y="3153308"/>
            <a:ext cx="231343" cy="231343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5074920" y="3017520"/>
            <a:ext cx="26974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Ride Request Management</a:t>
            </a:r>
            <a:endParaRPr lang="en-US" sz="1500" dirty="0"/>
          </a:p>
        </p:txBody>
      </p:sp>
      <p:sp>
        <p:nvSpPr>
          <p:cNvPr id="27" name="Text 20"/>
          <p:cNvSpPr txBox="1"/>
          <p:nvPr/>
        </p:nvSpPr>
        <p:spPr>
          <a:xfrm>
            <a:off x="4480560" y="3630168"/>
            <a:ext cx="3246120" cy="7315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Send requests, notify publisher, accept or decline, track status.</a:t>
            </a:r>
            <a:endParaRPr lang="en-US" sz="1300" dirty="0"/>
          </a:p>
        </p:txBody>
      </p:sp>
      <p:sp>
        <p:nvSpPr>
          <p:cNvPr id="28" name="module Notifications"/>
          <p:cNvSpPr/>
          <p:nvPr/>
        </p:nvSpPr>
        <p:spPr>
          <a:xfrm>
            <a:off x="8046720" y="2880360"/>
            <a:ext cx="35661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</p:spPr>
      </p:sp>
      <p:sp>
        <p:nvSpPr>
          <p:cNvPr id="29" name="Notifications icon bg"/>
          <p:cNvSpPr/>
          <p:nvPr/>
        </p:nvSpPr>
        <p:spPr>
          <a:xfrm>
            <a:off x="8211312" y="3017520"/>
            <a:ext cx="502920" cy="502920"/>
          </a:xfrm>
          <a:prstGeom prst="ellipse">
            <a:avLst/>
          </a:prstGeom>
          <a:solidFill>
            <a:schemeClr val="accent1"/>
          </a:solidFill>
        </p:spPr>
      </p:sp>
      <p:pic>
        <p:nvPicPr>
          <p:cNvPr id="30" name="Image 5" descr="Notifications icon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47100" y="3153308"/>
            <a:ext cx="231343" cy="231343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8823960" y="3017520"/>
            <a:ext cx="26974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Notifications</a:t>
            </a:r>
            <a:endParaRPr lang="en-US" sz="1500" dirty="0"/>
          </a:p>
        </p:txBody>
      </p:sp>
      <p:sp>
        <p:nvSpPr>
          <p:cNvPr id="32" name="Text 24"/>
          <p:cNvSpPr txBox="1"/>
          <p:nvPr/>
        </p:nvSpPr>
        <p:spPr>
          <a:xfrm>
            <a:off x="8229600" y="3630168"/>
            <a:ext cx="3246120" cy="7315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Alerts for requests, accept/decline decisions, booking and payment.</a:t>
            </a:r>
            <a:endParaRPr lang="en-US" sz="1300" dirty="0"/>
          </a:p>
        </p:txBody>
      </p:sp>
      <p:sp>
        <p:nvSpPr>
          <p:cNvPr id="33" name="module Reviews &amp; Ratings"/>
          <p:cNvSpPr/>
          <p:nvPr/>
        </p:nvSpPr>
        <p:spPr>
          <a:xfrm>
            <a:off x="548640" y="4526280"/>
            <a:ext cx="35661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</p:spPr>
      </p:sp>
      <p:sp>
        <p:nvSpPr>
          <p:cNvPr id="34" name="Reviews &amp; Ratings icon bg"/>
          <p:cNvSpPr/>
          <p:nvPr/>
        </p:nvSpPr>
        <p:spPr>
          <a:xfrm>
            <a:off x="713232" y="4663440"/>
            <a:ext cx="502920" cy="502920"/>
          </a:xfrm>
          <a:prstGeom prst="ellipse">
            <a:avLst/>
          </a:prstGeom>
          <a:solidFill>
            <a:schemeClr val="accent1"/>
          </a:solidFill>
        </p:spPr>
      </p:sp>
      <p:pic>
        <p:nvPicPr>
          <p:cNvPr id="35" name="Image 6" descr="Reviews &amp; Ratings icon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9020" y="4799228"/>
            <a:ext cx="231343" cy="231343"/>
          </a:xfrm>
          <a:prstGeom prst="rect">
            <a:avLst/>
          </a:prstGeom>
        </p:spPr>
      </p:pic>
      <p:sp>
        <p:nvSpPr>
          <p:cNvPr id="36" name="Text 27"/>
          <p:cNvSpPr txBox="1"/>
          <p:nvPr/>
        </p:nvSpPr>
        <p:spPr>
          <a:xfrm>
            <a:off x="1325880" y="4663440"/>
            <a:ext cx="26974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Reviews &amp; Ratings</a:t>
            </a:r>
            <a:endParaRPr lang="en-US" sz="1500" dirty="0"/>
          </a:p>
        </p:txBody>
      </p:sp>
      <p:sp>
        <p:nvSpPr>
          <p:cNvPr id="37" name="Text 28"/>
          <p:cNvSpPr txBox="1"/>
          <p:nvPr/>
        </p:nvSpPr>
        <p:spPr>
          <a:xfrm>
            <a:off x="731520" y="5276088"/>
            <a:ext cx="3246120" cy="7315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Submit reviews and ratings after a ride; view reviews.</a:t>
            </a:r>
            <a:endParaRPr lang="en-US" sz="1300" dirty="0"/>
          </a:p>
        </p:txBody>
      </p:sp>
      <p:sp>
        <p:nvSpPr>
          <p:cNvPr id="38" name="module Payment Management"/>
          <p:cNvSpPr/>
          <p:nvPr/>
        </p:nvSpPr>
        <p:spPr>
          <a:xfrm>
            <a:off x="4297680" y="4526280"/>
            <a:ext cx="35661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</p:spPr>
      </p:sp>
      <p:sp>
        <p:nvSpPr>
          <p:cNvPr id="39" name="Payment Management icon bg"/>
          <p:cNvSpPr/>
          <p:nvPr/>
        </p:nvSpPr>
        <p:spPr>
          <a:xfrm>
            <a:off x="4462272" y="4663440"/>
            <a:ext cx="502920" cy="502920"/>
          </a:xfrm>
          <a:prstGeom prst="ellipse">
            <a:avLst/>
          </a:prstGeom>
          <a:solidFill>
            <a:schemeClr val="accent1"/>
          </a:solidFill>
        </p:spPr>
      </p:sp>
      <p:pic>
        <p:nvPicPr>
          <p:cNvPr id="40" name="Image 7" descr="Payment Management icon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98060" y="4799228"/>
            <a:ext cx="231343" cy="231343"/>
          </a:xfrm>
          <a:prstGeom prst="rect">
            <a:avLst/>
          </a:prstGeom>
        </p:spPr>
      </p:pic>
      <p:sp>
        <p:nvSpPr>
          <p:cNvPr id="41" name="Text 31"/>
          <p:cNvSpPr txBox="1"/>
          <p:nvPr/>
        </p:nvSpPr>
        <p:spPr>
          <a:xfrm>
            <a:off x="5074920" y="4663440"/>
            <a:ext cx="26974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Payment Management</a:t>
            </a:r>
            <a:endParaRPr lang="en-US" sz="1500" dirty="0"/>
          </a:p>
        </p:txBody>
      </p:sp>
      <p:sp>
        <p:nvSpPr>
          <p:cNvPr id="42" name="Text 32"/>
          <p:cNvSpPr txBox="1"/>
          <p:nvPr/>
        </p:nvSpPr>
        <p:spPr>
          <a:xfrm>
            <a:off x="4480560" y="5276088"/>
            <a:ext cx="3246120" cy="7315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Calculate fare, process payment, store records, show status.</a:t>
            </a:r>
            <a:endParaRPr lang="en-US" sz="1300" dirty="0"/>
          </a:p>
        </p:txBody>
      </p:sp>
      <p:sp>
        <p:nvSpPr>
          <p:cNvPr id="43" name="module Administration"/>
          <p:cNvSpPr/>
          <p:nvPr/>
        </p:nvSpPr>
        <p:spPr>
          <a:xfrm>
            <a:off x="8046720" y="4526280"/>
            <a:ext cx="35661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</p:spPr>
      </p:sp>
      <p:sp>
        <p:nvSpPr>
          <p:cNvPr id="44" name="Administration icon bg"/>
          <p:cNvSpPr/>
          <p:nvPr/>
        </p:nvSpPr>
        <p:spPr>
          <a:xfrm>
            <a:off x="8211312" y="4663440"/>
            <a:ext cx="502920" cy="502920"/>
          </a:xfrm>
          <a:prstGeom prst="ellipse">
            <a:avLst/>
          </a:prstGeom>
          <a:solidFill>
            <a:schemeClr val="accent1"/>
          </a:solidFill>
        </p:spPr>
      </p:sp>
      <p:pic>
        <p:nvPicPr>
          <p:cNvPr id="45" name="Image 8" descr="Administration icon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47100" y="4799228"/>
            <a:ext cx="231343" cy="231343"/>
          </a:xfrm>
          <a:prstGeom prst="rect">
            <a:avLst/>
          </a:prstGeom>
        </p:spPr>
      </p:pic>
      <p:sp>
        <p:nvSpPr>
          <p:cNvPr id="46" name="Text 35"/>
          <p:cNvSpPr txBox="1"/>
          <p:nvPr/>
        </p:nvSpPr>
        <p:spPr>
          <a:xfrm>
            <a:off x="8823960" y="4663440"/>
            <a:ext cx="26974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Administration</a:t>
            </a:r>
            <a:endParaRPr lang="en-US" sz="1500" dirty="0"/>
          </a:p>
        </p:txBody>
      </p:sp>
      <p:sp>
        <p:nvSpPr>
          <p:cNvPr id="47" name="Text 36"/>
          <p:cNvSpPr txBox="1"/>
          <p:nvPr/>
        </p:nvSpPr>
        <p:spPr>
          <a:xfrm>
            <a:off x="8229600" y="5276088"/>
            <a:ext cx="3246120" cy="7315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Admin login; manage users, rides, requests, reviews; monitor payments.</a:t>
            </a:r>
            <a:endParaRPr lang="en-US" sz="1300" dirty="0"/>
          </a:p>
        </p:txBody>
      </p:sp>
      <p:sp>
        <p:nvSpPr>
          <p:cNvPr id="4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98480" y="6446520"/>
            <a:ext cx="914400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548640" y="274320"/>
            <a:ext cx="1106424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Algorithm / Methodology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Application workflow</a:t>
            </a:r>
            <a:endParaRPr lang="en-US" sz="1600" dirty="0"/>
          </a:p>
        </p:txBody>
      </p:sp>
      <p:sp>
        <p:nvSpPr>
          <p:cNvPr id="4" name="workflow step 1"/>
          <p:cNvSpPr/>
          <p:nvPr/>
        </p:nvSpPr>
        <p:spPr>
          <a:xfrm>
            <a:off x="548640" y="1600200"/>
            <a:ext cx="2423160" cy="914400"/>
          </a:xfrm>
          <a:prstGeom prst="roundRect">
            <a:avLst>
              <a:gd name="adj" fmla="val 12000"/>
            </a:avLst>
          </a:prstGeom>
          <a:solidFill>
            <a:schemeClr val="bg2"/>
          </a:solidFill>
        </p:spPr>
      </p:sp>
      <p:sp>
        <p:nvSpPr>
          <p:cNvPr id="5" name="step number 1"/>
          <p:cNvSpPr txBox="1"/>
          <p:nvPr/>
        </p:nvSpPr>
        <p:spPr>
          <a:xfrm>
            <a:off x="658368" y="1828800"/>
            <a:ext cx="457200" cy="457200"/>
          </a:xfrm>
          <a:prstGeom prst="ellipse">
            <a:avLst/>
          </a:prstGeom>
          <a:solidFill>
            <a:schemeClr val="accent1"/>
          </a:solidFill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1645920"/>
            <a:ext cx="164592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User registers or logs in</a:t>
            </a:r>
            <a:endParaRPr lang="en-US" sz="1300" dirty="0"/>
          </a:p>
        </p:txBody>
      </p:sp>
      <p:sp>
        <p:nvSpPr>
          <p:cNvPr id="7" name="step arrow"/>
          <p:cNvSpPr/>
          <p:nvPr/>
        </p:nvSpPr>
        <p:spPr>
          <a:xfrm>
            <a:off x="3017520" y="1920240"/>
            <a:ext cx="365760" cy="274320"/>
          </a:xfrm>
          <a:prstGeom prst="rightArrow">
            <a:avLst/>
          </a:prstGeom>
          <a:solidFill>
            <a:schemeClr val="accent2"/>
          </a:solidFill>
        </p:spPr>
      </p:sp>
      <p:sp>
        <p:nvSpPr>
          <p:cNvPr id="8" name="workflow step 2"/>
          <p:cNvSpPr/>
          <p:nvPr/>
        </p:nvSpPr>
        <p:spPr>
          <a:xfrm>
            <a:off x="3429000" y="1600200"/>
            <a:ext cx="2423160" cy="914400"/>
          </a:xfrm>
          <a:prstGeom prst="roundRect">
            <a:avLst>
              <a:gd name="adj" fmla="val 12000"/>
            </a:avLst>
          </a:prstGeom>
          <a:solidFill>
            <a:schemeClr val="bg2"/>
          </a:solidFill>
        </p:spPr>
      </p:sp>
      <p:sp>
        <p:nvSpPr>
          <p:cNvPr id="9" name="step number 2"/>
          <p:cNvSpPr txBox="1"/>
          <p:nvPr/>
        </p:nvSpPr>
        <p:spPr>
          <a:xfrm>
            <a:off x="3538728" y="1828800"/>
            <a:ext cx="457200" cy="457200"/>
          </a:xfrm>
          <a:prstGeom prst="ellipse">
            <a:avLst/>
          </a:prstGeom>
          <a:solidFill>
            <a:schemeClr val="accent1"/>
          </a:solidFill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2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4114800" y="1645920"/>
            <a:ext cx="164592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User publishes a ride or searches for rides</a:t>
            </a:r>
            <a:endParaRPr lang="en-US" sz="1300" dirty="0"/>
          </a:p>
        </p:txBody>
      </p:sp>
      <p:sp>
        <p:nvSpPr>
          <p:cNvPr id="11" name="step arrow"/>
          <p:cNvSpPr/>
          <p:nvPr/>
        </p:nvSpPr>
        <p:spPr>
          <a:xfrm>
            <a:off x="5897880" y="1920240"/>
            <a:ext cx="365760" cy="274320"/>
          </a:xfrm>
          <a:prstGeom prst="rightArrow">
            <a:avLst/>
          </a:prstGeom>
          <a:solidFill>
            <a:schemeClr val="accent2"/>
          </a:solidFill>
        </p:spPr>
      </p:sp>
      <p:sp>
        <p:nvSpPr>
          <p:cNvPr id="12" name="workflow step 3"/>
          <p:cNvSpPr/>
          <p:nvPr/>
        </p:nvSpPr>
        <p:spPr>
          <a:xfrm>
            <a:off x="6309360" y="1600200"/>
            <a:ext cx="2423160" cy="914400"/>
          </a:xfrm>
          <a:prstGeom prst="roundRect">
            <a:avLst>
              <a:gd name="adj" fmla="val 12000"/>
            </a:avLst>
          </a:prstGeom>
          <a:solidFill>
            <a:schemeClr val="bg2"/>
          </a:solidFill>
        </p:spPr>
      </p:sp>
      <p:sp>
        <p:nvSpPr>
          <p:cNvPr id="13" name="step number 3"/>
          <p:cNvSpPr txBox="1"/>
          <p:nvPr/>
        </p:nvSpPr>
        <p:spPr>
          <a:xfrm>
            <a:off x="6419088" y="1828800"/>
            <a:ext cx="457200" cy="457200"/>
          </a:xfrm>
          <a:prstGeom prst="ellipse">
            <a:avLst/>
          </a:prstGeom>
          <a:solidFill>
            <a:schemeClr val="accent1"/>
          </a:solidFill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3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6995160" y="1645920"/>
            <a:ext cx="164592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Seeker selects a suitable ride</a:t>
            </a:r>
            <a:endParaRPr lang="en-US" sz="1300" dirty="0"/>
          </a:p>
        </p:txBody>
      </p:sp>
      <p:sp>
        <p:nvSpPr>
          <p:cNvPr id="15" name="step arrow"/>
          <p:cNvSpPr/>
          <p:nvPr/>
        </p:nvSpPr>
        <p:spPr>
          <a:xfrm>
            <a:off x="8778240" y="1920240"/>
            <a:ext cx="365760" cy="274320"/>
          </a:xfrm>
          <a:prstGeom prst="rightArrow">
            <a:avLst/>
          </a:prstGeom>
          <a:solidFill>
            <a:schemeClr val="accent2"/>
          </a:solidFill>
        </p:spPr>
      </p:sp>
      <p:sp>
        <p:nvSpPr>
          <p:cNvPr id="16" name="workflow step 4"/>
          <p:cNvSpPr/>
          <p:nvPr/>
        </p:nvSpPr>
        <p:spPr>
          <a:xfrm>
            <a:off x="9189720" y="1600200"/>
            <a:ext cx="2423160" cy="914400"/>
          </a:xfrm>
          <a:prstGeom prst="roundRect">
            <a:avLst>
              <a:gd name="adj" fmla="val 12000"/>
            </a:avLst>
          </a:prstGeom>
          <a:solidFill>
            <a:schemeClr val="bg2"/>
          </a:solidFill>
        </p:spPr>
      </p:sp>
      <p:sp>
        <p:nvSpPr>
          <p:cNvPr id="17" name="step number 4"/>
          <p:cNvSpPr txBox="1"/>
          <p:nvPr/>
        </p:nvSpPr>
        <p:spPr>
          <a:xfrm>
            <a:off x="9299448" y="1828800"/>
            <a:ext cx="457200" cy="457200"/>
          </a:xfrm>
          <a:prstGeom prst="ellipse">
            <a:avLst/>
          </a:prstGeom>
          <a:solidFill>
            <a:schemeClr val="accent1"/>
          </a:solidFill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4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9875520" y="1645920"/>
            <a:ext cx="164592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Seeker submits a ride request</a:t>
            </a:r>
            <a:endParaRPr lang="en-US" sz="1300" dirty="0"/>
          </a:p>
        </p:txBody>
      </p:sp>
      <p:sp>
        <p:nvSpPr>
          <p:cNvPr id="19" name="workflow step 5"/>
          <p:cNvSpPr/>
          <p:nvPr/>
        </p:nvSpPr>
        <p:spPr>
          <a:xfrm>
            <a:off x="548640" y="2697480"/>
            <a:ext cx="2423160" cy="914400"/>
          </a:xfrm>
          <a:prstGeom prst="roundRect">
            <a:avLst>
              <a:gd name="adj" fmla="val 12000"/>
            </a:avLst>
          </a:prstGeom>
          <a:solidFill>
            <a:schemeClr val="bg2"/>
          </a:solidFill>
        </p:spPr>
      </p:sp>
      <p:sp>
        <p:nvSpPr>
          <p:cNvPr id="20" name="step number 5"/>
          <p:cNvSpPr txBox="1"/>
          <p:nvPr/>
        </p:nvSpPr>
        <p:spPr>
          <a:xfrm>
            <a:off x="658368" y="2926080"/>
            <a:ext cx="457200" cy="457200"/>
          </a:xfrm>
          <a:prstGeom prst="ellipse">
            <a:avLst/>
          </a:prstGeom>
          <a:solidFill>
            <a:schemeClr val="accent1"/>
          </a:solidFill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5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1234440" y="2743200"/>
            <a:ext cx="164592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Publisher receives the request</a:t>
            </a:r>
            <a:endParaRPr lang="en-US" sz="1300" dirty="0"/>
          </a:p>
        </p:txBody>
      </p:sp>
      <p:sp>
        <p:nvSpPr>
          <p:cNvPr id="22" name="step arrow"/>
          <p:cNvSpPr/>
          <p:nvPr/>
        </p:nvSpPr>
        <p:spPr>
          <a:xfrm>
            <a:off x="3017520" y="3017520"/>
            <a:ext cx="365760" cy="274320"/>
          </a:xfrm>
          <a:prstGeom prst="rightArrow">
            <a:avLst/>
          </a:prstGeom>
          <a:solidFill>
            <a:schemeClr val="accent2"/>
          </a:solidFill>
        </p:spPr>
      </p:sp>
      <p:sp>
        <p:nvSpPr>
          <p:cNvPr id="23" name="workflow step 6"/>
          <p:cNvSpPr/>
          <p:nvPr/>
        </p:nvSpPr>
        <p:spPr>
          <a:xfrm>
            <a:off x="3429000" y="2697480"/>
            <a:ext cx="2423160" cy="914400"/>
          </a:xfrm>
          <a:prstGeom prst="roundRect">
            <a:avLst>
              <a:gd name="adj" fmla="val 12000"/>
            </a:avLst>
          </a:prstGeom>
          <a:solidFill>
            <a:schemeClr val="bg2"/>
          </a:solidFill>
        </p:spPr>
      </p:sp>
      <p:sp>
        <p:nvSpPr>
          <p:cNvPr id="24" name="step number 6"/>
          <p:cNvSpPr txBox="1"/>
          <p:nvPr/>
        </p:nvSpPr>
        <p:spPr>
          <a:xfrm>
            <a:off x="3538728" y="2926080"/>
            <a:ext cx="457200" cy="457200"/>
          </a:xfrm>
          <a:prstGeom prst="ellipse">
            <a:avLst/>
          </a:prstGeom>
          <a:solidFill>
            <a:schemeClr val="accent1"/>
          </a:solidFill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6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4114800" y="2743200"/>
            <a:ext cx="164592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Publisher accepts or declines</a:t>
            </a:r>
            <a:endParaRPr lang="en-US" sz="1300" dirty="0"/>
          </a:p>
        </p:txBody>
      </p:sp>
      <p:sp>
        <p:nvSpPr>
          <p:cNvPr id="26" name="step arrow"/>
          <p:cNvSpPr/>
          <p:nvPr/>
        </p:nvSpPr>
        <p:spPr>
          <a:xfrm>
            <a:off x="5897880" y="3017520"/>
            <a:ext cx="365760" cy="274320"/>
          </a:xfrm>
          <a:prstGeom prst="rightArrow">
            <a:avLst/>
          </a:prstGeom>
          <a:solidFill>
            <a:schemeClr val="accent2"/>
          </a:solidFill>
        </p:spPr>
      </p:sp>
      <p:sp>
        <p:nvSpPr>
          <p:cNvPr id="27" name="workflow step 7"/>
          <p:cNvSpPr/>
          <p:nvPr/>
        </p:nvSpPr>
        <p:spPr>
          <a:xfrm>
            <a:off x="6309360" y="2697480"/>
            <a:ext cx="2423160" cy="914400"/>
          </a:xfrm>
          <a:prstGeom prst="roundRect">
            <a:avLst>
              <a:gd name="adj" fmla="val 12000"/>
            </a:avLst>
          </a:prstGeom>
          <a:solidFill>
            <a:schemeClr val="bg2"/>
          </a:solidFill>
        </p:spPr>
      </p:sp>
      <p:sp>
        <p:nvSpPr>
          <p:cNvPr id="28" name="step number 7"/>
          <p:cNvSpPr txBox="1"/>
          <p:nvPr/>
        </p:nvSpPr>
        <p:spPr>
          <a:xfrm>
            <a:off x="6419088" y="2926080"/>
            <a:ext cx="457200" cy="457200"/>
          </a:xfrm>
          <a:prstGeom prst="ellipse">
            <a:avLst/>
          </a:prstGeom>
          <a:solidFill>
            <a:schemeClr val="accent1"/>
          </a:solidFill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7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6995160" y="2743200"/>
            <a:ext cx="164592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Request status and notifications are updated</a:t>
            </a:r>
            <a:endParaRPr lang="en-US" sz="1300" dirty="0"/>
          </a:p>
        </p:txBody>
      </p:sp>
      <p:sp>
        <p:nvSpPr>
          <p:cNvPr id="30" name="step arrow"/>
          <p:cNvSpPr/>
          <p:nvPr/>
        </p:nvSpPr>
        <p:spPr>
          <a:xfrm>
            <a:off x="8778240" y="3017520"/>
            <a:ext cx="365760" cy="274320"/>
          </a:xfrm>
          <a:prstGeom prst="rightArrow">
            <a:avLst/>
          </a:prstGeom>
          <a:solidFill>
            <a:schemeClr val="accent2"/>
          </a:solidFill>
        </p:spPr>
      </p:sp>
      <p:sp>
        <p:nvSpPr>
          <p:cNvPr id="31" name="workflow step 8"/>
          <p:cNvSpPr/>
          <p:nvPr/>
        </p:nvSpPr>
        <p:spPr>
          <a:xfrm>
            <a:off x="9189720" y="2697480"/>
            <a:ext cx="2423160" cy="914400"/>
          </a:xfrm>
          <a:prstGeom prst="roundRect">
            <a:avLst>
              <a:gd name="adj" fmla="val 12000"/>
            </a:avLst>
          </a:prstGeom>
          <a:solidFill>
            <a:schemeClr val="bg2"/>
          </a:solidFill>
        </p:spPr>
      </p:sp>
      <p:sp>
        <p:nvSpPr>
          <p:cNvPr id="32" name="step number 8"/>
          <p:cNvSpPr txBox="1"/>
          <p:nvPr/>
        </p:nvSpPr>
        <p:spPr>
          <a:xfrm>
            <a:off x="9299448" y="2926080"/>
            <a:ext cx="457200" cy="457200"/>
          </a:xfrm>
          <a:prstGeom prst="ellipse">
            <a:avLst/>
          </a:prstGeom>
          <a:solidFill>
            <a:schemeClr val="accent1"/>
          </a:solidFill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8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9875520" y="2743200"/>
            <a:ext cx="164592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Payment and review operations (where supported)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548640" y="393192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Iterative development methodology (sprints)</a:t>
            </a:r>
            <a:endParaRPr lang="en-US" sz="1600" dirty="0"/>
          </a:p>
        </p:txBody>
      </p:sp>
      <p:sp>
        <p:nvSpPr>
          <p:cNvPr id="35" name="phase Requirement Analysis"/>
          <p:cNvSpPr/>
          <p:nvPr/>
        </p:nvSpPr>
        <p:spPr>
          <a:xfrm>
            <a:off x="548640" y="4343400"/>
            <a:ext cx="1280160" cy="1097280"/>
          </a:xfrm>
          <a:prstGeom prst="roundRect">
            <a:avLst>
              <a:gd name="adj" fmla="val 10000"/>
            </a:avLst>
          </a:prstGeom>
          <a:solidFill>
            <a:schemeClr val="tx2"/>
          </a:solidFill>
        </p:spPr>
      </p:sp>
      <p:sp>
        <p:nvSpPr>
          <p:cNvPr id="36" name="Text 34"/>
          <p:cNvSpPr txBox="1"/>
          <p:nvPr/>
        </p:nvSpPr>
        <p:spPr>
          <a:xfrm>
            <a:off x="548640" y="4407408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accent2"/>
                </a:solidFill>
              </a:rPr>
              <a:t>01</a:t>
            </a:r>
            <a:endParaRPr lang="en-US" sz="1300" dirty="0"/>
          </a:p>
        </p:txBody>
      </p:sp>
      <p:sp>
        <p:nvSpPr>
          <p:cNvPr id="37" name="Text 35"/>
          <p:cNvSpPr txBox="1"/>
          <p:nvPr/>
        </p:nvSpPr>
        <p:spPr>
          <a:xfrm>
            <a:off x="594360" y="4709160"/>
            <a:ext cx="118872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Requirement Analysis</a:t>
            </a:r>
            <a:endParaRPr lang="en-US" sz="1200" dirty="0"/>
          </a:p>
        </p:txBody>
      </p:sp>
      <p:sp>
        <p:nvSpPr>
          <p:cNvPr id="38" name="phase System Design"/>
          <p:cNvSpPr/>
          <p:nvPr/>
        </p:nvSpPr>
        <p:spPr>
          <a:xfrm>
            <a:off x="1947672" y="4343400"/>
            <a:ext cx="1280160" cy="1097280"/>
          </a:xfrm>
          <a:prstGeom prst="roundRect">
            <a:avLst>
              <a:gd name="adj" fmla="val 10000"/>
            </a:avLst>
          </a:prstGeom>
          <a:solidFill>
            <a:schemeClr val="tx2"/>
          </a:solidFill>
        </p:spPr>
      </p:sp>
      <p:sp>
        <p:nvSpPr>
          <p:cNvPr id="39" name="Text 37"/>
          <p:cNvSpPr txBox="1"/>
          <p:nvPr/>
        </p:nvSpPr>
        <p:spPr>
          <a:xfrm>
            <a:off x="1947672" y="4407408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accent2"/>
                </a:solidFill>
              </a:rPr>
              <a:t>02</a:t>
            </a:r>
            <a:endParaRPr lang="en-US" sz="1300" dirty="0"/>
          </a:p>
        </p:txBody>
      </p:sp>
      <p:sp>
        <p:nvSpPr>
          <p:cNvPr id="40" name="Text 38"/>
          <p:cNvSpPr txBox="1"/>
          <p:nvPr/>
        </p:nvSpPr>
        <p:spPr>
          <a:xfrm>
            <a:off x="1993392" y="4709160"/>
            <a:ext cx="118872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System Design</a:t>
            </a:r>
            <a:endParaRPr lang="en-US" sz="1200" dirty="0"/>
          </a:p>
        </p:txBody>
      </p:sp>
      <p:sp>
        <p:nvSpPr>
          <p:cNvPr id="41" name="phase Frontend Development"/>
          <p:cNvSpPr/>
          <p:nvPr/>
        </p:nvSpPr>
        <p:spPr>
          <a:xfrm>
            <a:off x="3346704" y="4343400"/>
            <a:ext cx="1280160" cy="1097280"/>
          </a:xfrm>
          <a:prstGeom prst="roundRect">
            <a:avLst>
              <a:gd name="adj" fmla="val 10000"/>
            </a:avLst>
          </a:prstGeom>
          <a:solidFill>
            <a:schemeClr val="tx2"/>
          </a:solidFill>
        </p:spPr>
      </p:sp>
      <p:sp>
        <p:nvSpPr>
          <p:cNvPr id="42" name="Text 40"/>
          <p:cNvSpPr txBox="1"/>
          <p:nvPr/>
        </p:nvSpPr>
        <p:spPr>
          <a:xfrm>
            <a:off x="3346704" y="4407408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accent2"/>
                </a:solidFill>
              </a:rPr>
              <a:t>03</a:t>
            </a:r>
            <a:endParaRPr lang="en-US" sz="1300" dirty="0"/>
          </a:p>
        </p:txBody>
      </p:sp>
      <p:sp>
        <p:nvSpPr>
          <p:cNvPr id="43" name="Text 41"/>
          <p:cNvSpPr txBox="1"/>
          <p:nvPr/>
        </p:nvSpPr>
        <p:spPr>
          <a:xfrm>
            <a:off x="3392424" y="4709160"/>
            <a:ext cx="118872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Frontend Development</a:t>
            </a:r>
            <a:endParaRPr lang="en-US" sz="1200" dirty="0"/>
          </a:p>
        </p:txBody>
      </p:sp>
      <p:sp>
        <p:nvSpPr>
          <p:cNvPr id="44" name="phase Backend Development"/>
          <p:cNvSpPr/>
          <p:nvPr/>
        </p:nvSpPr>
        <p:spPr>
          <a:xfrm>
            <a:off x="4745736" y="4343400"/>
            <a:ext cx="1280160" cy="1097280"/>
          </a:xfrm>
          <a:prstGeom prst="roundRect">
            <a:avLst>
              <a:gd name="adj" fmla="val 10000"/>
            </a:avLst>
          </a:prstGeom>
          <a:solidFill>
            <a:schemeClr val="tx2"/>
          </a:solidFill>
        </p:spPr>
      </p:sp>
      <p:sp>
        <p:nvSpPr>
          <p:cNvPr id="45" name="Text 43"/>
          <p:cNvSpPr txBox="1"/>
          <p:nvPr/>
        </p:nvSpPr>
        <p:spPr>
          <a:xfrm>
            <a:off x="4745736" y="4407408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accent2"/>
                </a:solidFill>
              </a:rPr>
              <a:t>04</a:t>
            </a:r>
            <a:endParaRPr lang="en-US" sz="1300" dirty="0"/>
          </a:p>
        </p:txBody>
      </p:sp>
      <p:sp>
        <p:nvSpPr>
          <p:cNvPr id="46" name="Text 44"/>
          <p:cNvSpPr txBox="1"/>
          <p:nvPr/>
        </p:nvSpPr>
        <p:spPr>
          <a:xfrm>
            <a:off x="4791456" y="4709160"/>
            <a:ext cx="118872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Backend Development</a:t>
            </a:r>
            <a:endParaRPr lang="en-US" sz="1200" dirty="0"/>
          </a:p>
        </p:txBody>
      </p:sp>
      <p:sp>
        <p:nvSpPr>
          <p:cNvPr id="47" name="phase Database Implementation"/>
          <p:cNvSpPr/>
          <p:nvPr/>
        </p:nvSpPr>
        <p:spPr>
          <a:xfrm>
            <a:off x="6144768" y="4343400"/>
            <a:ext cx="1280160" cy="1097280"/>
          </a:xfrm>
          <a:prstGeom prst="roundRect">
            <a:avLst>
              <a:gd name="adj" fmla="val 10000"/>
            </a:avLst>
          </a:prstGeom>
          <a:solidFill>
            <a:schemeClr val="tx2"/>
          </a:solidFill>
        </p:spPr>
      </p:sp>
      <p:sp>
        <p:nvSpPr>
          <p:cNvPr id="48" name="Text 46"/>
          <p:cNvSpPr txBox="1"/>
          <p:nvPr/>
        </p:nvSpPr>
        <p:spPr>
          <a:xfrm>
            <a:off x="6144768" y="4407408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accent2"/>
                </a:solidFill>
              </a:rPr>
              <a:t>05</a:t>
            </a:r>
            <a:endParaRPr lang="en-US" sz="1300" dirty="0"/>
          </a:p>
        </p:txBody>
      </p:sp>
      <p:sp>
        <p:nvSpPr>
          <p:cNvPr id="49" name="Text 47"/>
          <p:cNvSpPr txBox="1"/>
          <p:nvPr/>
        </p:nvSpPr>
        <p:spPr>
          <a:xfrm>
            <a:off x="6190488" y="4709160"/>
            <a:ext cx="118872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Database Implementation</a:t>
            </a:r>
            <a:endParaRPr lang="en-US" sz="1200" dirty="0"/>
          </a:p>
        </p:txBody>
      </p:sp>
      <p:sp>
        <p:nvSpPr>
          <p:cNvPr id="50" name="phase Testing"/>
          <p:cNvSpPr/>
          <p:nvPr/>
        </p:nvSpPr>
        <p:spPr>
          <a:xfrm>
            <a:off x="7543800" y="4343400"/>
            <a:ext cx="1280160" cy="1097280"/>
          </a:xfrm>
          <a:prstGeom prst="roundRect">
            <a:avLst>
              <a:gd name="adj" fmla="val 10000"/>
            </a:avLst>
          </a:prstGeom>
          <a:solidFill>
            <a:schemeClr val="tx2"/>
          </a:solidFill>
        </p:spPr>
      </p:sp>
      <p:sp>
        <p:nvSpPr>
          <p:cNvPr id="51" name="Text 49"/>
          <p:cNvSpPr txBox="1"/>
          <p:nvPr/>
        </p:nvSpPr>
        <p:spPr>
          <a:xfrm>
            <a:off x="7543800" y="4407408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accent2"/>
                </a:solidFill>
              </a:rPr>
              <a:t>06</a:t>
            </a:r>
            <a:endParaRPr lang="en-US" sz="1300" dirty="0"/>
          </a:p>
        </p:txBody>
      </p:sp>
      <p:sp>
        <p:nvSpPr>
          <p:cNvPr id="52" name="Text 50"/>
          <p:cNvSpPr txBox="1"/>
          <p:nvPr/>
        </p:nvSpPr>
        <p:spPr>
          <a:xfrm>
            <a:off x="7589520" y="4709160"/>
            <a:ext cx="118872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Testing</a:t>
            </a:r>
            <a:endParaRPr lang="en-US" sz="1200" dirty="0"/>
          </a:p>
        </p:txBody>
      </p:sp>
      <p:sp>
        <p:nvSpPr>
          <p:cNvPr id="53" name="phase Deployment"/>
          <p:cNvSpPr/>
          <p:nvPr/>
        </p:nvSpPr>
        <p:spPr>
          <a:xfrm>
            <a:off x="8942832" y="4343400"/>
            <a:ext cx="1280160" cy="1097280"/>
          </a:xfrm>
          <a:prstGeom prst="roundRect">
            <a:avLst>
              <a:gd name="adj" fmla="val 10000"/>
            </a:avLst>
          </a:prstGeom>
          <a:solidFill>
            <a:schemeClr val="tx2"/>
          </a:solidFill>
        </p:spPr>
      </p:sp>
      <p:sp>
        <p:nvSpPr>
          <p:cNvPr id="54" name="Text 52"/>
          <p:cNvSpPr txBox="1"/>
          <p:nvPr/>
        </p:nvSpPr>
        <p:spPr>
          <a:xfrm>
            <a:off x="8942832" y="4407408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accent2"/>
                </a:solidFill>
              </a:rPr>
              <a:t>07</a:t>
            </a:r>
            <a:endParaRPr lang="en-US" sz="1300" dirty="0"/>
          </a:p>
        </p:txBody>
      </p:sp>
      <p:sp>
        <p:nvSpPr>
          <p:cNvPr id="55" name="Text 53"/>
          <p:cNvSpPr txBox="1"/>
          <p:nvPr/>
        </p:nvSpPr>
        <p:spPr>
          <a:xfrm>
            <a:off x="8988552" y="4709160"/>
            <a:ext cx="118872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Deployment</a:t>
            </a:r>
            <a:endParaRPr lang="en-US" sz="1200" dirty="0"/>
          </a:p>
        </p:txBody>
      </p:sp>
      <p:sp>
        <p:nvSpPr>
          <p:cNvPr id="56" name="phase Maintenance &amp; Enhancement"/>
          <p:cNvSpPr/>
          <p:nvPr/>
        </p:nvSpPr>
        <p:spPr>
          <a:xfrm>
            <a:off x="10341864" y="4343400"/>
            <a:ext cx="1280160" cy="1097280"/>
          </a:xfrm>
          <a:prstGeom prst="roundRect">
            <a:avLst>
              <a:gd name="adj" fmla="val 10000"/>
            </a:avLst>
          </a:prstGeom>
          <a:solidFill>
            <a:schemeClr val="tx2"/>
          </a:solidFill>
        </p:spPr>
      </p:sp>
      <p:sp>
        <p:nvSpPr>
          <p:cNvPr id="57" name="Text 55"/>
          <p:cNvSpPr txBox="1"/>
          <p:nvPr/>
        </p:nvSpPr>
        <p:spPr>
          <a:xfrm>
            <a:off x="10341864" y="4407408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accent2"/>
                </a:solidFill>
              </a:rPr>
              <a:t>08</a:t>
            </a:r>
            <a:endParaRPr lang="en-US" sz="1300" dirty="0"/>
          </a:p>
        </p:txBody>
      </p:sp>
      <p:sp>
        <p:nvSpPr>
          <p:cNvPr id="58" name="Text 56"/>
          <p:cNvSpPr txBox="1"/>
          <p:nvPr/>
        </p:nvSpPr>
        <p:spPr>
          <a:xfrm>
            <a:off x="10387584" y="4709160"/>
            <a:ext cx="118872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Maintenance &amp; Enhancement</a:t>
            </a:r>
            <a:endParaRPr lang="en-US" sz="1200" dirty="0"/>
          </a:p>
        </p:txBody>
      </p:sp>
      <p:sp>
        <p:nvSpPr>
          <p:cNvPr id="6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98480" y="6446520"/>
            <a:ext cx="914400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548640" y="274320"/>
            <a:ext cx="1106424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Implementation</a:t>
            </a:r>
            <a:endParaRPr lang="en-US" sz="3200" dirty="0"/>
          </a:p>
        </p:txBody>
      </p:sp>
      <p:sp>
        <p:nvSpPr>
          <p:cNvPr id="3" name="impl Frontend"/>
          <p:cNvSpPr/>
          <p:nvPr/>
        </p:nvSpPr>
        <p:spPr>
          <a:xfrm>
            <a:off x="548640" y="1234440"/>
            <a:ext cx="6400800" cy="731520"/>
          </a:xfrm>
          <a:prstGeom prst="roundRect">
            <a:avLst>
              <a:gd name="adj" fmla="val 15000"/>
            </a:avLst>
          </a:prstGeom>
          <a:solidFill>
            <a:schemeClr val="bg2"/>
          </a:solidFill>
        </p:spPr>
      </p:sp>
      <p:sp>
        <p:nvSpPr>
          <p:cNvPr id="4" name="Frontend icon bg"/>
          <p:cNvSpPr/>
          <p:nvPr/>
        </p:nvSpPr>
        <p:spPr>
          <a:xfrm>
            <a:off x="685800" y="1344168"/>
            <a:ext cx="512064" cy="512064"/>
          </a:xfrm>
          <a:prstGeom prst="ellipse">
            <a:avLst/>
          </a:prstGeom>
          <a:solidFill>
            <a:schemeClr val="accent1"/>
          </a:solidFill>
        </p:spPr>
      </p:sp>
      <p:pic>
        <p:nvPicPr>
          <p:cNvPr id="5" name="Image 0" descr="Frontend icon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4057" y="1482425"/>
            <a:ext cx="235549" cy="235549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71600" y="1280160"/>
            <a:ext cx="20116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Frontend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3429000" y="1280160"/>
            <a:ext cx="34290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HTML5, CSS3, JavaScript pages; AJAX for dynamic updates.</a:t>
            </a:r>
            <a:endParaRPr lang="en-US" sz="1200" dirty="0"/>
          </a:p>
        </p:txBody>
      </p:sp>
      <p:sp>
        <p:nvSpPr>
          <p:cNvPr id="8" name="impl Django backend"/>
          <p:cNvSpPr/>
          <p:nvPr/>
        </p:nvSpPr>
        <p:spPr>
          <a:xfrm>
            <a:off x="548640" y="2057400"/>
            <a:ext cx="6400800" cy="731520"/>
          </a:xfrm>
          <a:prstGeom prst="roundRect">
            <a:avLst>
              <a:gd name="adj" fmla="val 15000"/>
            </a:avLst>
          </a:prstGeom>
          <a:solidFill>
            <a:schemeClr val="bg2"/>
          </a:solidFill>
        </p:spPr>
      </p:sp>
      <p:sp>
        <p:nvSpPr>
          <p:cNvPr id="9" name="Django backend icon bg"/>
          <p:cNvSpPr/>
          <p:nvPr/>
        </p:nvSpPr>
        <p:spPr>
          <a:xfrm>
            <a:off x="685800" y="2167128"/>
            <a:ext cx="512064" cy="512064"/>
          </a:xfrm>
          <a:prstGeom prst="ellipse">
            <a:avLst/>
          </a:prstGeom>
          <a:solidFill>
            <a:schemeClr val="accent1"/>
          </a:solidFill>
        </p:spPr>
      </p:sp>
      <p:pic>
        <p:nvPicPr>
          <p:cNvPr id="10" name="Image 1" descr="Django backend ico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4057" y="2305385"/>
            <a:ext cx="235549" cy="235549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371600" y="2103120"/>
            <a:ext cx="20116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Django backend</a:t>
            </a:r>
            <a:endParaRPr lang="en-US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3429000" y="2103120"/>
            <a:ext cx="34290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Views, business logic, authentication and admin features.</a:t>
            </a:r>
            <a:endParaRPr lang="en-US" sz="1200" dirty="0"/>
          </a:p>
        </p:txBody>
      </p:sp>
      <p:sp>
        <p:nvSpPr>
          <p:cNvPr id="13" name="impl SQLite database"/>
          <p:cNvSpPr/>
          <p:nvPr/>
        </p:nvSpPr>
        <p:spPr>
          <a:xfrm>
            <a:off x="548640" y="2880360"/>
            <a:ext cx="6400800" cy="731520"/>
          </a:xfrm>
          <a:prstGeom prst="roundRect">
            <a:avLst>
              <a:gd name="adj" fmla="val 15000"/>
            </a:avLst>
          </a:prstGeom>
          <a:solidFill>
            <a:schemeClr val="bg2"/>
          </a:solidFill>
        </p:spPr>
      </p:sp>
      <p:sp>
        <p:nvSpPr>
          <p:cNvPr id="14" name="SQLite database icon bg"/>
          <p:cNvSpPr/>
          <p:nvPr/>
        </p:nvSpPr>
        <p:spPr>
          <a:xfrm>
            <a:off x="685800" y="2990088"/>
            <a:ext cx="512064" cy="512064"/>
          </a:xfrm>
          <a:prstGeom prst="ellipse">
            <a:avLst/>
          </a:prstGeom>
          <a:solidFill>
            <a:schemeClr val="accent1"/>
          </a:solidFill>
        </p:spPr>
      </p:sp>
      <p:pic>
        <p:nvPicPr>
          <p:cNvPr id="15" name="Image 2" descr="SQLite database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057" y="3128345"/>
            <a:ext cx="235549" cy="235549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371600" y="2926080"/>
            <a:ext cx="20116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SQLite database</a:t>
            </a:r>
            <a:endParaRPr lang="en-US" sz="1400" dirty="0"/>
          </a:p>
        </p:txBody>
      </p:sp>
      <p:sp>
        <p:nvSpPr>
          <p:cNvPr id="17" name="Text 12"/>
          <p:cNvSpPr txBox="1"/>
          <p:nvPr/>
        </p:nvSpPr>
        <p:spPr>
          <a:xfrm>
            <a:off x="3429000" y="2926080"/>
            <a:ext cx="34290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Accessed via Django ORM; entities follow the ER diagram.</a:t>
            </a:r>
            <a:endParaRPr lang="en-US" sz="1200" dirty="0"/>
          </a:p>
        </p:txBody>
      </p:sp>
      <p:sp>
        <p:nvSpPr>
          <p:cNvPr id="18" name="impl Auth &amp; profiles"/>
          <p:cNvSpPr/>
          <p:nvPr/>
        </p:nvSpPr>
        <p:spPr>
          <a:xfrm>
            <a:off x="548640" y="3703320"/>
            <a:ext cx="6400800" cy="731520"/>
          </a:xfrm>
          <a:prstGeom prst="roundRect">
            <a:avLst>
              <a:gd name="adj" fmla="val 15000"/>
            </a:avLst>
          </a:prstGeom>
          <a:solidFill>
            <a:schemeClr val="bg2"/>
          </a:solidFill>
        </p:spPr>
      </p:sp>
      <p:sp>
        <p:nvSpPr>
          <p:cNvPr id="19" name="Auth &amp; profiles icon bg"/>
          <p:cNvSpPr/>
          <p:nvPr/>
        </p:nvSpPr>
        <p:spPr>
          <a:xfrm>
            <a:off x="685800" y="3813048"/>
            <a:ext cx="512064" cy="512064"/>
          </a:xfrm>
          <a:prstGeom prst="ellipse">
            <a:avLst/>
          </a:prstGeom>
          <a:solidFill>
            <a:schemeClr val="accent1"/>
          </a:solidFill>
        </p:spPr>
      </p:sp>
      <p:pic>
        <p:nvPicPr>
          <p:cNvPr id="20" name="Image 3" descr="Auth &amp; profiles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4057" y="3951305"/>
            <a:ext cx="235549" cy="235549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371600" y="3749040"/>
            <a:ext cx="20116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Auth &amp; profiles</a:t>
            </a:r>
            <a:endParaRPr lang="en-US" sz="1400" dirty="0"/>
          </a:p>
        </p:txBody>
      </p:sp>
      <p:sp>
        <p:nvSpPr>
          <p:cNvPr id="22" name="Text 16"/>
          <p:cNvSpPr txBox="1"/>
          <p:nvPr/>
        </p:nvSpPr>
        <p:spPr>
          <a:xfrm>
            <a:off x="3429000" y="3749040"/>
            <a:ext cx="34290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Registration, login, profile with travel preferences.</a:t>
            </a:r>
            <a:endParaRPr lang="en-US" sz="1200" dirty="0"/>
          </a:p>
        </p:txBody>
      </p:sp>
      <p:sp>
        <p:nvSpPr>
          <p:cNvPr id="23" name="impl Publish &amp; search"/>
          <p:cNvSpPr/>
          <p:nvPr/>
        </p:nvSpPr>
        <p:spPr>
          <a:xfrm>
            <a:off x="548640" y="4526280"/>
            <a:ext cx="6400800" cy="731520"/>
          </a:xfrm>
          <a:prstGeom prst="roundRect">
            <a:avLst>
              <a:gd name="adj" fmla="val 15000"/>
            </a:avLst>
          </a:prstGeom>
          <a:solidFill>
            <a:schemeClr val="bg2"/>
          </a:solidFill>
        </p:spPr>
      </p:sp>
      <p:sp>
        <p:nvSpPr>
          <p:cNvPr id="24" name="Publish &amp; search icon bg"/>
          <p:cNvSpPr/>
          <p:nvPr/>
        </p:nvSpPr>
        <p:spPr>
          <a:xfrm>
            <a:off x="685800" y="4636008"/>
            <a:ext cx="512064" cy="512064"/>
          </a:xfrm>
          <a:prstGeom prst="ellipse">
            <a:avLst/>
          </a:prstGeom>
          <a:solidFill>
            <a:schemeClr val="accent1"/>
          </a:solidFill>
        </p:spPr>
      </p:sp>
      <p:pic>
        <p:nvPicPr>
          <p:cNvPr id="25" name="Image 4" descr="Publish &amp; search 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4057" y="4774265"/>
            <a:ext cx="235549" cy="235549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1371600" y="4572000"/>
            <a:ext cx="20116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Publish &amp; search</a:t>
            </a:r>
            <a:endParaRPr lang="en-US" sz="1400" dirty="0"/>
          </a:p>
        </p:txBody>
      </p:sp>
      <p:sp>
        <p:nvSpPr>
          <p:cNvPr id="27" name="Text 20"/>
          <p:cNvSpPr txBox="1"/>
          <p:nvPr/>
        </p:nvSpPr>
        <p:spPr>
          <a:xfrm>
            <a:off x="3429000" y="4572000"/>
            <a:ext cx="34290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Publish rides; search by origin and destination.</a:t>
            </a:r>
            <a:endParaRPr lang="en-US" sz="1200" dirty="0"/>
          </a:p>
        </p:txBody>
      </p:sp>
      <p:sp>
        <p:nvSpPr>
          <p:cNvPr id="28" name="impl Requests &amp; alerts"/>
          <p:cNvSpPr/>
          <p:nvPr/>
        </p:nvSpPr>
        <p:spPr>
          <a:xfrm>
            <a:off x="548640" y="5349240"/>
            <a:ext cx="6400800" cy="731520"/>
          </a:xfrm>
          <a:prstGeom prst="roundRect">
            <a:avLst>
              <a:gd name="adj" fmla="val 15000"/>
            </a:avLst>
          </a:prstGeom>
          <a:solidFill>
            <a:schemeClr val="bg2"/>
          </a:solidFill>
        </p:spPr>
      </p:sp>
      <p:sp>
        <p:nvSpPr>
          <p:cNvPr id="29" name="Requests &amp; alerts icon bg"/>
          <p:cNvSpPr/>
          <p:nvPr/>
        </p:nvSpPr>
        <p:spPr>
          <a:xfrm>
            <a:off x="685800" y="5458968"/>
            <a:ext cx="512064" cy="512064"/>
          </a:xfrm>
          <a:prstGeom prst="ellipse">
            <a:avLst/>
          </a:prstGeom>
          <a:solidFill>
            <a:schemeClr val="accent1"/>
          </a:solidFill>
        </p:spPr>
      </p:sp>
      <p:pic>
        <p:nvPicPr>
          <p:cNvPr id="30" name="Image 5" descr="Requests &amp; alerts icon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4057" y="5597225"/>
            <a:ext cx="235549" cy="235549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1371600" y="5394960"/>
            <a:ext cx="20116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Requests &amp; alerts</a:t>
            </a:r>
            <a:endParaRPr lang="en-US" sz="1400" dirty="0"/>
          </a:p>
        </p:txBody>
      </p:sp>
      <p:sp>
        <p:nvSpPr>
          <p:cNvPr id="32" name="Text 24"/>
          <p:cNvSpPr txBox="1"/>
          <p:nvPr/>
        </p:nvSpPr>
        <p:spPr>
          <a:xfrm>
            <a:off x="3429000" y="5394960"/>
            <a:ext cx="34290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Request → notify → accept/decline → status update; reviews and payments follow.</a:t>
            </a:r>
            <a:endParaRPr lang="en-US" sz="1200" dirty="0"/>
          </a:p>
        </p:txBody>
      </p:sp>
      <p:pic>
        <p:nvPicPr>
          <p:cNvPr id="33" name="Image 6" descr="ER diagram of POOLMATE database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23760" y="1234440"/>
            <a:ext cx="4389120" cy="3017520"/>
          </a:xfrm>
          <a:prstGeom prst="rect">
            <a:avLst/>
          </a:prstGeom>
        </p:spPr>
      </p:pic>
      <p:sp>
        <p:nvSpPr>
          <p:cNvPr id="34" name="Text 25"/>
          <p:cNvSpPr txBox="1"/>
          <p:nvPr/>
        </p:nvSpPr>
        <p:spPr>
          <a:xfrm>
            <a:off x="7223760" y="4297680"/>
            <a:ext cx="438912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i="1" dirty="0">
                <a:solidFill>
                  <a:schemeClr val="accent4"/>
                </a:solidFill>
              </a:rPr>
              <a:t>ER diagram: database design</a:t>
            </a:r>
            <a:endParaRPr lang="en-US" sz="1200" dirty="0"/>
          </a:p>
        </p:txBody>
      </p:sp>
      <p:sp>
        <p:nvSpPr>
          <p:cNvPr id="3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98480" y="6446520"/>
            <a:ext cx="914400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548640" y="274320"/>
            <a:ext cx="1106424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Results / Analysis</a:t>
            </a:r>
            <a:endParaRPr lang="en-US" sz="3200" dirty="0"/>
          </a:p>
        </p:txBody>
      </p:sp>
      <p:sp>
        <p:nvSpPr>
          <p:cNvPr id="3" name="implemented functionality"/>
          <p:cNvSpPr/>
          <p:nvPr/>
        </p:nvSpPr>
        <p:spPr>
          <a:xfrm>
            <a:off x="548640" y="1234440"/>
            <a:ext cx="5669280" cy="4206240"/>
          </a:xfrm>
          <a:prstGeom prst="roundRect">
            <a:avLst>
              <a:gd name="adj" fmla="val 2609"/>
            </a:avLst>
          </a:prstGeom>
          <a:solidFill>
            <a:schemeClr val="bg2"/>
          </a:solidFill>
        </p:spPr>
      </p:sp>
      <p:sp>
        <p:nvSpPr>
          <p:cNvPr id="4" name="Text 2"/>
          <p:cNvSpPr txBox="1"/>
          <p:nvPr/>
        </p:nvSpPr>
        <p:spPr>
          <a:xfrm>
            <a:off x="777240" y="1371600"/>
            <a:ext cx="530352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Implemented functionality (per project documentation)</a:t>
            </a:r>
            <a:endParaRPr lang="en-US" sz="1500" dirty="0"/>
          </a:p>
        </p:txBody>
      </p:sp>
      <p:sp>
        <p:nvSpPr>
          <p:cNvPr id="5" name="check bg"/>
          <p:cNvSpPr/>
          <p:nvPr/>
        </p:nvSpPr>
        <p:spPr>
          <a:xfrm>
            <a:off x="777240" y="1874520"/>
            <a:ext cx="274320" cy="274320"/>
          </a:xfrm>
          <a:prstGeom prst="ellipse">
            <a:avLst/>
          </a:prstGeom>
          <a:solidFill>
            <a:schemeClr val="accent3"/>
          </a:solidFill>
        </p:spPr>
      </p:sp>
      <p:pic>
        <p:nvPicPr>
          <p:cNvPr id="6" name="Image 0" descr="check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" y="1929384"/>
            <a:ext cx="164592" cy="16459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234440" y="1828800"/>
            <a:ext cx="48463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User registration and login</a:t>
            </a:r>
            <a:endParaRPr lang="en-US" sz="1400" dirty="0"/>
          </a:p>
        </p:txBody>
      </p:sp>
      <p:sp>
        <p:nvSpPr>
          <p:cNvPr id="8" name="check bg"/>
          <p:cNvSpPr/>
          <p:nvPr/>
        </p:nvSpPr>
        <p:spPr>
          <a:xfrm>
            <a:off x="777240" y="2267712"/>
            <a:ext cx="274320" cy="274320"/>
          </a:xfrm>
          <a:prstGeom prst="ellipse">
            <a:avLst/>
          </a:prstGeom>
          <a:solidFill>
            <a:schemeClr val="accent3"/>
          </a:solidFill>
        </p:spPr>
      </p:sp>
      <p:pic>
        <p:nvPicPr>
          <p:cNvPr id="9" name="Image 1" descr="check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" y="2322576"/>
            <a:ext cx="164592" cy="164592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234440" y="2221992"/>
            <a:ext cx="48463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Profile and preferences</a:t>
            </a:r>
            <a:endParaRPr lang="en-US" sz="1400" dirty="0"/>
          </a:p>
        </p:txBody>
      </p:sp>
      <p:sp>
        <p:nvSpPr>
          <p:cNvPr id="11" name="check bg"/>
          <p:cNvSpPr/>
          <p:nvPr/>
        </p:nvSpPr>
        <p:spPr>
          <a:xfrm>
            <a:off x="777240" y="2660904"/>
            <a:ext cx="274320" cy="274320"/>
          </a:xfrm>
          <a:prstGeom prst="ellipse">
            <a:avLst/>
          </a:prstGeom>
          <a:solidFill>
            <a:schemeClr val="accent3"/>
          </a:solidFill>
        </p:spPr>
      </p:sp>
      <p:pic>
        <p:nvPicPr>
          <p:cNvPr id="12" name="Image 2" descr="check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" y="2715768"/>
            <a:ext cx="164592" cy="164592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234440" y="2615184"/>
            <a:ext cx="48463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Ride publishing</a:t>
            </a:r>
            <a:endParaRPr lang="en-US" sz="1400" dirty="0"/>
          </a:p>
        </p:txBody>
      </p:sp>
      <p:sp>
        <p:nvSpPr>
          <p:cNvPr id="14" name="check bg"/>
          <p:cNvSpPr/>
          <p:nvPr/>
        </p:nvSpPr>
        <p:spPr>
          <a:xfrm>
            <a:off x="777240" y="3054096"/>
            <a:ext cx="274320" cy="274320"/>
          </a:xfrm>
          <a:prstGeom prst="ellipse">
            <a:avLst/>
          </a:prstGeom>
          <a:solidFill>
            <a:schemeClr val="accent3"/>
          </a:solidFill>
        </p:spPr>
      </p:sp>
      <p:pic>
        <p:nvPicPr>
          <p:cNvPr id="15" name="Image 3" descr="check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" y="3108960"/>
            <a:ext cx="164592" cy="164592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1234440" y="3008376"/>
            <a:ext cx="48463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Ride search by origin / destination</a:t>
            </a:r>
            <a:endParaRPr lang="en-US" sz="1400" dirty="0"/>
          </a:p>
        </p:txBody>
      </p:sp>
      <p:sp>
        <p:nvSpPr>
          <p:cNvPr id="17" name="check bg"/>
          <p:cNvSpPr/>
          <p:nvPr/>
        </p:nvSpPr>
        <p:spPr>
          <a:xfrm>
            <a:off x="777240" y="3447288"/>
            <a:ext cx="274320" cy="274320"/>
          </a:xfrm>
          <a:prstGeom prst="ellipse">
            <a:avLst/>
          </a:prstGeom>
          <a:solidFill>
            <a:schemeClr val="accent3"/>
          </a:solidFill>
        </p:spPr>
      </p:sp>
      <p:pic>
        <p:nvPicPr>
          <p:cNvPr id="18" name="Image 4" descr="check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" y="3502152"/>
            <a:ext cx="164592" cy="164592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1234440" y="3401568"/>
            <a:ext cx="48463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Ride requests with accept / decline</a:t>
            </a:r>
            <a:endParaRPr lang="en-US" sz="1400" dirty="0"/>
          </a:p>
        </p:txBody>
      </p:sp>
      <p:sp>
        <p:nvSpPr>
          <p:cNvPr id="20" name="check bg"/>
          <p:cNvSpPr/>
          <p:nvPr/>
        </p:nvSpPr>
        <p:spPr>
          <a:xfrm>
            <a:off x="777240" y="3840480"/>
            <a:ext cx="274320" cy="274320"/>
          </a:xfrm>
          <a:prstGeom prst="ellipse">
            <a:avLst/>
          </a:prstGeom>
          <a:solidFill>
            <a:schemeClr val="accent3"/>
          </a:solidFill>
        </p:spPr>
      </p:sp>
      <p:pic>
        <p:nvPicPr>
          <p:cNvPr id="21" name="Image 5" descr="check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" y="3895344"/>
            <a:ext cx="164592" cy="164592"/>
          </a:xfrm>
          <a:prstGeom prst="rect">
            <a:avLst/>
          </a:prstGeom>
        </p:spPr>
      </p:pic>
      <p:sp>
        <p:nvSpPr>
          <p:cNvPr id="22" name="Text 14"/>
          <p:cNvSpPr txBox="1"/>
          <p:nvPr/>
        </p:nvSpPr>
        <p:spPr>
          <a:xfrm>
            <a:off x="1234440" y="3794760"/>
            <a:ext cx="48463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Notifications</a:t>
            </a:r>
            <a:endParaRPr lang="en-US" sz="1400" dirty="0"/>
          </a:p>
        </p:txBody>
      </p:sp>
      <p:sp>
        <p:nvSpPr>
          <p:cNvPr id="23" name="check bg"/>
          <p:cNvSpPr/>
          <p:nvPr/>
        </p:nvSpPr>
        <p:spPr>
          <a:xfrm>
            <a:off x="777240" y="4233672"/>
            <a:ext cx="274320" cy="274320"/>
          </a:xfrm>
          <a:prstGeom prst="ellipse">
            <a:avLst/>
          </a:prstGeom>
          <a:solidFill>
            <a:schemeClr val="accent3"/>
          </a:solidFill>
        </p:spPr>
      </p:sp>
      <p:pic>
        <p:nvPicPr>
          <p:cNvPr id="24" name="Image 6" descr="check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" y="4288536"/>
            <a:ext cx="164592" cy="164592"/>
          </a:xfrm>
          <a:prstGeom prst="rect">
            <a:avLst/>
          </a:prstGeom>
        </p:spPr>
      </p:pic>
      <p:sp>
        <p:nvSpPr>
          <p:cNvPr id="25" name="Text 16"/>
          <p:cNvSpPr txBox="1"/>
          <p:nvPr/>
        </p:nvSpPr>
        <p:spPr>
          <a:xfrm>
            <a:off x="1234440" y="4187952"/>
            <a:ext cx="48463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Reviews</a:t>
            </a:r>
            <a:endParaRPr lang="en-US" sz="1400" dirty="0"/>
          </a:p>
        </p:txBody>
      </p:sp>
      <p:sp>
        <p:nvSpPr>
          <p:cNvPr id="26" name="check bg"/>
          <p:cNvSpPr/>
          <p:nvPr/>
        </p:nvSpPr>
        <p:spPr>
          <a:xfrm>
            <a:off x="777240" y="4626864"/>
            <a:ext cx="274320" cy="274320"/>
          </a:xfrm>
          <a:prstGeom prst="ellipse">
            <a:avLst/>
          </a:prstGeom>
          <a:solidFill>
            <a:schemeClr val="accent3"/>
          </a:solidFill>
        </p:spPr>
      </p:sp>
      <p:pic>
        <p:nvPicPr>
          <p:cNvPr id="27" name="Image 7" descr="check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" y="4681728"/>
            <a:ext cx="164592" cy="164592"/>
          </a:xfrm>
          <a:prstGeom prst="rect">
            <a:avLst/>
          </a:prstGeom>
        </p:spPr>
      </p:pic>
      <p:sp>
        <p:nvSpPr>
          <p:cNvPr id="28" name="Text 18"/>
          <p:cNvSpPr txBox="1"/>
          <p:nvPr/>
        </p:nvSpPr>
        <p:spPr>
          <a:xfrm>
            <a:off x="1234440" y="4581144"/>
            <a:ext cx="48463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Payments</a:t>
            </a:r>
            <a:endParaRPr lang="en-US" sz="1400" dirty="0"/>
          </a:p>
        </p:txBody>
      </p:sp>
      <p:sp>
        <p:nvSpPr>
          <p:cNvPr id="29" name="check bg"/>
          <p:cNvSpPr/>
          <p:nvPr/>
        </p:nvSpPr>
        <p:spPr>
          <a:xfrm>
            <a:off x="777240" y="5020056"/>
            <a:ext cx="274320" cy="274320"/>
          </a:xfrm>
          <a:prstGeom prst="ellipse">
            <a:avLst/>
          </a:prstGeom>
          <a:solidFill>
            <a:schemeClr val="accent3"/>
          </a:solidFill>
        </p:spPr>
      </p:sp>
      <p:pic>
        <p:nvPicPr>
          <p:cNvPr id="30" name="Image 8" descr="check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" y="5074920"/>
            <a:ext cx="164592" cy="164592"/>
          </a:xfrm>
          <a:prstGeom prst="rect">
            <a:avLst/>
          </a:prstGeom>
        </p:spPr>
      </p:pic>
      <p:sp>
        <p:nvSpPr>
          <p:cNvPr id="31" name="Text 20"/>
          <p:cNvSpPr txBox="1"/>
          <p:nvPr/>
        </p:nvSpPr>
        <p:spPr>
          <a:xfrm>
            <a:off x="1234440" y="4974336"/>
            <a:ext cx="48463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Admin module</a:t>
            </a:r>
            <a:endParaRPr lang="en-US" sz="1400" dirty="0"/>
          </a:p>
        </p:txBody>
      </p:sp>
      <p:sp>
        <p:nvSpPr>
          <p:cNvPr id="32" name="strengths"/>
          <p:cNvSpPr/>
          <p:nvPr/>
        </p:nvSpPr>
        <p:spPr>
          <a:xfrm>
            <a:off x="6400800" y="1234440"/>
            <a:ext cx="5212080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</p:spPr>
      </p:sp>
      <p:sp>
        <p:nvSpPr>
          <p:cNvPr id="33" name="Text 22"/>
          <p:cNvSpPr txBox="1"/>
          <p:nvPr/>
        </p:nvSpPr>
        <p:spPr>
          <a:xfrm>
            <a:off x="6629400" y="1371600"/>
            <a:ext cx="4754880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Observed strengths</a:t>
            </a:r>
            <a:endParaRPr lang="en-US" sz="1500" dirty="0"/>
          </a:p>
        </p:txBody>
      </p:sp>
      <p:sp>
        <p:nvSpPr>
          <p:cNvPr id="34" name="Text 23"/>
          <p:cNvSpPr txBox="1"/>
          <p:nvPr/>
        </p:nvSpPr>
        <p:spPr>
          <a:xfrm>
            <a:off x="6629400" y="1783080"/>
            <a:ext cx="4754880" cy="1417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Publish, search, request and review in one platform</a:t>
            </a:r>
            <a:endParaRPr lang="en-US" sz="13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Structured request workflow with notifications</a:t>
            </a:r>
            <a:endParaRPr lang="en-US" sz="13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Simple interface, minimal training (feasibility study)</a:t>
            </a:r>
            <a:endParaRPr lang="en-US" sz="1300" dirty="0"/>
          </a:p>
        </p:txBody>
      </p:sp>
      <p:sp>
        <p:nvSpPr>
          <p:cNvPr id="35" name="weaknesses"/>
          <p:cNvSpPr/>
          <p:nvPr/>
        </p:nvSpPr>
        <p:spPr>
          <a:xfrm>
            <a:off x="6400800" y="3429000"/>
            <a:ext cx="5212080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</p:spPr>
      </p:sp>
      <p:sp>
        <p:nvSpPr>
          <p:cNvPr id="36" name="Text 25"/>
          <p:cNvSpPr txBox="1"/>
          <p:nvPr/>
        </p:nvSpPr>
        <p:spPr>
          <a:xfrm>
            <a:off x="6629400" y="3566160"/>
            <a:ext cx="4754880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5"/>
                </a:solidFill>
              </a:rPr>
              <a:t>Observed weaknesses</a:t>
            </a:r>
            <a:endParaRPr lang="en-US" sz="1500" dirty="0"/>
          </a:p>
        </p:txBody>
      </p:sp>
      <p:sp>
        <p:nvSpPr>
          <p:cNvPr id="37" name="Text 26"/>
          <p:cNvSpPr txBox="1"/>
          <p:nvPr/>
        </p:nvSpPr>
        <p:spPr>
          <a:xfrm>
            <a:off x="6629400" y="3977640"/>
            <a:ext cx="4754880" cy="1417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Four-wheeler rides only</a:t>
            </a:r>
            <a:endParaRPr lang="en-US" sz="13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Single-user model; no separate driver / passenger roles</a:t>
            </a:r>
            <a:endParaRPr lang="en-US" sz="13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No performance or user-study data collected yet</a:t>
            </a:r>
            <a:endParaRPr lang="en-US" sz="1300" dirty="0"/>
          </a:p>
        </p:txBody>
      </p:sp>
      <p:sp>
        <p:nvSpPr>
          <p:cNvPr id="38" name="benchmark note"/>
          <p:cNvSpPr/>
          <p:nvPr/>
        </p:nvSpPr>
        <p:spPr>
          <a:xfrm>
            <a:off x="548640" y="5623560"/>
            <a:ext cx="11064240" cy="594360"/>
          </a:xfrm>
          <a:prstGeom prst="roundRect">
            <a:avLst>
              <a:gd name="adj" fmla="val 18462"/>
            </a:avLst>
          </a:prstGeom>
          <a:solidFill>
            <a:schemeClr val="accent2"/>
          </a:solidFill>
        </p:spPr>
      </p:sp>
      <p:sp>
        <p:nvSpPr>
          <p:cNvPr id="39" name="Text 28"/>
          <p:cNvSpPr txBox="1"/>
          <p:nvPr/>
        </p:nvSpPr>
        <p:spPr>
          <a:xfrm>
            <a:off x="777240" y="5623560"/>
            <a:ext cx="1060704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Quantitative benchmarking (response time, load, user studies) was not provided; this is a qualitative functional analysis.</a:t>
            </a:r>
            <a:endParaRPr lang="en-US" sz="1400" dirty="0"/>
          </a:p>
        </p:txBody>
      </p:sp>
      <p:sp>
        <p:nvSpPr>
          <p:cNvPr id="4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98480" y="6446520"/>
            <a:ext cx="914400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548640" y="274320"/>
            <a:ext cx="1106424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Screenshots / Output</a:t>
            </a:r>
            <a:endParaRPr lang="en-US" sz="3200" dirty="0"/>
          </a:p>
        </p:txBody>
      </p:sp>
      <p:sp>
        <p:nvSpPr>
          <p:cNvPr id="3" name="screenshot placeholder Registration page"/>
          <p:cNvSpPr/>
          <p:nvPr/>
        </p:nvSpPr>
        <p:spPr>
          <a:xfrm>
            <a:off x="548640" y="1234440"/>
            <a:ext cx="2103120" cy="1737360"/>
          </a:xfrm>
          <a:prstGeom prst="rect">
            <a:avLst/>
          </a:prstGeom>
          <a:solidFill>
            <a:schemeClr val="bg2"/>
          </a:solidFill>
          <a:ln w="15875">
            <a:solidFill>
              <a:schemeClr val="accent5"/>
            </a:solidFill>
            <a:prstDash val="dash"/>
          </a:ln>
        </p:spPr>
      </p:sp>
      <p:pic>
        <p:nvPicPr>
          <p:cNvPr id="4" name="Image 0" descr="image placeholder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1645920"/>
            <a:ext cx="457200" cy="4572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2240280"/>
            <a:ext cx="210312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accent5"/>
                </a:solidFill>
              </a:rPr>
              <a:t>[Insert screenshot]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3017520"/>
            <a:ext cx="210312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2"/>
                </a:solidFill>
              </a:rPr>
              <a:t>Registration page</a:t>
            </a:r>
            <a:endParaRPr lang="en-US" sz="1300" dirty="0"/>
          </a:p>
        </p:txBody>
      </p:sp>
      <p:sp>
        <p:nvSpPr>
          <p:cNvPr id="7" name="screenshot placeholder Login page"/>
          <p:cNvSpPr/>
          <p:nvPr/>
        </p:nvSpPr>
        <p:spPr>
          <a:xfrm>
            <a:off x="2788920" y="1234440"/>
            <a:ext cx="2103120" cy="1737360"/>
          </a:xfrm>
          <a:prstGeom prst="rect">
            <a:avLst/>
          </a:prstGeom>
          <a:solidFill>
            <a:schemeClr val="bg2"/>
          </a:solidFill>
          <a:ln w="15875">
            <a:solidFill>
              <a:schemeClr val="accent5"/>
            </a:solidFill>
            <a:prstDash val="dash"/>
          </a:ln>
        </p:spPr>
      </p:sp>
      <p:pic>
        <p:nvPicPr>
          <p:cNvPr id="8" name="Image 1" descr="image placeholder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11880" y="1645920"/>
            <a:ext cx="457200" cy="45720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2788920" y="2240280"/>
            <a:ext cx="210312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accent5"/>
                </a:solidFill>
              </a:rPr>
              <a:t>[Insert screenshot]</a:t>
            </a:r>
            <a:endParaRPr lang="en-US" sz="1200" dirty="0"/>
          </a:p>
        </p:txBody>
      </p:sp>
      <p:sp>
        <p:nvSpPr>
          <p:cNvPr id="10" name="Text 6"/>
          <p:cNvSpPr txBox="1"/>
          <p:nvPr/>
        </p:nvSpPr>
        <p:spPr>
          <a:xfrm>
            <a:off x="2788920" y="3017520"/>
            <a:ext cx="210312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2"/>
                </a:solidFill>
              </a:rPr>
              <a:t>Login page</a:t>
            </a:r>
            <a:endParaRPr lang="en-US" sz="1300" dirty="0"/>
          </a:p>
        </p:txBody>
      </p:sp>
      <p:sp>
        <p:nvSpPr>
          <p:cNvPr id="11" name="screenshot placeholder User dashboard"/>
          <p:cNvSpPr/>
          <p:nvPr/>
        </p:nvSpPr>
        <p:spPr>
          <a:xfrm>
            <a:off x="5029200" y="1234440"/>
            <a:ext cx="2103120" cy="1737360"/>
          </a:xfrm>
          <a:prstGeom prst="rect">
            <a:avLst/>
          </a:prstGeom>
          <a:solidFill>
            <a:schemeClr val="bg2"/>
          </a:solidFill>
          <a:ln w="15875">
            <a:solidFill>
              <a:schemeClr val="accent5"/>
            </a:solidFill>
            <a:prstDash val="dash"/>
          </a:ln>
        </p:spPr>
      </p:sp>
      <p:pic>
        <p:nvPicPr>
          <p:cNvPr id="12" name="Image 2" descr="image placeholder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52160" y="1645920"/>
            <a:ext cx="457200" cy="45720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5029200" y="2240280"/>
            <a:ext cx="210312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accent5"/>
                </a:solidFill>
              </a:rPr>
              <a:t>[Insert screenshot]</a:t>
            </a:r>
            <a:endParaRPr lang="en-US" sz="1200" dirty="0"/>
          </a:p>
        </p:txBody>
      </p:sp>
      <p:sp>
        <p:nvSpPr>
          <p:cNvPr id="14" name="Text 9"/>
          <p:cNvSpPr txBox="1"/>
          <p:nvPr/>
        </p:nvSpPr>
        <p:spPr>
          <a:xfrm>
            <a:off x="5029200" y="3017520"/>
            <a:ext cx="210312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2"/>
                </a:solidFill>
              </a:rPr>
              <a:t>User dashboard</a:t>
            </a:r>
            <a:endParaRPr lang="en-US" sz="1300" dirty="0"/>
          </a:p>
        </p:txBody>
      </p:sp>
      <p:sp>
        <p:nvSpPr>
          <p:cNvPr id="15" name="screenshot placeholder Ride publishing page"/>
          <p:cNvSpPr/>
          <p:nvPr/>
        </p:nvSpPr>
        <p:spPr>
          <a:xfrm>
            <a:off x="7269480" y="1234440"/>
            <a:ext cx="2103120" cy="1737360"/>
          </a:xfrm>
          <a:prstGeom prst="rect">
            <a:avLst/>
          </a:prstGeom>
          <a:solidFill>
            <a:schemeClr val="bg2"/>
          </a:solidFill>
          <a:ln w="15875">
            <a:solidFill>
              <a:schemeClr val="accent5"/>
            </a:solidFill>
            <a:prstDash val="dash"/>
          </a:ln>
        </p:spPr>
      </p:sp>
      <p:pic>
        <p:nvPicPr>
          <p:cNvPr id="16" name="Image 3" descr="image placeholder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92440" y="1645920"/>
            <a:ext cx="457200" cy="45720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7269480" y="2240280"/>
            <a:ext cx="210312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accent5"/>
                </a:solidFill>
              </a:rPr>
              <a:t>[Insert screenshot]</a:t>
            </a:r>
            <a:endParaRPr lang="en-US" sz="1200" dirty="0"/>
          </a:p>
        </p:txBody>
      </p:sp>
      <p:sp>
        <p:nvSpPr>
          <p:cNvPr id="18" name="Text 12"/>
          <p:cNvSpPr txBox="1"/>
          <p:nvPr/>
        </p:nvSpPr>
        <p:spPr>
          <a:xfrm>
            <a:off x="7269480" y="3017520"/>
            <a:ext cx="210312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2"/>
                </a:solidFill>
              </a:rPr>
              <a:t>Ride publishing page</a:t>
            </a:r>
            <a:endParaRPr lang="en-US" sz="1300" dirty="0"/>
          </a:p>
        </p:txBody>
      </p:sp>
      <p:sp>
        <p:nvSpPr>
          <p:cNvPr id="19" name="screenshot placeholder Ride search results"/>
          <p:cNvSpPr/>
          <p:nvPr/>
        </p:nvSpPr>
        <p:spPr>
          <a:xfrm>
            <a:off x="9509760" y="1234440"/>
            <a:ext cx="2103120" cy="1737360"/>
          </a:xfrm>
          <a:prstGeom prst="rect">
            <a:avLst/>
          </a:prstGeom>
          <a:solidFill>
            <a:schemeClr val="bg2"/>
          </a:solidFill>
          <a:ln w="15875">
            <a:solidFill>
              <a:schemeClr val="accent5"/>
            </a:solidFill>
            <a:prstDash val="dash"/>
          </a:ln>
        </p:spPr>
      </p:sp>
      <p:pic>
        <p:nvPicPr>
          <p:cNvPr id="20" name="Image 4" descr="image placeholder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32720" y="1645920"/>
            <a:ext cx="457200" cy="457200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9509760" y="2240280"/>
            <a:ext cx="210312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accent5"/>
                </a:solidFill>
              </a:rPr>
              <a:t>[Insert screenshot]</a:t>
            </a:r>
            <a:endParaRPr lang="en-US" sz="1200" dirty="0"/>
          </a:p>
        </p:txBody>
      </p:sp>
      <p:sp>
        <p:nvSpPr>
          <p:cNvPr id="22" name="Text 15"/>
          <p:cNvSpPr txBox="1"/>
          <p:nvPr/>
        </p:nvSpPr>
        <p:spPr>
          <a:xfrm>
            <a:off x="9509760" y="3017520"/>
            <a:ext cx="210312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2"/>
                </a:solidFill>
              </a:rPr>
              <a:t>Ride search results</a:t>
            </a:r>
            <a:endParaRPr lang="en-US" sz="1300" dirty="0"/>
          </a:p>
        </p:txBody>
      </p:sp>
      <p:sp>
        <p:nvSpPr>
          <p:cNvPr id="23" name="screenshot placeholder Ride-request interface"/>
          <p:cNvSpPr/>
          <p:nvPr/>
        </p:nvSpPr>
        <p:spPr>
          <a:xfrm>
            <a:off x="548640" y="3566160"/>
            <a:ext cx="2103120" cy="1737360"/>
          </a:xfrm>
          <a:prstGeom prst="rect">
            <a:avLst/>
          </a:prstGeom>
          <a:solidFill>
            <a:schemeClr val="bg2"/>
          </a:solidFill>
          <a:ln w="15875">
            <a:solidFill>
              <a:schemeClr val="accent5"/>
            </a:solidFill>
            <a:prstDash val="dash"/>
          </a:ln>
        </p:spPr>
      </p:sp>
      <p:pic>
        <p:nvPicPr>
          <p:cNvPr id="24" name="Image 5" descr="image placeholder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3977640"/>
            <a:ext cx="457200" cy="457200"/>
          </a:xfrm>
          <a:prstGeom prst="rect">
            <a:avLst/>
          </a:prstGeom>
        </p:spPr>
      </p:pic>
      <p:sp>
        <p:nvSpPr>
          <p:cNvPr id="25" name="Text 17"/>
          <p:cNvSpPr txBox="1"/>
          <p:nvPr/>
        </p:nvSpPr>
        <p:spPr>
          <a:xfrm>
            <a:off x="548640" y="4572000"/>
            <a:ext cx="210312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accent5"/>
                </a:solidFill>
              </a:rPr>
              <a:t>[Insert screenshot]</a:t>
            </a:r>
            <a:endParaRPr lang="en-US" sz="1200" dirty="0"/>
          </a:p>
        </p:txBody>
      </p:sp>
      <p:sp>
        <p:nvSpPr>
          <p:cNvPr id="26" name="Text 18"/>
          <p:cNvSpPr txBox="1"/>
          <p:nvPr/>
        </p:nvSpPr>
        <p:spPr>
          <a:xfrm>
            <a:off x="548640" y="5349240"/>
            <a:ext cx="210312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2"/>
                </a:solidFill>
              </a:rPr>
              <a:t>Ride-request interface</a:t>
            </a:r>
            <a:endParaRPr lang="en-US" sz="1300" dirty="0"/>
          </a:p>
        </p:txBody>
      </p:sp>
      <p:sp>
        <p:nvSpPr>
          <p:cNvPr id="27" name="screenshot placeholder Notifications"/>
          <p:cNvSpPr/>
          <p:nvPr/>
        </p:nvSpPr>
        <p:spPr>
          <a:xfrm>
            <a:off x="2788920" y="3566160"/>
            <a:ext cx="2103120" cy="1737360"/>
          </a:xfrm>
          <a:prstGeom prst="rect">
            <a:avLst/>
          </a:prstGeom>
          <a:solidFill>
            <a:schemeClr val="bg2"/>
          </a:solidFill>
          <a:ln w="15875">
            <a:solidFill>
              <a:schemeClr val="accent5"/>
            </a:solidFill>
            <a:prstDash val="dash"/>
          </a:ln>
        </p:spPr>
      </p:sp>
      <p:pic>
        <p:nvPicPr>
          <p:cNvPr id="28" name="Image 6" descr="image placeholder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11880" y="3977640"/>
            <a:ext cx="457200" cy="457200"/>
          </a:xfrm>
          <a:prstGeom prst="rect">
            <a:avLst/>
          </a:prstGeom>
        </p:spPr>
      </p:pic>
      <p:sp>
        <p:nvSpPr>
          <p:cNvPr id="29" name="Text 20"/>
          <p:cNvSpPr txBox="1"/>
          <p:nvPr/>
        </p:nvSpPr>
        <p:spPr>
          <a:xfrm>
            <a:off x="2788920" y="4572000"/>
            <a:ext cx="210312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accent5"/>
                </a:solidFill>
              </a:rPr>
              <a:t>[Insert screenshot]</a:t>
            </a:r>
            <a:endParaRPr lang="en-US" sz="1200" dirty="0"/>
          </a:p>
        </p:txBody>
      </p:sp>
      <p:sp>
        <p:nvSpPr>
          <p:cNvPr id="30" name="Text 21"/>
          <p:cNvSpPr txBox="1"/>
          <p:nvPr/>
        </p:nvSpPr>
        <p:spPr>
          <a:xfrm>
            <a:off x="2788920" y="5349240"/>
            <a:ext cx="210312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2"/>
                </a:solidFill>
              </a:rPr>
              <a:t>Notifications</a:t>
            </a:r>
            <a:endParaRPr lang="en-US" sz="1300" dirty="0"/>
          </a:p>
        </p:txBody>
      </p:sp>
      <p:sp>
        <p:nvSpPr>
          <p:cNvPr id="31" name="screenshot placeholder Profile and review pages"/>
          <p:cNvSpPr/>
          <p:nvPr/>
        </p:nvSpPr>
        <p:spPr>
          <a:xfrm>
            <a:off x="5029200" y="3566160"/>
            <a:ext cx="2103120" cy="1737360"/>
          </a:xfrm>
          <a:prstGeom prst="rect">
            <a:avLst/>
          </a:prstGeom>
          <a:solidFill>
            <a:schemeClr val="bg2"/>
          </a:solidFill>
          <a:ln w="15875">
            <a:solidFill>
              <a:schemeClr val="accent5"/>
            </a:solidFill>
            <a:prstDash val="dash"/>
          </a:ln>
        </p:spPr>
      </p:sp>
      <p:pic>
        <p:nvPicPr>
          <p:cNvPr id="32" name="Image 7" descr="image placeholder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52160" y="3977640"/>
            <a:ext cx="457200" cy="457200"/>
          </a:xfrm>
          <a:prstGeom prst="rect">
            <a:avLst/>
          </a:prstGeom>
        </p:spPr>
      </p:pic>
      <p:sp>
        <p:nvSpPr>
          <p:cNvPr id="33" name="Text 23"/>
          <p:cNvSpPr txBox="1"/>
          <p:nvPr/>
        </p:nvSpPr>
        <p:spPr>
          <a:xfrm>
            <a:off x="5029200" y="4572000"/>
            <a:ext cx="210312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accent5"/>
                </a:solidFill>
              </a:rPr>
              <a:t>[Insert screenshot]</a:t>
            </a:r>
            <a:endParaRPr lang="en-US" sz="1200" dirty="0"/>
          </a:p>
        </p:txBody>
      </p:sp>
      <p:sp>
        <p:nvSpPr>
          <p:cNvPr id="34" name="Text 24"/>
          <p:cNvSpPr txBox="1"/>
          <p:nvPr/>
        </p:nvSpPr>
        <p:spPr>
          <a:xfrm>
            <a:off x="5029200" y="5349240"/>
            <a:ext cx="210312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2"/>
                </a:solidFill>
              </a:rPr>
              <a:t>Profile and review pages</a:t>
            </a:r>
            <a:endParaRPr lang="en-US" sz="1300" dirty="0"/>
          </a:p>
        </p:txBody>
      </p:sp>
      <p:sp>
        <p:nvSpPr>
          <p:cNvPr id="37" name="Text 26"/>
          <p:cNvSpPr txBox="1"/>
          <p:nvPr/>
        </p:nvSpPr>
        <p:spPr>
          <a:xfrm>
            <a:off x="7269480" y="4572000"/>
            <a:ext cx="210312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38" name="Text 27"/>
          <p:cNvSpPr txBox="1"/>
          <p:nvPr/>
        </p:nvSpPr>
        <p:spPr>
          <a:xfrm>
            <a:off x="7269480" y="5349240"/>
            <a:ext cx="210312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2"/>
                </a:solidFill>
              </a:rPr>
              <a:t>Payment interface</a:t>
            </a:r>
            <a:endParaRPr lang="en-US" sz="1300" dirty="0"/>
          </a:p>
        </p:txBody>
      </p:sp>
      <p:sp>
        <p:nvSpPr>
          <p:cNvPr id="39" name="screenshot placeholder Admin interface"/>
          <p:cNvSpPr/>
          <p:nvPr/>
        </p:nvSpPr>
        <p:spPr>
          <a:xfrm>
            <a:off x="9509760" y="3566160"/>
            <a:ext cx="2103120" cy="1737360"/>
          </a:xfrm>
          <a:prstGeom prst="rect">
            <a:avLst/>
          </a:prstGeom>
          <a:solidFill>
            <a:schemeClr val="bg2"/>
          </a:solidFill>
          <a:ln w="15875">
            <a:solidFill>
              <a:schemeClr val="accent5"/>
            </a:solidFill>
            <a:prstDash val="dash"/>
          </a:ln>
        </p:spPr>
      </p:sp>
      <p:pic>
        <p:nvPicPr>
          <p:cNvPr id="40" name="Image 9" descr="image placeholder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32720" y="3977640"/>
            <a:ext cx="457200" cy="457200"/>
          </a:xfrm>
          <a:prstGeom prst="rect">
            <a:avLst/>
          </a:prstGeom>
        </p:spPr>
      </p:pic>
      <p:sp>
        <p:nvSpPr>
          <p:cNvPr id="41" name="Text 29"/>
          <p:cNvSpPr txBox="1"/>
          <p:nvPr/>
        </p:nvSpPr>
        <p:spPr>
          <a:xfrm>
            <a:off x="9509760" y="4572000"/>
            <a:ext cx="210312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accent5"/>
                </a:solidFill>
              </a:rPr>
              <a:t>[Insert screenshot]</a:t>
            </a:r>
            <a:endParaRPr lang="en-US" sz="1200" dirty="0"/>
          </a:p>
        </p:txBody>
      </p:sp>
      <p:sp>
        <p:nvSpPr>
          <p:cNvPr id="42" name="Text 30"/>
          <p:cNvSpPr txBox="1"/>
          <p:nvPr/>
        </p:nvSpPr>
        <p:spPr>
          <a:xfrm>
            <a:off x="9509760" y="5349240"/>
            <a:ext cx="210312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2"/>
                </a:solidFill>
              </a:rPr>
              <a:t>Admin interface</a:t>
            </a:r>
            <a:endParaRPr lang="en-US" sz="1300" dirty="0"/>
          </a:p>
        </p:txBody>
      </p:sp>
      <p:sp>
        <p:nvSpPr>
          <p:cNvPr id="4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98480" y="6446520"/>
            <a:ext cx="914400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  <p:pic>
        <p:nvPicPr>
          <p:cNvPr id="46" name="Picture 45" descr="Screenshot 2026-10-12 13272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145" y="1231265"/>
            <a:ext cx="2129790" cy="1753235"/>
          </a:xfrm>
          <a:prstGeom prst="rect">
            <a:avLst/>
          </a:prstGeom>
        </p:spPr>
      </p:pic>
      <p:pic>
        <p:nvPicPr>
          <p:cNvPr id="47" name="Picture 46" descr="Screenshot 2026-10-12 13274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59710" y="1230630"/>
            <a:ext cx="2153285" cy="1753870"/>
          </a:xfrm>
          <a:prstGeom prst="rect">
            <a:avLst/>
          </a:prstGeom>
        </p:spPr>
      </p:pic>
      <p:pic>
        <p:nvPicPr>
          <p:cNvPr id="48" name="Picture 47" descr="Screenshot 2026-10-12 13282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9675" y="1226185"/>
            <a:ext cx="2140585" cy="1783715"/>
          </a:xfrm>
          <a:prstGeom prst="rect">
            <a:avLst/>
          </a:prstGeom>
        </p:spPr>
      </p:pic>
      <p:pic>
        <p:nvPicPr>
          <p:cNvPr id="49" name="Picture 48" descr="Screenshot 2026-10-12 13290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01535" y="1234440"/>
            <a:ext cx="2175510" cy="1770380"/>
          </a:xfrm>
          <a:prstGeom prst="rect">
            <a:avLst/>
          </a:prstGeom>
        </p:spPr>
      </p:pic>
      <p:pic>
        <p:nvPicPr>
          <p:cNvPr id="50" name="Picture 49" descr="Screenshot 2026-10-12 13284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86265" y="1230630"/>
            <a:ext cx="2162175" cy="1774190"/>
          </a:xfrm>
          <a:prstGeom prst="rect">
            <a:avLst/>
          </a:prstGeom>
        </p:spPr>
      </p:pic>
      <p:pic>
        <p:nvPicPr>
          <p:cNvPr id="51" name="Picture 50" descr="Screenshot 2026-10-12 13354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19675" y="3549650"/>
            <a:ext cx="2117090" cy="1799590"/>
          </a:xfrm>
          <a:prstGeom prst="rect">
            <a:avLst/>
          </a:prstGeom>
        </p:spPr>
      </p:pic>
      <p:pic>
        <p:nvPicPr>
          <p:cNvPr id="52" name="Picture 51" descr="Screenshot 2026-10-13 13355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765425" y="3557270"/>
            <a:ext cx="2147570" cy="1746885"/>
          </a:xfrm>
          <a:prstGeom prst="rect">
            <a:avLst/>
          </a:prstGeom>
        </p:spPr>
      </p:pic>
      <p:pic>
        <p:nvPicPr>
          <p:cNvPr id="45" name="Picture 44" descr="Screenshot 2026-10-13 19452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48640" y="3566160"/>
            <a:ext cx="2099945" cy="1779905"/>
          </a:xfrm>
          <a:prstGeom prst="rect">
            <a:avLst/>
          </a:prstGeom>
        </p:spPr>
      </p:pic>
      <p:pic>
        <p:nvPicPr>
          <p:cNvPr id="53" name="Picture 52" descr="Screenshot 2026-10-13 194751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509760" y="3566160"/>
            <a:ext cx="2132965" cy="1758315"/>
          </a:xfrm>
          <a:prstGeom prst="rect">
            <a:avLst/>
          </a:prstGeom>
        </p:spPr>
      </p:pic>
      <p:pic>
        <p:nvPicPr>
          <p:cNvPr id="54" name="Picture 53" descr="Screenshot 2026-10-13 20583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269480" y="3549650"/>
            <a:ext cx="2107565" cy="175387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548640" y="274320"/>
            <a:ext cx="1106424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Comparison with Existing System</a:t>
            </a:r>
            <a:endParaRPr lang="en-US" sz="3200" dirty="0"/>
          </a:p>
        </p:txBody>
      </p:sp>
      <p:graphicFrame>
        <p:nvGraphicFramePr>
          <p:cNvPr id="20" name="comparison table"/>
          <p:cNvGraphicFramePr>
            <a:graphicFrameLocks noGrp="1"/>
          </p:cNvGraphicFramePr>
          <p:nvPr/>
        </p:nvGraphicFramePr>
        <p:xfrm>
          <a:off x="548640" y="1234440"/>
          <a:ext cx="11064240" cy="4654296"/>
        </p:xfrm>
        <a:graphic>
          <a:graphicData uri="http://schemas.openxmlformats.org/drawingml/2006/table">
            <a:tbl>
              <a:tblPr/>
              <a:tblGrid>
                <a:gridCol w="2377440"/>
                <a:gridCol w="4480560"/>
                <a:gridCol w="4206240"/>
              </a:tblGrid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Feature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Existing carpooling apps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POOLMATE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Ride model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BlaBlaCar: intercity focus. Uber Pool / Ola Share: company-owned cabs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Peer-to-peer four-wheeler sharing between registered users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Ride publishing &amp; searching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Simple publish-and-search in one platform is lacking in most apps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Publish with origin, destination, time, seats; search by origin and destination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Request management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No integrated accept/decline workflow in most apps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Request → accept / decline with status update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Notifications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Not integrated into a single request workflow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Notifications for requests and decisions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Profiles &amp; reviews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Quick Ride lacks a strong review/rating system; unified profile/review is lacking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Profile with preferences; reviews for rides and users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Payments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Not compared in this study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Payment for booked rides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Admin management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Not compared in this study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Admin module for users and reviews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Accessibility / usability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Not compared in this study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Web-based; simple interface (feasibility study)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98480" y="6446520"/>
            <a:ext cx="914400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548640" y="274320"/>
            <a:ext cx="1106424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Testing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11064240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300" dirty="0"/>
          </a:p>
        </p:txBody>
      </p:sp>
      <p:graphicFrame>
        <p:nvGraphicFramePr>
          <p:cNvPr id="21" name="test case table"/>
          <p:cNvGraphicFramePr>
            <a:graphicFrameLocks noGrp="1"/>
          </p:cNvGraphicFramePr>
          <p:nvPr/>
        </p:nvGraphicFramePr>
        <p:xfrm>
          <a:off x="548640" y="1645920"/>
          <a:ext cx="11064240" cy="4389120"/>
        </p:xfrm>
        <a:graphic>
          <a:graphicData uri="http://schemas.openxmlformats.org/drawingml/2006/table">
            <a:tbl>
              <a:tblPr/>
              <a:tblGrid>
                <a:gridCol w="2651760"/>
                <a:gridCol w="4206240"/>
                <a:gridCol w="2468880"/>
                <a:gridCol w="1737360"/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Test Case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Expected Result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Actual Result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Status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Valid login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Login successful; dashboard shown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ym typeface="+mn-ea"/>
                        </a:rPr>
                        <a:t>successful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IN" altLang="en-US" sz="1200" i="1" dirty="0">
                          <a:solidFill>
                            <a:schemeClr val="accent5"/>
                          </a:solidFill>
                        </a:rPr>
                        <a:t>pass</a:t>
                      </a:r>
                      <a:endParaRPr lang="en-IN" altLang="en-US" sz="1200" i="1" dirty="0">
                        <a:solidFill>
                          <a:schemeClr val="accent5"/>
                        </a:solidFill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Invalid login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Error message displayed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ym typeface="+mn-ea"/>
                        </a:rPr>
                        <a:t>successful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IN" altLang="en-US" sz="1200" i="1" dirty="0">
                          <a:solidFill>
                            <a:schemeClr val="accent5"/>
                          </a:solidFill>
                        </a:rPr>
                        <a:t>pass</a:t>
                      </a:r>
                      <a:endParaRPr lang="en-IN" altLang="en-US" sz="1200" i="1" dirty="0">
                        <a:solidFill>
                          <a:schemeClr val="accent5"/>
                        </a:solidFill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User registration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Account created with valid details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ym typeface="+mn-ea"/>
                        </a:rPr>
                        <a:t>successful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IN" altLang="en-US" sz="1200" i="1" dirty="0">
                          <a:solidFill>
                            <a:schemeClr val="accent5"/>
                          </a:solidFill>
                        </a:rPr>
                        <a:t>pass</a:t>
                      </a:r>
                      <a:endParaRPr lang="en-IN" altLang="en-US" sz="1200" i="1" dirty="0">
                        <a:solidFill>
                          <a:schemeClr val="accent5"/>
                        </a:solidFill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Ride publishing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Ride saved and listed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ym typeface="+mn-ea"/>
                        </a:rPr>
                        <a:t>successful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IN" altLang="en-US" sz="1200" i="1" dirty="0">
                          <a:solidFill>
                            <a:schemeClr val="accent5"/>
                          </a:solidFill>
                        </a:rPr>
                        <a:t>pass</a:t>
                      </a:r>
                      <a:endParaRPr lang="en-IN" altLang="en-US" sz="1200" i="1" dirty="0">
                        <a:solidFill>
                          <a:schemeClr val="accent5"/>
                        </a:solidFill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Ride searching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Matching rides listed by origin / destination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ym typeface="+mn-ea"/>
                        </a:rPr>
                        <a:t>successful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IN" altLang="en-US" sz="1200" i="1" dirty="0">
                          <a:solidFill>
                            <a:schemeClr val="accent5"/>
                          </a:solidFill>
                        </a:rPr>
                        <a:t>pass</a:t>
                      </a:r>
                      <a:endParaRPr lang="en-IN" altLang="en-US" sz="1200" i="1" dirty="0">
                        <a:solidFill>
                          <a:schemeClr val="accent5"/>
                        </a:solidFill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Send ride request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Request saved; publisher notified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ym typeface="+mn-ea"/>
                        </a:rPr>
                        <a:t>successful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IN" altLang="en-US" sz="1200" i="1" dirty="0">
                          <a:solidFill>
                            <a:schemeClr val="accent5"/>
                          </a:solidFill>
                        </a:rPr>
                        <a:t>pass</a:t>
                      </a:r>
                      <a:endParaRPr lang="en-IN" altLang="en-US" sz="1200" i="1" dirty="0">
                        <a:solidFill>
                          <a:schemeClr val="accent5"/>
                        </a:solidFill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Accept / decline request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Status updated; seeker notified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ym typeface="+mn-ea"/>
                        </a:rPr>
                        <a:t>successful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IN" altLang="en-US" sz="1200" i="1" dirty="0">
                          <a:solidFill>
                            <a:schemeClr val="accent5"/>
                          </a:solidFill>
                        </a:rPr>
                        <a:t>pass</a:t>
                      </a:r>
                      <a:endParaRPr lang="en-IN" altLang="en-US" sz="1200" i="1" dirty="0">
                        <a:solidFill>
                          <a:schemeClr val="accent5"/>
                        </a:solidFill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Notifications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Shown on requests and decisions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ym typeface="+mn-ea"/>
                        </a:rPr>
                        <a:t>successful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IN" altLang="en-US" sz="1200" i="1" dirty="0">
                          <a:solidFill>
                            <a:schemeClr val="accent5"/>
                          </a:solidFill>
                        </a:rPr>
                        <a:t>pass</a:t>
                      </a:r>
                      <a:endParaRPr lang="en-IN" altLang="en-US" sz="1200" i="1" dirty="0">
                        <a:solidFill>
                          <a:schemeClr val="accent5"/>
                        </a:solidFill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Review submission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Review saved and visible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ym typeface="+mn-ea"/>
                        </a:rPr>
                        <a:t>successful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IN" altLang="en-US" sz="1200" i="1" dirty="0">
                          <a:solidFill>
                            <a:schemeClr val="accent5"/>
                          </a:solidFill>
                        </a:rPr>
                        <a:t>pass</a:t>
                      </a:r>
                      <a:endParaRPr lang="en-IN" altLang="en-US" sz="1200" i="1" dirty="0">
                        <a:solidFill>
                          <a:schemeClr val="accent5"/>
                        </a:solidFill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Payment operation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Payment recorded; status shown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ym typeface="+mn-ea"/>
                        </a:rPr>
                        <a:t>successful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IN" altLang="en-US" sz="1200" i="1" dirty="0">
                          <a:solidFill>
                            <a:schemeClr val="accent5"/>
                          </a:solidFill>
                        </a:rPr>
                        <a:t>pass</a:t>
                      </a:r>
                      <a:endParaRPr lang="en-IN" altLang="en-US" sz="1200" i="1" dirty="0">
                        <a:solidFill>
                          <a:schemeClr val="accent5"/>
                        </a:solidFill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6080760"/>
            <a:ext cx="1106424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98480" y="6446520"/>
            <a:ext cx="914400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548640" y="274320"/>
            <a:ext cx="1106424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Demo Video</a:t>
            </a:r>
            <a:endParaRPr lang="en-US" sz="3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4160520"/>
            <a:ext cx="6675120" cy="4114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4572000"/>
            <a:ext cx="667512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7498080" y="1280160"/>
            <a:ext cx="411480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9" name="demo step 1"/>
          <p:cNvSpPr/>
          <p:nvPr/>
        </p:nvSpPr>
        <p:spPr>
          <a:xfrm>
            <a:off x="7498080" y="1737360"/>
            <a:ext cx="4114800" cy="640080"/>
          </a:xfrm>
          <a:prstGeom prst="roundRect">
            <a:avLst>
              <a:gd name="adj" fmla="val 17143"/>
            </a:avLst>
          </a:prstGeom>
          <a:solidFill>
            <a:schemeClr val="bg2"/>
          </a:solidFill>
        </p:spPr>
      </p:sp>
      <p:sp>
        <p:nvSpPr>
          <p:cNvPr id="10" name="demo number 1"/>
          <p:cNvSpPr txBox="1"/>
          <p:nvPr/>
        </p:nvSpPr>
        <p:spPr>
          <a:xfrm>
            <a:off x="7607808" y="1847088"/>
            <a:ext cx="420624" cy="420624"/>
          </a:xfrm>
          <a:prstGeom prst="ellipse">
            <a:avLst/>
          </a:prstGeom>
          <a:solidFill>
            <a:schemeClr val="accent1"/>
          </a:solidFill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8183880" y="1737360"/>
            <a:ext cx="333756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Login</a:t>
            </a:r>
            <a:endParaRPr lang="en-US" sz="1400" dirty="0"/>
          </a:p>
        </p:txBody>
      </p:sp>
      <p:sp>
        <p:nvSpPr>
          <p:cNvPr id="12" name="demo step 2"/>
          <p:cNvSpPr/>
          <p:nvPr/>
        </p:nvSpPr>
        <p:spPr>
          <a:xfrm>
            <a:off x="7498080" y="2468880"/>
            <a:ext cx="4114800" cy="640080"/>
          </a:xfrm>
          <a:prstGeom prst="roundRect">
            <a:avLst>
              <a:gd name="adj" fmla="val 17143"/>
            </a:avLst>
          </a:prstGeom>
          <a:solidFill>
            <a:schemeClr val="bg2"/>
          </a:solidFill>
        </p:spPr>
      </p:sp>
      <p:sp>
        <p:nvSpPr>
          <p:cNvPr id="13" name="demo number 2"/>
          <p:cNvSpPr txBox="1"/>
          <p:nvPr/>
        </p:nvSpPr>
        <p:spPr>
          <a:xfrm>
            <a:off x="7607808" y="2578608"/>
            <a:ext cx="420624" cy="420624"/>
          </a:xfrm>
          <a:prstGeom prst="ellipse">
            <a:avLst/>
          </a:prstGeom>
          <a:solidFill>
            <a:schemeClr val="accent1"/>
          </a:solidFill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8183880" y="2468880"/>
            <a:ext cx="333756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Publish a ride</a:t>
            </a:r>
            <a:endParaRPr lang="en-US" sz="1400" dirty="0"/>
          </a:p>
        </p:txBody>
      </p:sp>
      <p:sp>
        <p:nvSpPr>
          <p:cNvPr id="15" name="demo step 3"/>
          <p:cNvSpPr/>
          <p:nvPr/>
        </p:nvSpPr>
        <p:spPr>
          <a:xfrm>
            <a:off x="7498080" y="3200400"/>
            <a:ext cx="4114800" cy="640080"/>
          </a:xfrm>
          <a:prstGeom prst="roundRect">
            <a:avLst>
              <a:gd name="adj" fmla="val 17143"/>
            </a:avLst>
          </a:prstGeom>
          <a:solidFill>
            <a:schemeClr val="bg2"/>
          </a:solidFill>
        </p:spPr>
      </p:sp>
      <p:sp>
        <p:nvSpPr>
          <p:cNvPr id="16" name="demo number 3"/>
          <p:cNvSpPr txBox="1"/>
          <p:nvPr/>
        </p:nvSpPr>
        <p:spPr>
          <a:xfrm>
            <a:off x="7607808" y="3310128"/>
            <a:ext cx="420624" cy="420624"/>
          </a:xfrm>
          <a:prstGeom prst="ellipse">
            <a:avLst/>
          </a:prstGeom>
          <a:solidFill>
            <a:schemeClr val="accent1"/>
          </a:solidFill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8183880" y="3200400"/>
            <a:ext cx="333756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Search for a ride</a:t>
            </a:r>
            <a:endParaRPr lang="en-US" sz="1400" dirty="0"/>
          </a:p>
        </p:txBody>
      </p:sp>
      <p:sp>
        <p:nvSpPr>
          <p:cNvPr id="18" name="demo step 4"/>
          <p:cNvSpPr/>
          <p:nvPr/>
        </p:nvSpPr>
        <p:spPr>
          <a:xfrm>
            <a:off x="7498080" y="3931920"/>
            <a:ext cx="4114800" cy="640080"/>
          </a:xfrm>
          <a:prstGeom prst="roundRect">
            <a:avLst>
              <a:gd name="adj" fmla="val 17143"/>
            </a:avLst>
          </a:prstGeom>
          <a:solidFill>
            <a:schemeClr val="bg2"/>
          </a:solidFill>
        </p:spPr>
      </p:sp>
      <p:sp>
        <p:nvSpPr>
          <p:cNvPr id="19" name="demo number 4"/>
          <p:cNvSpPr txBox="1"/>
          <p:nvPr/>
        </p:nvSpPr>
        <p:spPr>
          <a:xfrm>
            <a:off x="7607808" y="4041648"/>
            <a:ext cx="420624" cy="420624"/>
          </a:xfrm>
          <a:prstGeom prst="ellipse">
            <a:avLst/>
          </a:prstGeom>
          <a:solidFill>
            <a:schemeClr val="accent1"/>
          </a:solidFill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8183880" y="3931920"/>
            <a:ext cx="333756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Submit a ride request</a:t>
            </a:r>
            <a:endParaRPr lang="en-US" sz="1400" dirty="0"/>
          </a:p>
        </p:txBody>
      </p:sp>
      <p:sp>
        <p:nvSpPr>
          <p:cNvPr id="21" name="demo step 5"/>
          <p:cNvSpPr/>
          <p:nvPr/>
        </p:nvSpPr>
        <p:spPr>
          <a:xfrm>
            <a:off x="7498080" y="4663440"/>
            <a:ext cx="4114800" cy="640080"/>
          </a:xfrm>
          <a:prstGeom prst="roundRect">
            <a:avLst>
              <a:gd name="adj" fmla="val 17143"/>
            </a:avLst>
          </a:prstGeom>
          <a:solidFill>
            <a:schemeClr val="bg2"/>
          </a:solidFill>
        </p:spPr>
      </p:sp>
      <p:sp>
        <p:nvSpPr>
          <p:cNvPr id="22" name="demo number 5"/>
          <p:cNvSpPr txBox="1"/>
          <p:nvPr/>
        </p:nvSpPr>
        <p:spPr>
          <a:xfrm>
            <a:off x="7607808" y="4773168"/>
            <a:ext cx="420624" cy="420624"/>
          </a:xfrm>
          <a:prstGeom prst="ellipse">
            <a:avLst/>
          </a:prstGeom>
          <a:solidFill>
            <a:schemeClr val="accent1"/>
          </a:solidFill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8183880" y="4663440"/>
            <a:ext cx="333756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Accept or decline the request</a:t>
            </a:r>
            <a:endParaRPr lang="en-US" sz="1400" dirty="0"/>
          </a:p>
        </p:txBody>
      </p:sp>
      <p:sp>
        <p:nvSpPr>
          <p:cNvPr id="24" name="demo step 6"/>
          <p:cNvSpPr/>
          <p:nvPr/>
        </p:nvSpPr>
        <p:spPr>
          <a:xfrm>
            <a:off x="7498080" y="5394960"/>
            <a:ext cx="4114800" cy="640080"/>
          </a:xfrm>
          <a:prstGeom prst="roundRect">
            <a:avLst>
              <a:gd name="adj" fmla="val 17143"/>
            </a:avLst>
          </a:prstGeom>
          <a:solidFill>
            <a:schemeClr val="bg2"/>
          </a:solidFill>
        </p:spPr>
      </p:sp>
      <p:sp>
        <p:nvSpPr>
          <p:cNvPr id="25" name="demo number 6"/>
          <p:cNvSpPr txBox="1"/>
          <p:nvPr/>
        </p:nvSpPr>
        <p:spPr>
          <a:xfrm>
            <a:off x="7607808" y="5504688"/>
            <a:ext cx="420624" cy="420624"/>
          </a:xfrm>
          <a:prstGeom prst="ellipse">
            <a:avLst/>
          </a:prstGeom>
          <a:solidFill>
            <a:schemeClr val="accent1"/>
          </a:solidFill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6</a:t>
            </a:r>
            <a:endParaRPr lang="en-US" sz="1400" dirty="0"/>
          </a:p>
        </p:txBody>
      </p:sp>
      <p:sp>
        <p:nvSpPr>
          <p:cNvPr id="26" name="Text 23"/>
          <p:cNvSpPr txBox="1"/>
          <p:nvPr/>
        </p:nvSpPr>
        <p:spPr>
          <a:xfrm>
            <a:off x="8183880" y="5394960"/>
            <a:ext cx="333756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Show other features (notifications, review, payment, admin)</a:t>
            </a:r>
            <a:endParaRPr lang="en-US" sz="1200" dirty="0"/>
          </a:p>
        </p:txBody>
      </p:sp>
      <p:sp>
        <p:nvSpPr>
          <p:cNvPr id="2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98480" y="6446520"/>
            <a:ext cx="914400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548640" y="274320"/>
            <a:ext cx="1106424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Advantages</a:t>
            </a:r>
            <a:endParaRPr lang="en-US" sz="3200" dirty="0"/>
          </a:p>
        </p:txBody>
      </p:sp>
      <p:sp>
        <p:nvSpPr>
          <p:cNvPr id="3" name="advantage Convenient coordination"/>
          <p:cNvSpPr/>
          <p:nvPr/>
        </p:nvSpPr>
        <p:spPr>
          <a:xfrm>
            <a:off x="548640" y="1280160"/>
            <a:ext cx="2679192" cy="2331720"/>
          </a:xfrm>
          <a:prstGeom prst="roundRect">
            <a:avLst>
              <a:gd name="adj" fmla="val 4706"/>
            </a:avLst>
          </a:prstGeom>
          <a:solidFill>
            <a:schemeClr val="bg2"/>
          </a:solidFill>
        </p:spPr>
      </p:sp>
      <p:sp>
        <p:nvSpPr>
          <p:cNvPr id="4" name="Convenient coordination icon bg"/>
          <p:cNvSpPr/>
          <p:nvPr/>
        </p:nvSpPr>
        <p:spPr>
          <a:xfrm>
            <a:off x="777240" y="1508760"/>
            <a:ext cx="640080" cy="640080"/>
          </a:xfrm>
          <a:prstGeom prst="ellipse">
            <a:avLst/>
          </a:prstGeom>
          <a:solidFill>
            <a:schemeClr val="accent1"/>
          </a:solidFill>
        </p:spPr>
      </p:sp>
      <p:pic>
        <p:nvPicPr>
          <p:cNvPr id="5" name="Image 0" descr="Convenient coordination icon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0062" y="1681582"/>
            <a:ext cx="294437" cy="294437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77240" y="2286000"/>
            <a:ext cx="2221992" cy="4114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Convenient coordination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743200"/>
            <a:ext cx="2221992" cy="822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Publish and find rides in one place.</a:t>
            </a:r>
            <a:endParaRPr lang="en-US" sz="1400" dirty="0"/>
          </a:p>
        </p:txBody>
      </p:sp>
      <p:sp>
        <p:nvSpPr>
          <p:cNvPr id="8" name="advantage Shared expenses"/>
          <p:cNvSpPr/>
          <p:nvPr/>
        </p:nvSpPr>
        <p:spPr>
          <a:xfrm>
            <a:off x="3346704" y="1280160"/>
            <a:ext cx="2679192" cy="2331720"/>
          </a:xfrm>
          <a:prstGeom prst="roundRect">
            <a:avLst>
              <a:gd name="adj" fmla="val 4706"/>
            </a:avLst>
          </a:prstGeom>
          <a:solidFill>
            <a:schemeClr val="bg2"/>
          </a:solidFill>
        </p:spPr>
      </p:sp>
      <p:sp>
        <p:nvSpPr>
          <p:cNvPr id="9" name="Shared expenses icon bg"/>
          <p:cNvSpPr/>
          <p:nvPr/>
        </p:nvSpPr>
        <p:spPr>
          <a:xfrm>
            <a:off x="3575304" y="1508760"/>
            <a:ext cx="640080" cy="640080"/>
          </a:xfrm>
          <a:prstGeom prst="ellipse">
            <a:avLst/>
          </a:prstGeom>
          <a:solidFill>
            <a:schemeClr val="accent1"/>
          </a:solidFill>
        </p:spPr>
      </p:sp>
      <p:pic>
        <p:nvPicPr>
          <p:cNvPr id="10" name="Image 1" descr="Shared expenses ico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8126" y="1681582"/>
            <a:ext cx="294437" cy="294437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575304" y="2286000"/>
            <a:ext cx="2221992" cy="4114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Shared expenses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3575304" y="2743200"/>
            <a:ext cx="2221992" cy="822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Travel cost is split among co-travellers.</a:t>
            </a:r>
            <a:endParaRPr lang="en-US" sz="1400" dirty="0"/>
          </a:p>
        </p:txBody>
      </p:sp>
      <p:sp>
        <p:nvSpPr>
          <p:cNvPr id="13" name="advantage Simple publish and search"/>
          <p:cNvSpPr/>
          <p:nvPr/>
        </p:nvSpPr>
        <p:spPr>
          <a:xfrm>
            <a:off x="6144768" y="1280160"/>
            <a:ext cx="2679192" cy="2331720"/>
          </a:xfrm>
          <a:prstGeom prst="roundRect">
            <a:avLst>
              <a:gd name="adj" fmla="val 4706"/>
            </a:avLst>
          </a:prstGeom>
          <a:solidFill>
            <a:schemeClr val="bg2"/>
          </a:solidFill>
        </p:spPr>
      </p:sp>
      <p:sp>
        <p:nvSpPr>
          <p:cNvPr id="14" name="Simple publish and search icon bg"/>
          <p:cNvSpPr/>
          <p:nvPr/>
        </p:nvSpPr>
        <p:spPr>
          <a:xfrm>
            <a:off x="6373368" y="1508760"/>
            <a:ext cx="640080" cy="640080"/>
          </a:xfrm>
          <a:prstGeom prst="ellipse">
            <a:avLst/>
          </a:prstGeom>
          <a:solidFill>
            <a:schemeClr val="accent1"/>
          </a:solidFill>
        </p:spPr>
      </p:sp>
      <p:pic>
        <p:nvPicPr>
          <p:cNvPr id="15" name="Image 2" descr="Simple publish and search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6190" y="1681582"/>
            <a:ext cx="294437" cy="294437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373368" y="2286000"/>
            <a:ext cx="2221992" cy="4114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Simple publish and search</a:t>
            </a:r>
            <a:endParaRPr lang="en-US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6373368" y="2743200"/>
            <a:ext cx="2221992" cy="822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Origin, destination, time and seats.</a:t>
            </a:r>
            <a:endParaRPr lang="en-US" sz="1400" dirty="0"/>
          </a:p>
        </p:txBody>
      </p:sp>
      <p:sp>
        <p:nvSpPr>
          <p:cNvPr id="18" name="advantage Structured requests"/>
          <p:cNvSpPr/>
          <p:nvPr/>
        </p:nvSpPr>
        <p:spPr>
          <a:xfrm>
            <a:off x="8942832" y="1280160"/>
            <a:ext cx="2679192" cy="2331720"/>
          </a:xfrm>
          <a:prstGeom prst="roundRect">
            <a:avLst>
              <a:gd name="adj" fmla="val 4706"/>
            </a:avLst>
          </a:prstGeom>
          <a:solidFill>
            <a:schemeClr val="bg2"/>
          </a:solidFill>
        </p:spPr>
      </p:sp>
      <p:sp>
        <p:nvSpPr>
          <p:cNvPr id="19" name="Structured requests icon bg"/>
          <p:cNvSpPr/>
          <p:nvPr/>
        </p:nvSpPr>
        <p:spPr>
          <a:xfrm>
            <a:off x="9171432" y="1508760"/>
            <a:ext cx="640080" cy="640080"/>
          </a:xfrm>
          <a:prstGeom prst="ellipse">
            <a:avLst/>
          </a:prstGeom>
          <a:solidFill>
            <a:schemeClr val="accent1"/>
          </a:solidFill>
        </p:spPr>
      </p:sp>
      <p:pic>
        <p:nvPicPr>
          <p:cNvPr id="20" name="Image 3" descr="Structured requests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44254" y="1681582"/>
            <a:ext cx="294437" cy="294437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9171432" y="2286000"/>
            <a:ext cx="2221992" cy="4114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Structured requests</a:t>
            </a:r>
            <a:endParaRPr lang="en-US" sz="1600" dirty="0"/>
          </a:p>
        </p:txBody>
      </p:sp>
      <p:sp>
        <p:nvSpPr>
          <p:cNvPr id="22" name="Text 16"/>
          <p:cNvSpPr txBox="1"/>
          <p:nvPr/>
        </p:nvSpPr>
        <p:spPr>
          <a:xfrm>
            <a:off x="9171432" y="2743200"/>
            <a:ext cx="2221992" cy="822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Accept / decline with clear status.</a:t>
            </a:r>
            <a:endParaRPr lang="en-US" sz="1400" dirty="0"/>
          </a:p>
        </p:txBody>
      </p:sp>
      <p:sp>
        <p:nvSpPr>
          <p:cNvPr id="23" name="advantage Better coordination"/>
          <p:cNvSpPr/>
          <p:nvPr/>
        </p:nvSpPr>
        <p:spPr>
          <a:xfrm>
            <a:off x="548640" y="3794760"/>
            <a:ext cx="3566160" cy="2331720"/>
          </a:xfrm>
          <a:prstGeom prst="roundRect">
            <a:avLst>
              <a:gd name="adj" fmla="val 4706"/>
            </a:avLst>
          </a:prstGeom>
          <a:solidFill>
            <a:schemeClr val="bg2"/>
          </a:solidFill>
        </p:spPr>
      </p:sp>
      <p:sp>
        <p:nvSpPr>
          <p:cNvPr id="24" name="Better coordination icon bg"/>
          <p:cNvSpPr/>
          <p:nvPr/>
        </p:nvSpPr>
        <p:spPr>
          <a:xfrm>
            <a:off x="777240" y="4023360"/>
            <a:ext cx="640080" cy="640080"/>
          </a:xfrm>
          <a:prstGeom prst="ellipse">
            <a:avLst/>
          </a:prstGeom>
          <a:solidFill>
            <a:schemeClr val="accent1"/>
          </a:solidFill>
        </p:spPr>
      </p:sp>
      <p:pic>
        <p:nvPicPr>
          <p:cNvPr id="25" name="Image 4" descr="Better coordination 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0062" y="4196182"/>
            <a:ext cx="294437" cy="294437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777240" y="4800600"/>
            <a:ext cx="3108960" cy="4114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Better coordination</a:t>
            </a:r>
            <a:endParaRPr lang="en-US" sz="1600" dirty="0"/>
          </a:p>
        </p:txBody>
      </p:sp>
      <p:sp>
        <p:nvSpPr>
          <p:cNvPr id="27" name="Text 20"/>
          <p:cNvSpPr txBox="1"/>
          <p:nvPr/>
        </p:nvSpPr>
        <p:spPr>
          <a:xfrm>
            <a:off x="777240" y="5257800"/>
            <a:ext cx="3108960" cy="822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Notifications keep both sides informed.</a:t>
            </a:r>
            <a:endParaRPr lang="en-US" sz="1400" dirty="0"/>
          </a:p>
        </p:txBody>
      </p:sp>
      <p:sp>
        <p:nvSpPr>
          <p:cNvPr id="28" name="advantage Trust building"/>
          <p:cNvSpPr/>
          <p:nvPr/>
        </p:nvSpPr>
        <p:spPr>
          <a:xfrm>
            <a:off x="4297680" y="3794760"/>
            <a:ext cx="3566160" cy="2331720"/>
          </a:xfrm>
          <a:prstGeom prst="roundRect">
            <a:avLst>
              <a:gd name="adj" fmla="val 4706"/>
            </a:avLst>
          </a:prstGeom>
          <a:solidFill>
            <a:schemeClr val="bg2"/>
          </a:solidFill>
        </p:spPr>
      </p:sp>
      <p:sp>
        <p:nvSpPr>
          <p:cNvPr id="29" name="Trust building icon bg"/>
          <p:cNvSpPr/>
          <p:nvPr/>
        </p:nvSpPr>
        <p:spPr>
          <a:xfrm>
            <a:off x="4526280" y="4023360"/>
            <a:ext cx="640080" cy="640080"/>
          </a:xfrm>
          <a:prstGeom prst="ellipse">
            <a:avLst/>
          </a:prstGeom>
          <a:solidFill>
            <a:schemeClr val="accent1"/>
          </a:solidFill>
        </p:spPr>
      </p:sp>
      <p:pic>
        <p:nvPicPr>
          <p:cNvPr id="30" name="Image 5" descr="Trust building icon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99102" y="4196182"/>
            <a:ext cx="294437" cy="294437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4526280" y="4800600"/>
            <a:ext cx="3108960" cy="4114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Trust building</a:t>
            </a:r>
            <a:endParaRPr lang="en-US" sz="1600" dirty="0"/>
          </a:p>
        </p:txBody>
      </p:sp>
      <p:sp>
        <p:nvSpPr>
          <p:cNvPr id="32" name="Text 24"/>
          <p:cNvSpPr txBox="1"/>
          <p:nvPr/>
        </p:nvSpPr>
        <p:spPr>
          <a:xfrm>
            <a:off x="4526280" y="5257800"/>
            <a:ext cx="3108960" cy="822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Profiles and reviews help co-travellers trust each other.</a:t>
            </a:r>
            <a:endParaRPr lang="en-US" sz="1400" dirty="0"/>
          </a:p>
        </p:txBody>
      </p:sp>
      <p:sp>
        <p:nvSpPr>
          <p:cNvPr id="33" name="advantage Fewer vehicles (potential)"/>
          <p:cNvSpPr/>
          <p:nvPr/>
        </p:nvSpPr>
        <p:spPr>
          <a:xfrm>
            <a:off x="8046720" y="3794760"/>
            <a:ext cx="3566160" cy="2331720"/>
          </a:xfrm>
          <a:prstGeom prst="roundRect">
            <a:avLst>
              <a:gd name="adj" fmla="val 4706"/>
            </a:avLst>
          </a:prstGeom>
          <a:solidFill>
            <a:schemeClr val="bg2"/>
          </a:solidFill>
        </p:spPr>
      </p:sp>
      <p:sp>
        <p:nvSpPr>
          <p:cNvPr id="34" name="Fewer vehicles (potential) icon bg"/>
          <p:cNvSpPr/>
          <p:nvPr/>
        </p:nvSpPr>
        <p:spPr>
          <a:xfrm>
            <a:off x="8275320" y="4023360"/>
            <a:ext cx="640080" cy="640080"/>
          </a:xfrm>
          <a:prstGeom prst="ellipse">
            <a:avLst/>
          </a:prstGeom>
          <a:solidFill>
            <a:schemeClr val="accent3"/>
          </a:solidFill>
        </p:spPr>
      </p:sp>
      <p:pic>
        <p:nvPicPr>
          <p:cNvPr id="35" name="Image 6" descr="Fewer vehicles (potential) icon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48142" y="4196182"/>
            <a:ext cx="294437" cy="294437"/>
          </a:xfrm>
          <a:prstGeom prst="rect">
            <a:avLst/>
          </a:prstGeom>
        </p:spPr>
      </p:pic>
      <p:sp>
        <p:nvSpPr>
          <p:cNvPr id="36" name="Text 27"/>
          <p:cNvSpPr txBox="1"/>
          <p:nvPr/>
        </p:nvSpPr>
        <p:spPr>
          <a:xfrm>
            <a:off x="8275320" y="4800600"/>
            <a:ext cx="3108960" cy="4114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Fewer vehicles (potential)</a:t>
            </a:r>
            <a:endParaRPr lang="en-US" sz="1600" dirty="0"/>
          </a:p>
        </p:txBody>
      </p:sp>
      <p:sp>
        <p:nvSpPr>
          <p:cNvPr id="37" name="Text 28"/>
          <p:cNvSpPr txBox="1"/>
          <p:nvPr/>
        </p:nvSpPr>
        <p:spPr>
          <a:xfrm>
            <a:off x="8275320" y="5257800"/>
            <a:ext cx="3108960" cy="822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When users genuinely share rides, fewer cars are needed.</a:t>
            </a:r>
            <a:endParaRPr lang="en-US" sz="1400" dirty="0"/>
          </a:p>
        </p:txBody>
      </p:sp>
      <p:sp>
        <p:nvSpPr>
          <p:cNvPr id="3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98480" y="6446520"/>
            <a:ext cx="914400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548640" y="274320"/>
            <a:ext cx="1106424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Limitations</a:t>
            </a:r>
            <a:endParaRPr lang="en-US" sz="3200" dirty="0"/>
          </a:p>
        </p:txBody>
      </p:sp>
      <p:sp>
        <p:nvSpPr>
          <p:cNvPr id="3" name="confirmed limitations"/>
          <p:cNvSpPr/>
          <p:nvPr/>
        </p:nvSpPr>
        <p:spPr>
          <a:xfrm>
            <a:off x="548640" y="1280160"/>
            <a:ext cx="5486400" cy="3749040"/>
          </a:xfrm>
          <a:prstGeom prst="roundRect">
            <a:avLst>
              <a:gd name="adj" fmla="val 2927"/>
            </a:avLst>
          </a:prstGeom>
          <a:solidFill>
            <a:schemeClr val="bg2"/>
          </a:solidFill>
        </p:spPr>
      </p:sp>
      <p:sp>
        <p:nvSpPr>
          <p:cNvPr id="4" name="Text 2"/>
          <p:cNvSpPr txBox="1"/>
          <p:nvPr/>
        </p:nvSpPr>
        <p:spPr>
          <a:xfrm>
            <a:off x="777240" y="1463040"/>
            <a:ext cx="2651760" cy="365760"/>
          </a:xfrm>
          <a:prstGeom prst="roundRect">
            <a:avLst>
              <a:gd name="adj" fmla="val 20000"/>
            </a:avLst>
          </a:prstGeom>
          <a:solidFill>
            <a:schemeClr val="accent5"/>
          </a:solidFill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CONFIRMED (CURRENT SCOPE)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057400"/>
            <a:ext cx="5029200" cy="2926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Four-wheeler carpooling only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Single-user model: no separate driver / passenger roles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Works only when users publish rides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Matching depends on suitable origin, destination and time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No performance benchmarking or user study yet</a:t>
            </a:r>
            <a:endParaRPr lang="en-US" sz="1600" dirty="0"/>
          </a:p>
        </p:txBody>
      </p:sp>
      <p:sp>
        <p:nvSpPr>
          <p:cNvPr id="6" name="possible concerns outline"/>
          <p:cNvSpPr/>
          <p:nvPr/>
        </p:nvSpPr>
        <p:spPr>
          <a:xfrm>
            <a:off x="6309360" y="1280160"/>
            <a:ext cx="5303520" cy="3749040"/>
          </a:xfrm>
          <a:prstGeom prst="roundRect">
            <a:avLst>
              <a:gd name="adj" fmla="val 2927"/>
            </a:avLst>
          </a:prstGeom>
          <a:ln w="19050">
            <a:solidFill>
              <a:schemeClr val="accent2"/>
            </a:solidFill>
            <a:prstDash val="dash"/>
          </a:ln>
        </p:spPr>
      </p:sp>
      <p:sp>
        <p:nvSpPr>
          <p:cNvPr id="7" name="Text 5"/>
          <p:cNvSpPr txBox="1"/>
          <p:nvPr/>
        </p:nvSpPr>
        <p:spPr>
          <a:xfrm>
            <a:off x="6537960" y="1463040"/>
            <a:ext cx="3749040" cy="365760"/>
          </a:xfrm>
          <a:prstGeom prst="roundRect">
            <a:avLst>
              <a:gd name="adj" fmla="val 20000"/>
            </a:avLst>
          </a:prstGeom>
          <a:solidFill>
            <a:schemeClr val="accent2"/>
          </a:solidFill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2"/>
                </a:solidFill>
              </a:rPr>
              <a:t>POSSIBLE FUTURE CONCERNS (NOT TESTED)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6537960" y="2057400"/>
            <a:ext cx="4846320" cy="2926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Adoption and ride availability depend on community size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SQLite may limit scalability for many concurrent users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Identity verification and extra safety features are not covered yet</a:t>
            </a:r>
            <a:endParaRPr lang="en-US" sz="1600" dirty="0"/>
          </a:p>
        </p:txBody>
      </p:sp>
      <p:sp>
        <p:nvSpPr>
          <p:cNvPr id="9" name="limitations note"/>
          <p:cNvSpPr/>
          <p:nvPr/>
        </p:nvSpPr>
        <p:spPr>
          <a:xfrm>
            <a:off x="548640" y="5257800"/>
            <a:ext cx="11064240" cy="914400"/>
          </a:xfrm>
          <a:prstGeom prst="roundRect">
            <a:avLst>
              <a:gd name="adj" fmla="val 12000"/>
            </a:avLst>
          </a:prstGeom>
          <a:solidFill>
            <a:schemeClr val="accent6"/>
          </a:solidFill>
        </p:spPr>
      </p:sp>
      <p:sp>
        <p:nvSpPr>
          <p:cNvPr id="10" name="Text 8"/>
          <p:cNvSpPr txBox="1"/>
          <p:nvPr/>
        </p:nvSpPr>
        <p:spPr>
          <a:xfrm>
            <a:off x="777240" y="5257800"/>
            <a:ext cx="1060704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Confirmed limitations come from the current project scope. Possible concerns are expectations that have not been tested.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98480" y="6446520"/>
            <a:ext cx="914400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548640" y="274320"/>
            <a:ext cx="1106424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Conclusion</a:t>
            </a:r>
            <a:endParaRPr lang="en-US" sz="3200" dirty="0"/>
          </a:p>
        </p:txBody>
      </p:sp>
      <p:sp>
        <p:nvSpPr>
          <p:cNvPr id="3" name="conclusion Problem"/>
          <p:cNvSpPr/>
          <p:nvPr/>
        </p:nvSpPr>
        <p:spPr>
          <a:xfrm>
            <a:off x="548640" y="1280160"/>
            <a:ext cx="2103120" cy="3474720"/>
          </a:xfrm>
          <a:prstGeom prst="roundRect">
            <a:avLst>
              <a:gd name="adj" fmla="val 5217"/>
            </a:avLst>
          </a:prstGeom>
          <a:solidFill>
            <a:schemeClr val="bg2"/>
          </a:solidFill>
        </p:spPr>
      </p:sp>
      <p:sp>
        <p:nvSpPr>
          <p:cNvPr id="4" name="Problem icon bg"/>
          <p:cNvSpPr/>
          <p:nvPr/>
        </p:nvSpPr>
        <p:spPr>
          <a:xfrm>
            <a:off x="1280160" y="1463040"/>
            <a:ext cx="640080" cy="640080"/>
          </a:xfrm>
          <a:prstGeom prst="ellipse">
            <a:avLst/>
          </a:prstGeom>
          <a:solidFill>
            <a:schemeClr val="accent1"/>
          </a:solidFill>
        </p:spPr>
      </p:sp>
      <p:pic>
        <p:nvPicPr>
          <p:cNvPr id="5" name="Image 0" descr="Problem icon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52982" y="1635862"/>
            <a:ext cx="294437" cy="294437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85800" y="224028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</a:rPr>
              <a:t>Problem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713232" y="2697480"/>
            <a:ext cx="1783080" cy="20116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No simple platform for sharing four-wheeler rides and managing requests with trust.</a:t>
            </a:r>
            <a:endParaRPr lang="en-US" sz="1400" dirty="0"/>
          </a:p>
        </p:txBody>
      </p:sp>
      <p:sp>
        <p:nvSpPr>
          <p:cNvPr id="8" name="conclusion Solution"/>
          <p:cNvSpPr/>
          <p:nvPr/>
        </p:nvSpPr>
        <p:spPr>
          <a:xfrm>
            <a:off x="2788920" y="1280160"/>
            <a:ext cx="2103120" cy="3474720"/>
          </a:xfrm>
          <a:prstGeom prst="roundRect">
            <a:avLst>
              <a:gd name="adj" fmla="val 5217"/>
            </a:avLst>
          </a:prstGeom>
          <a:solidFill>
            <a:schemeClr val="bg2"/>
          </a:solidFill>
        </p:spPr>
      </p:sp>
      <p:sp>
        <p:nvSpPr>
          <p:cNvPr id="9" name="Solution icon bg"/>
          <p:cNvSpPr/>
          <p:nvPr/>
        </p:nvSpPr>
        <p:spPr>
          <a:xfrm>
            <a:off x="3520440" y="1463040"/>
            <a:ext cx="640080" cy="640080"/>
          </a:xfrm>
          <a:prstGeom prst="ellipse">
            <a:avLst/>
          </a:prstGeom>
          <a:solidFill>
            <a:schemeClr val="accent1"/>
          </a:solidFill>
        </p:spPr>
      </p:sp>
      <p:pic>
        <p:nvPicPr>
          <p:cNvPr id="10" name="Image 1" descr="Solution ico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3262" y="1635862"/>
            <a:ext cx="294437" cy="294437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2926080" y="224028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</a:rPr>
              <a:t>Solution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2953512" y="2697480"/>
            <a:ext cx="1783080" cy="20116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POOLMATE: publish, search, request, accept / decline and notify in one web platform.</a:t>
            </a:r>
            <a:endParaRPr lang="en-US" sz="1400" dirty="0"/>
          </a:p>
        </p:txBody>
      </p:sp>
      <p:sp>
        <p:nvSpPr>
          <p:cNvPr id="13" name="conclusion Functionality"/>
          <p:cNvSpPr/>
          <p:nvPr/>
        </p:nvSpPr>
        <p:spPr>
          <a:xfrm>
            <a:off x="5029200" y="1280160"/>
            <a:ext cx="2103120" cy="3474720"/>
          </a:xfrm>
          <a:prstGeom prst="roundRect">
            <a:avLst>
              <a:gd name="adj" fmla="val 5217"/>
            </a:avLst>
          </a:prstGeom>
          <a:solidFill>
            <a:schemeClr val="bg2"/>
          </a:solidFill>
        </p:spPr>
      </p:sp>
      <p:sp>
        <p:nvSpPr>
          <p:cNvPr id="14" name="Functionality icon bg"/>
          <p:cNvSpPr/>
          <p:nvPr/>
        </p:nvSpPr>
        <p:spPr>
          <a:xfrm>
            <a:off x="5760720" y="1463040"/>
            <a:ext cx="640080" cy="640080"/>
          </a:xfrm>
          <a:prstGeom prst="ellipse">
            <a:avLst/>
          </a:prstGeom>
          <a:solidFill>
            <a:schemeClr val="accent1"/>
          </a:solidFill>
        </p:spPr>
      </p:sp>
      <p:pic>
        <p:nvPicPr>
          <p:cNvPr id="15" name="Image 2" descr="Functionality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3542" y="1635862"/>
            <a:ext cx="294437" cy="294437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5166360" y="224028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</a:rPr>
              <a:t>Functionality</a:t>
            </a:r>
            <a:endParaRPr lang="en-US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5193792" y="2697480"/>
            <a:ext cx="1783080" cy="20116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Registration, profiles, ride publishing and search, requests, notifications, reviews, payments, admin.</a:t>
            </a:r>
            <a:endParaRPr lang="en-US" sz="1400" dirty="0"/>
          </a:p>
        </p:txBody>
      </p:sp>
      <p:sp>
        <p:nvSpPr>
          <p:cNvPr id="18" name="conclusion Technologies"/>
          <p:cNvSpPr/>
          <p:nvPr/>
        </p:nvSpPr>
        <p:spPr>
          <a:xfrm>
            <a:off x="7269480" y="1280160"/>
            <a:ext cx="2103120" cy="3474720"/>
          </a:xfrm>
          <a:prstGeom prst="roundRect">
            <a:avLst>
              <a:gd name="adj" fmla="val 5217"/>
            </a:avLst>
          </a:prstGeom>
          <a:solidFill>
            <a:schemeClr val="bg2"/>
          </a:solidFill>
        </p:spPr>
      </p:sp>
      <p:sp>
        <p:nvSpPr>
          <p:cNvPr id="19" name="Technologies icon bg"/>
          <p:cNvSpPr/>
          <p:nvPr/>
        </p:nvSpPr>
        <p:spPr>
          <a:xfrm>
            <a:off x="8001000" y="1463040"/>
            <a:ext cx="640080" cy="640080"/>
          </a:xfrm>
          <a:prstGeom prst="ellipse">
            <a:avLst/>
          </a:prstGeom>
          <a:solidFill>
            <a:schemeClr val="accent1"/>
          </a:solidFill>
        </p:spPr>
      </p:sp>
      <p:pic>
        <p:nvPicPr>
          <p:cNvPr id="20" name="Image 3" descr="Technologies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73822" y="1635862"/>
            <a:ext cx="294437" cy="294437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7406640" y="224028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</a:rPr>
              <a:t>Technologies</a:t>
            </a:r>
            <a:endParaRPr lang="en-US" sz="1600" dirty="0"/>
          </a:p>
        </p:txBody>
      </p:sp>
      <p:sp>
        <p:nvSpPr>
          <p:cNvPr id="22" name="Text 16"/>
          <p:cNvSpPr txBox="1"/>
          <p:nvPr/>
        </p:nvSpPr>
        <p:spPr>
          <a:xfrm>
            <a:off x="7434072" y="2697480"/>
            <a:ext cx="1783080" cy="20116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HTML, CSS, JavaScript, AJAX; Python and Django; SQLite.</a:t>
            </a:r>
            <a:endParaRPr lang="en-US" sz="1400" dirty="0"/>
          </a:p>
        </p:txBody>
      </p:sp>
      <p:sp>
        <p:nvSpPr>
          <p:cNvPr id="23" name="conclusion Contribution"/>
          <p:cNvSpPr/>
          <p:nvPr/>
        </p:nvSpPr>
        <p:spPr>
          <a:xfrm>
            <a:off x="9509760" y="1280160"/>
            <a:ext cx="2103120" cy="3474720"/>
          </a:xfrm>
          <a:prstGeom prst="roundRect">
            <a:avLst>
              <a:gd name="adj" fmla="val 5217"/>
            </a:avLst>
          </a:prstGeom>
          <a:solidFill>
            <a:schemeClr val="bg2"/>
          </a:solidFill>
        </p:spPr>
      </p:sp>
      <p:sp>
        <p:nvSpPr>
          <p:cNvPr id="24" name="Contribution icon bg"/>
          <p:cNvSpPr/>
          <p:nvPr/>
        </p:nvSpPr>
        <p:spPr>
          <a:xfrm>
            <a:off x="10241280" y="1463040"/>
            <a:ext cx="640080" cy="640080"/>
          </a:xfrm>
          <a:prstGeom prst="ellipse">
            <a:avLst/>
          </a:prstGeom>
          <a:solidFill>
            <a:schemeClr val="accent1"/>
          </a:solidFill>
        </p:spPr>
      </p:sp>
      <p:pic>
        <p:nvPicPr>
          <p:cNvPr id="25" name="Image 4" descr="Contribution 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14102" y="1635862"/>
            <a:ext cx="294437" cy="294437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9646920" y="224028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</a:rPr>
              <a:t>Contribution</a:t>
            </a:r>
            <a:endParaRPr lang="en-US" sz="1600" dirty="0"/>
          </a:p>
        </p:txBody>
      </p:sp>
      <p:sp>
        <p:nvSpPr>
          <p:cNvPr id="27" name="Text 20"/>
          <p:cNvSpPr txBox="1"/>
          <p:nvPr/>
        </p:nvSpPr>
        <p:spPr>
          <a:xfrm>
            <a:off x="9674352" y="2697480"/>
            <a:ext cx="1783080" cy="20116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Makes ride sharing more convenient and cost-effective for users.</a:t>
            </a:r>
            <a:endParaRPr lang="en-US" sz="1400" dirty="0"/>
          </a:p>
        </p:txBody>
      </p:sp>
      <p:sp>
        <p:nvSpPr>
          <p:cNvPr id="28" name="closing line"/>
          <p:cNvSpPr/>
          <p:nvPr/>
        </p:nvSpPr>
        <p:spPr>
          <a:xfrm>
            <a:off x="548640" y="5029200"/>
            <a:ext cx="11064240" cy="1143000"/>
          </a:xfrm>
          <a:prstGeom prst="roundRect">
            <a:avLst>
              <a:gd name="adj" fmla="val 9600"/>
            </a:avLst>
          </a:prstGeom>
          <a:solidFill>
            <a:schemeClr val="tx2"/>
          </a:solidFill>
        </p:spPr>
      </p:sp>
      <p:sp>
        <p:nvSpPr>
          <p:cNvPr id="29" name="Text 22"/>
          <p:cNvSpPr txBox="1"/>
          <p:nvPr/>
        </p:nvSpPr>
        <p:spPr>
          <a:xfrm>
            <a:off x="777240" y="5029200"/>
            <a:ext cx="10607040" cy="1143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bg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POOLMATE delivers a structured, easy-to-use foundation for convenient ride sharing.</a:t>
            </a:r>
            <a:endParaRPr lang="en-US" sz="2200" dirty="0"/>
          </a:p>
        </p:txBody>
      </p:sp>
      <p:sp>
        <p:nvSpPr>
          <p:cNvPr id="3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98480" y="6446520"/>
            <a:ext cx="914400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548640" y="274320"/>
            <a:ext cx="1106424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Future Scope</a:t>
            </a:r>
            <a:endParaRPr lang="en-US" sz="3200" dirty="0"/>
          </a:p>
        </p:txBody>
      </p:sp>
      <p:sp>
        <p:nvSpPr>
          <p:cNvPr id="3" name="future banner"/>
          <p:cNvSpPr/>
          <p:nvPr/>
        </p:nvSpPr>
        <p:spPr>
          <a:xfrm>
            <a:off x="548640" y="1188720"/>
            <a:ext cx="11064240" cy="457200"/>
          </a:xfrm>
          <a:prstGeom prst="roundRect">
            <a:avLst>
              <a:gd name="adj" fmla="val 24000"/>
            </a:avLst>
          </a:prstGeom>
          <a:solidFill>
            <a:schemeClr val="accent2"/>
          </a:solidFill>
        </p:spPr>
      </p:sp>
      <p:sp>
        <p:nvSpPr>
          <p:cNvPr id="4" name="Text 2"/>
          <p:cNvSpPr txBox="1"/>
          <p:nvPr/>
        </p:nvSpPr>
        <p:spPr>
          <a:xfrm>
            <a:off x="777240" y="1188720"/>
            <a:ext cx="106070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Proposed enhancements – none of these are implemented yet</a:t>
            </a:r>
            <a:endParaRPr lang="en-US" sz="1400" dirty="0"/>
          </a:p>
        </p:txBody>
      </p:sp>
      <p:sp>
        <p:nvSpPr>
          <p:cNvPr id="5" name="future Maps and GPS"/>
          <p:cNvSpPr/>
          <p:nvPr/>
        </p:nvSpPr>
        <p:spPr>
          <a:xfrm>
            <a:off x="548640" y="1874520"/>
            <a:ext cx="2679192" cy="2057400"/>
          </a:xfrm>
          <a:prstGeom prst="roundRect">
            <a:avLst>
              <a:gd name="adj" fmla="val 5333"/>
            </a:avLst>
          </a:prstGeom>
          <a:solidFill>
            <a:schemeClr val="bg2"/>
          </a:solidFill>
        </p:spPr>
      </p:sp>
      <p:sp>
        <p:nvSpPr>
          <p:cNvPr id="6" name="Maps and GPS icon bg"/>
          <p:cNvSpPr/>
          <p:nvPr/>
        </p:nvSpPr>
        <p:spPr>
          <a:xfrm>
            <a:off x="777240" y="2103120"/>
            <a:ext cx="594360" cy="594360"/>
          </a:xfrm>
          <a:prstGeom prst="ellipse">
            <a:avLst/>
          </a:prstGeom>
          <a:solidFill>
            <a:schemeClr val="accent1"/>
          </a:solidFill>
        </p:spPr>
      </p:sp>
      <p:pic>
        <p:nvPicPr>
          <p:cNvPr id="7" name="Image 0" descr="Maps and GPS icon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717" y="2263597"/>
            <a:ext cx="273406" cy="273406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777240" y="2788920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Maps and GPS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3200400"/>
            <a:ext cx="2286000" cy="640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Map-based routes and locations.</a:t>
            </a:r>
            <a:endParaRPr lang="en-US" sz="1300" dirty="0"/>
          </a:p>
        </p:txBody>
      </p:sp>
      <p:sp>
        <p:nvSpPr>
          <p:cNvPr id="10" name="future Improved ride matching"/>
          <p:cNvSpPr/>
          <p:nvPr/>
        </p:nvSpPr>
        <p:spPr>
          <a:xfrm>
            <a:off x="3355848" y="1874520"/>
            <a:ext cx="2679192" cy="2057400"/>
          </a:xfrm>
          <a:prstGeom prst="roundRect">
            <a:avLst>
              <a:gd name="adj" fmla="val 5333"/>
            </a:avLst>
          </a:prstGeom>
          <a:solidFill>
            <a:schemeClr val="bg2"/>
          </a:solidFill>
        </p:spPr>
      </p:sp>
      <p:sp>
        <p:nvSpPr>
          <p:cNvPr id="11" name="Improved ride matching icon bg"/>
          <p:cNvSpPr/>
          <p:nvPr/>
        </p:nvSpPr>
        <p:spPr>
          <a:xfrm>
            <a:off x="3584448" y="2103120"/>
            <a:ext cx="594360" cy="594360"/>
          </a:xfrm>
          <a:prstGeom prst="ellipse">
            <a:avLst/>
          </a:prstGeom>
          <a:solidFill>
            <a:schemeClr val="accent1"/>
          </a:solidFill>
        </p:spPr>
      </p:sp>
      <p:pic>
        <p:nvPicPr>
          <p:cNvPr id="12" name="Image 1" descr="Improved ride matching ico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4925" y="2263597"/>
            <a:ext cx="273406" cy="273406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3584448" y="2788920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Improved ride matching</a:t>
            </a:r>
            <a:endParaRPr lang="en-US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3584448" y="3200400"/>
            <a:ext cx="2286000" cy="640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Better matching of rides and seekers.</a:t>
            </a:r>
            <a:endParaRPr lang="en-US" sz="1300" dirty="0"/>
          </a:p>
        </p:txBody>
      </p:sp>
      <p:sp>
        <p:nvSpPr>
          <p:cNvPr id="15" name="future Real-time tracking"/>
          <p:cNvSpPr/>
          <p:nvPr/>
        </p:nvSpPr>
        <p:spPr>
          <a:xfrm>
            <a:off x="6163056" y="1874520"/>
            <a:ext cx="2679192" cy="2057400"/>
          </a:xfrm>
          <a:prstGeom prst="roundRect">
            <a:avLst>
              <a:gd name="adj" fmla="val 5333"/>
            </a:avLst>
          </a:prstGeom>
          <a:solidFill>
            <a:schemeClr val="bg2"/>
          </a:solidFill>
        </p:spPr>
      </p:sp>
      <p:sp>
        <p:nvSpPr>
          <p:cNvPr id="16" name="Real-time tracking icon bg"/>
          <p:cNvSpPr/>
          <p:nvPr/>
        </p:nvSpPr>
        <p:spPr>
          <a:xfrm>
            <a:off x="6391656" y="2103120"/>
            <a:ext cx="594360" cy="594360"/>
          </a:xfrm>
          <a:prstGeom prst="ellipse">
            <a:avLst/>
          </a:prstGeom>
          <a:solidFill>
            <a:schemeClr val="accent1"/>
          </a:solidFill>
        </p:spPr>
      </p:sp>
      <p:pic>
        <p:nvPicPr>
          <p:cNvPr id="17" name="Image 2" descr="Real-time tracking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2133" y="2263597"/>
            <a:ext cx="273406" cy="273406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6391656" y="2788920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Real-time tracking</a:t>
            </a:r>
            <a:endParaRPr lang="en-US" sz="1500" dirty="0"/>
          </a:p>
        </p:txBody>
      </p:sp>
      <p:sp>
        <p:nvSpPr>
          <p:cNvPr id="19" name="Text 14"/>
          <p:cNvSpPr txBox="1"/>
          <p:nvPr/>
        </p:nvSpPr>
        <p:spPr>
          <a:xfrm>
            <a:off x="6391656" y="3200400"/>
            <a:ext cx="2286000" cy="640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Live location of an ongoing ride.</a:t>
            </a:r>
            <a:endParaRPr lang="en-US" sz="1300" dirty="0"/>
          </a:p>
        </p:txBody>
      </p:sp>
      <p:sp>
        <p:nvSpPr>
          <p:cNvPr id="20" name="future Enhanced notifications"/>
          <p:cNvSpPr/>
          <p:nvPr/>
        </p:nvSpPr>
        <p:spPr>
          <a:xfrm>
            <a:off x="8970264" y="1874520"/>
            <a:ext cx="2679192" cy="2057400"/>
          </a:xfrm>
          <a:prstGeom prst="roundRect">
            <a:avLst>
              <a:gd name="adj" fmla="val 5333"/>
            </a:avLst>
          </a:prstGeom>
          <a:solidFill>
            <a:schemeClr val="bg2"/>
          </a:solidFill>
        </p:spPr>
      </p:sp>
      <p:sp>
        <p:nvSpPr>
          <p:cNvPr id="21" name="Enhanced notifications icon bg"/>
          <p:cNvSpPr/>
          <p:nvPr/>
        </p:nvSpPr>
        <p:spPr>
          <a:xfrm>
            <a:off x="9198864" y="2103120"/>
            <a:ext cx="594360" cy="594360"/>
          </a:xfrm>
          <a:prstGeom prst="ellipse">
            <a:avLst/>
          </a:prstGeom>
          <a:solidFill>
            <a:schemeClr val="accent1"/>
          </a:solidFill>
        </p:spPr>
      </p:sp>
      <p:pic>
        <p:nvPicPr>
          <p:cNvPr id="22" name="Image 3" descr="Enhanced notifications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59341" y="2263597"/>
            <a:ext cx="273406" cy="273406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9198864" y="2788920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Enhanced notifications</a:t>
            </a:r>
            <a:endParaRPr lang="en-US" sz="1500" dirty="0"/>
          </a:p>
        </p:txBody>
      </p:sp>
      <p:sp>
        <p:nvSpPr>
          <p:cNvPr id="24" name="Text 18"/>
          <p:cNvSpPr txBox="1"/>
          <p:nvPr/>
        </p:nvSpPr>
        <p:spPr>
          <a:xfrm>
            <a:off x="9198864" y="3200400"/>
            <a:ext cx="2286000" cy="640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Email / SMS alerts.</a:t>
            </a:r>
            <a:endParaRPr lang="en-US" sz="1300" dirty="0"/>
          </a:p>
        </p:txBody>
      </p:sp>
      <p:sp>
        <p:nvSpPr>
          <p:cNvPr id="25" name="future Verified identities"/>
          <p:cNvSpPr/>
          <p:nvPr/>
        </p:nvSpPr>
        <p:spPr>
          <a:xfrm>
            <a:off x="548640" y="4069080"/>
            <a:ext cx="2679192" cy="2057400"/>
          </a:xfrm>
          <a:prstGeom prst="roundRect">
            <a:avLst>
              <a:gd name="adj" fmla="val 5333"/>
            </a:avLst>
          </a:prstGeom>
          <a:solidFill>
            <a:schemeClr val="bg2"/>
          </a:solidFill>
        </p:spPr>
      </p:sp>
      <p:sp>
        <p:nvSpPr>
          <p:cNvPr id="26" name="Verified identities icon bg"/>
          <p:cNvSpPr/>
          <p:nvPr/>
        </p:nvSpPr>
        <p:spPr>
          <a:xfrm>
            <a:off x="777240" y="4297680"/>
            <a:ext cx="594360" cy="594360"/>
          </a:xfrm>
          <a:prstGeom prst="ellipse">
            <a:avLst/>
          </a:prstGeom>
          <a:solidFill>
            <a:schemeClr val="accent1"/>
          </a:solidFill>
        </p:spPr>
      </p:sp>
      <p:pic>
        <p:nvPicPr>
          <p:cNvPr id="27" name="Image 4" descr="Verified identities 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7717" y="4458157"/>
            <a:ext cx="273406" cy="273406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777240" y="4983480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Verified identities</a:t>
            </a:r>
            <a:endParaRPr lang="en-US" sz="1500" dirty="0"/>
          </a:p>
        </p:txBody>
      </p:sp>
      <p:sp>
        <p:nvSpPr>
          <p:cNvPr id="29" name="Text 22"/>
          <p:cNvSpPr txBox="1"/>
          <p:nvPr/>
        </p:nvSpPr>
        <p:spPr>
          <a:xfrm>
            <a:off x="777240" y="5394960"/>
            <a:ext cx="2286000" cy="640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Stronger trust between users.</a:t>
            </a:r>
            <a:endParaRPr lang="en-US" sz="1300" dirty="0"/>
          </a:p>
        </p:txBody>
      </p:sp>
      <p:sp>
        <p:nvSpPr>
          <p:cNvPr id="30" name="future Better payments"/>
          <p:cNvSpPr/>
          <p:nvPr/>
        </p:nvSpPr>
        <p:spPr>
          <a:xfrm>
            <a:off x="3355848" y="4069080"/>
            <a:ext cx="2679192" cy="2057400"/>
          </a:xfrm>
          <a:prstGeom prst="roundRect">
            <a:avLst>
              <a:gd name="adj" fmla="val 5333"/>
            </a:avLst>
          </a:prstGeom>
          <a:solidFill>
            <a:schemeClr val="bg2"/>
          </a:solidFill>
        </p:spPr>
      </p:sp>
      <p:sp>
        <p:nvSpPr>
          <p:cNvPr id="31" name="Better payments icon bg"/>
          <p:cNvSpPr/>
          <p:nvPr/>
        </p:nvSpPr>
        <p:spPr>
          <a:xfrm>
            <a:off x="3584448" y="4297680"/>
            <a:ext cx="594360" cy="594360"/>
          </a:xfrm>
          <a:prstGeom prst="ellipse">
            <a:avLst/>
          </a:prstGeom>
          <a:solidFill>
            <a:schemeClr val="accent1"/>
          </a:solidFill>
        </p:spPr>
      </p:sp>
      <p:pic>
        <p:nvPicPr>
          <p:cNvPr id="32" name="Image 5" descr="Better payments icon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44925" y="4458157"/>
            <a:ext cx="273406" cy="273406"/>
          </a:xfrm>
          <a:prstGeom prst="rect">
            <a:avLst/>
          </a:prstGeom>
        </p:spPr>
      </p:pic>
      <p:sp>
        <p:nvSpPr>
          <p:cNvPr id="33" name="Text 25"/>
          <p:cNvSpPr txBox="1"/>
          <p:nvPr/>
        </p:nvSpPr>
        <p:spPr>
          <a:xfrm>
            <a:off x="3584448" y="4983480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Better payments</a:t>
            </a:r>
            <a:endParaRPr lang="en-US" sz="1500" dirty="0"/>
          </a:p>
        </p:txBody>
      </p:sp>
      <p:sp>
        <p:nvSpPr>
          <p:cNvPr id="34" name="Text 26"/>
          <p:cNvSpPr txBox="1"/>
          <p:nvPr/>
        </p:nvSpPr>
        <p:spPr>
          <a:xfrm>
            <a:off x="3584448" y="5394960"/>
            <a:ext cx="2286000" cy="640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Improved payment integration.</a:t>
            </a:r>
            <a:endParaRPr lang="en-US" sz="1300" dirty="0"/>
          </a:p>
        </p:txBody>
      </p:sp>
      <p:sp>
        <p:nvSpPr>
          <p:cNvPr id="35" name="future Mobile application"/>
          <p:cNvSpPr/>
          <p:nvPr/>
        </p:nvSpPr>
        <p:spPr>
          <a:xfrm>
            <a:off x="6163056" y="4069080"/>
            <a:ext cx="2679192" cy="2057400"/>
          </a:xfrm>
          <a:prstGeom prst="roundRect">
            <a:avLst>
              <a:gd name="adj" fmla="val 5333"/>
            </a:avLst>
          </a:prstGeom>
          <a:solidFill>
            <a:schemeClr val="bg2"/>
          </a:solidFill>
        </p:spPr>
      </p:sp>
      <p:sp>
        <p:nvSpPr>
          <p:cNvPr id="36" name="Mobile application icon bg"/>
          <p:cNvSpPr/>
          <p:nvPr/>
        </p:nvSpPr>
        <p:spPr>
          <a:xfrm>
            <a:off x="6391656" y="4297680"/>
            <a:ext cx="594360" cy="594360"/>
          </a:xfrm>
          <a:prstGeom prst="ellipse">
            <a:avLst/>
          </a:prstGeom>
          <a:solidFill>
            <a:schemeClr val="accent1"/>
          </a:solidFill>
        </p:spPr>
      </p:sp>
      <p:pic>
        <p:nvPicPr>
          <p:cNvPr id="37" name="Image 6" descr="Mobile application icon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52133" y="4458157"/>
            <a:ext cx="273406" cy="273406"/>
          </a:xfrm>
          <a:prstGeom prst="rect">
            <a:avLst/>
          </a:prstGeom>
        </p:spPr>
      </p:pic>
      <p:sp>
        <p:nvSpPr>
          <p:cNvPr id="38" name="Text 29"/>
          <p:cNvSpPr txBox="1"/>
          <p:nvPr/>
        </p:nvSpPr>
        <p:spPr>
          <a:xfrm>
            <a:off x="6391656" y="4983480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Mobile application</a:t>
            </a:r>
            <a:endParaRPr lang="en-US" sz="1500" dirty="0"/>
          </a:p>
        </p:txBody>
      </p:sp>
      <p:sp>
        <p:nvSpPr>
          <p:cNvPr id="39" name="Text 30"/>
          <p:cNvSpPr txBox="1"/>
          <p:nvPr/>
        </p:nvSpPr>
        <p:spPr>
          <a:xfrm>
            <a:off x="6391656" y="5394960"/>
            <a:ext cx="2286000" cy="640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Android / iOS support.</a:t>
            </a:r>
            <a:endParaRPr lang="en-US" sz="1300" dirty="0"/>
          </a:p>
        </p:txBody>
      </p:sp>
      <p:sp>
        <p:nvSpPr>
          <p:cNvPr id="40" name="future Safety and trust"/>
          <p:cNvSpPr/>
          <p:nvPr/>
        </p:nvSpPr>
        <p:spPr>
          <a:xfrm>
            <a:off x="8970264" y="4069080"/>
            <a:ext cx="2679192" cy="2057400"/>
          </a:xfrm>
          <a:prstGeom prst="roundRect">
            <a:avLst>
              <a:gd name="adj" fmla="val 5333"/>
            </a:avLst>
          </a:prstGeom>
          <a:solidFill>
            <a:schemeClr val="bg2"/>
          </a:solidFill>
        </p:spPr>
      </p:sp>
      <p:sp>
        <p:nvSpPr>
          <p:cNvPr id="41" name="Safety and trust icon bg"/>
          <p:cNvSpPr/>
          <p:nvPr/>
        </p:nvSpPr>
        <p:spPr>
          <a:xfrm>
            <a:off x="9198864" y="4297680"/>
            <a:ext cx="594360" cy="594360"/>
          </a:xfrm>
          <a:prstGeom prst="ellipse">
            <a:avLst/>
          </a:prstGeom>
          <a:solidFill>
            <a:schemeClr val="accent1"/>
          </a:solidFill>
        </p:spPr>
      </p:sp>
      <p:pic>
        <p:nvPicPr>
          <p:cNvPr id="42" name="Image 7" descr="Safety and trust icon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59341" y="4458157"/>
            <a:ext cx="273406" cy="273406"/>
          </a:xfrm>
          <a:prstGeom prst="rect">
            <a:avLst/>
          </a:prstGeom>
        </p:spPr>
      </p:pic>
      <p:sp>
        <p:nvSpPr>
          <p:cNvPr id="43" name="Text 33"/>
          <p:cNvSpPr txBox="1"/>
          <p:nvPr/>
        </p:nvSpPr>
        <p:spPr>
          <a:xfrm>
            <a:off x="9198864" y="4983480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Safety and trust</a:t>
            </a:r>
            <a:endParaRPr lang="en-US" sz="1500" dirty="0"/>
          </a:p>
        </p:txBody>
      </p:sp>
      <p:sp>
        <p:nvSpPr>
          <p:cNvPr id="44" name="Text 34"/>
          <p:cNvSpPr txBox="1"/>
          <p:nvPr/>
        </p:nvSpPr>
        <p:spPr>
          <a:xfrm>
            <a:off x="9198864" y="5394960"/>
            <a:ext cx="2286000" cy="640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Additional safety features.</a:t>
            </a:r>
            <a:endParaRPr lang="en-US" sz="1300" dirty="0"/>
          </a:p>
        </p:txBody>
      </p:sp>
      <p:sp>
        <p:nvSpPr>
          <p:cNvPr id="4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98480" y="6446520"/>
            <a:ext cx="914400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548640" y="274320"/>
            <a:ext cx="1106424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References</a:t>
            </a:r>
            <a:endParaRPr lang="en-US" sz="3200" dirty="0"/>
          </a:p>
        </p:txBody>
      </p:sp>
      <p:sp>
        <p:nvSpPr>
          <p:cNvPr id="3" name="references card"/>
          <p:cNvSpPr/>
          <p:nvPr/>
        </p:nvSpPr>
        <p:spPr>
          <a:xfrm>
            <a:off x="548640" y="1280160"/>
            <a:ext cx="11064240" cy="3383280"/>
          </a:xfrm>
          <a:prstGeom prst="roundRect">
            <a:avLst>
              <a:gd name="adj" fmla="val 3243"/>
            </a:avLst>
          </a:prstGeom>
          <a:solidFill>
            <a:schemeClr val="bg2"/>
          </a:solidFill>
        </p:spPr>
      </p:sp>
      <p:sp>
        <p:nvSpPr>
          <p:cNvPr id="4" name="Text 2"/>
          <p:cNvSpPr txBox="1"/>
          <p:nvPr/>
        </p:nvSpPr>
        <p:spPr>
          <a:xfrm>
            <a:off x="822960" y="1554480"/>
            <a:ext cx="10515600" cy="2926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spcAft>
                <a:spcPts val="12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[1]  Xiaoming Li et al., “Ride-sharing matching under travel time uncertainty,” IEEE Access, 2022.</a:t>
            </a:r>
            <a:endParaRPr lang="en-US" sz="1600" dirty="0">
              <a:solidFill>
                <a:schemeClr val="tx1"/>
              </a:solidFill>
            </a:endParaRPr>
          </a:p>
          <a:p>
            <a:pPr marL="0" indent="0">
              <a:spcAft>
                <a:spcPts val="1200"/>
              </a:spcAft>
              <a:buNone/>
            </a:pPr>
            <a:r>
              <a:rPr lang="en-US" sz="1200" b="1" dirty="0">
                <a:solidFill>
                  <a:schemeClr val="accent5"/>
                </a:solidFill>
              </a:rPr>
              <a:t> </a:t>
            </a:r>
            <a:r>
              <a:rPr lang="en-US" sz="1600" dirty="0">
                <a:solidFill>
                  <a:schemeClr val="tx1"/>
                </a:solidFill>
              </a:rPr>
              <a:t>[2]  “QE-Ride,” IEEE, 2024.</a:t>
            </a:r>
            <a:r>
              <a:rPr lang="en-US" sz="1200" b="1" dirty="0">
                <a:solidFill>
                  <a:schemeClr val="accent5"/>
                </a:solidFill>
              </a:rPr>
              <a:t> </a:t>
            </a:r>
            <a:r>
              <a:rPr lang="en-US" sz="1600" dirty="0">
                <a:solidFill>
                  <a:schemeClr val="tx1"/>
                </a:solidFill>
              </a:rPr>
              <a:t>[3]  “i-CAP intelligent carpooling,” IEEE, 2023.</a:t>
            </a:r>
            <a:r>
              <a:rPr lang="en-US" sz="1200" b="1" dirty="0">
                <a:solidFill>
                  <a:schemeClr val="accent5"/>
                </a:solidFill>
              </a:rPr>
              <a:t> </a:t>
            </a:r>
            <a:endParaRPr lang="en-US" sz="16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[4]  “ML-based ride recommendation,” Springer, 2024.</a:t>
            </a:r>
            <a:r>
              <a:rPr lang="en-US" sz="1200" b="1" dirty="0">
                <a:solidFill>
                  <a:schemeClr val="accent5"/>
                </a:solidFill>
              </a:rPr>
              <a:t> 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892040"/>
            <a:ext cx="11064240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98480" y="6446520"/>
            <a:ext cx="914400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1371600" y="2103120"/>
            <a:ext cx="9445752" cy="1188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chemeClr val="bg1"/>
                </a:solidFill>
              </a:rPr>
              <a:t>Thank You</a:t>
            </a:r>
            <a:endParaRPr lang="en-US" sz="6000" dirty="0"/>
          </a:p>
        </p:txBody>
      </p:sp>
      <p:sp>
        <p:nvSpPr>
          <p:cNvPr id="3" name="car icon bg"/>
          <p:cNvSpPr/>
          <p:nvPr/>
        </p:nvSpPr>
        <p:spPr>
          <a:xfrm>
            <a:off x="5641848" y="914400"/>
            <a:ext cx="914400" cy="914400"/>
          </a:xfrm>
          <a:prstGeom prst="ellipse">
            <a:avLst/>
          </a:prstGeom>
          <a:solidFill>
            <a:schemeClr val="accent1"/>
          </a:solidFill>
        </p:spPr>
      </p:sp>
      <p:pic>
        <p:nvPicPr>
          <p:cNvPr id="4" name="Image 0" descr="car icon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88736" y="1161288"/>
            <a:ext cx="420624" cy="42062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371600" y="3429000"/>
            <a:ext cx="9445752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600" dirty="0">
                <a:solidFill>
                  <a:schemeClr val="accent6"/>
                </a:solidFill>
              </a:rPr>
              <a:t>POOLMATE – Web-Based Carpooling Platform</a:t>
            </a:r>
            <a:endParaRPr lang="en-US" sz="2600" dirty="0"/>
          </a:p>
        </p:txBody>
      </p:sp>
      <p:sp>
        <p:nvSpPr>
          <p:cNvPr id="6" name="Text 3"/>
          <p:cNvSpPr txBox="1"/>
          <p:nvPr/>
        </p:nvSpPr>
        <p:spPr>
          <a:xfrm>
            <a:off x="1371600" y="4114800"/>
            <a:ext cx="9445752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dirty="0">
                <a:solidFill>
                  <a:schemeClr val="bg1"/>
                </a:solidFill>
              </a:rPr>
              <a:t>Sandeep Kumar VS  |  MCA (S3)  |  Department of Computer Applications</a:t>
            </a:r>
            <a:endParaRPr lang="en-US" sz="1500" dirty="0"/>
          </a:p>
        </p:txBody>
      </p:sp>
      <p:sp>
        <p:nvSpPr>
          <p:cNvPr id="7" name="route dot"/>
          <p:cNvSpPr/>
          <p:nvPr/>
        </p:nvSpPr>
        <p:spPr>
          <a:xfrm>
            <a:off x="2011680" y="5669280"/>
            <a:ext cx="64008" cy="64008"/>
          </a:xfrm>
          <a:prstGeom prst="ellipse">
            <a:avLst/>
          </a:prstGeom>
          <a:solidFill>
            <a:schemeClr val="bg1">
              <a:alpha val="45000"/>
            </a:schemeClr>
          </a:solidFill>
        </p:spPr>
      </p:sp>
      <p:sp>
        <p:nvSpPr>
          <p:cNvPr id="8" name="route dot"/>
          <p:cNvSpPr/>
          <p:nvPr/>
        </p:nvSpPr>
        <p:spPr>
          <a:xfrm>
            <a:off x="2286000" y="5721886"/>
            <a:ext cx="64008" cy="64008"/>
          </a:xfrm>
          <a:prstGeom prst="ellipse">
            <a:avLst/>
          </a:prstGeom>
          <a:solidFill>
            <a:schemeClr val="bg1">
              <a:alpha val="45000"/>
            </a:schemeClr>
          </a:solidFill>
        </p:spPr>
      </p:sp>
      <p:sp>
        <p:nvSpPr>
          <p:cNvPr id="9" name="route dot"/>
          <p:cNvSpPr/>
          <p:nvPr/>
        </p:nvSpPr>
        <p:spPr>
          <a:xfrm>
            <a:off x="2560320" y="5761613"/>
            <a:ext cx="64008" cy="64008"/>
          </a:xfrm>
          <a:prstGeom prst="ellipse">
            <a:avLst/>
          </a:prstGeom>
          <a:solidFill>
            <a:schemeClr val="bg1">
              <a:alpha val="45000"/>
            </a:schemeClr>
          </a:solidFill>
        </p:spPr>
      </p:sp>
      <p:sp>
        <p:nvSpPr>
          <p:cNvPr id="10" name="route dot"/>
          <p:cNvSpPr/>
          <p:nvPr/>
        </p:nvSpPr>
        <p:spPr>
          <a:xfrm>
            <a:off x="2834640" y="5778733"/>
            <a:ext cx="64008" cy="64008"/>
          </a:xfrm>
          <a:prstGeom prst="ellipse">
            <a:avLst/>
          </a:prstGeom>
          <a:solidFill>
            <a:schemeClr val="bg1">
              <a:alpha val="45000"/>
            </a:schemeClr>
          </a:solidFill>
        </p:spPr>
      </p:sp>
      <p:sp>
        <p:nvSpPr>
          <p:cNvPr id="11" name="route dot"/>
          <p:cNvSpPr/>
          <p:nvPr/>
        </p:nvSpPr>
        <p:spPr>
          <a:xfrm>
            <a:off x="3108960" y="5769055"/>
            <a:ext cx="64008" cy="64008"/>
          </a:xfrm>
          <a:prstGeom prst="ellipse">
            <a:avLst/>
          </a:prstGeom>
          <a:solidFill>
            <a:schemeClr val="bg1">
              <a:alpha val="45000"/>
            </a:schemeClr>
          </a:solidFill>
        </p:spPr>
      </p:sp>
      <p:sp>
        <p:nvSpPr>
          <p:cNvPr id="12" name="route dot"/>
          <p:cNvSpPr/>
          <p:nvPr/>
        </p:nvSpPr>
        <p:spPr>
          <a:xfrm>
            <a:off x="3383280" y="5734949"/>
            <a:ext cx="64008" cy="64008"/>
          </a:xfrm>
          <a:prstGeom prst="ellipse">
            <a:avLst/>
          </a:prstGeom>
          <a:solidFill>
            <a:schemeClr val="bg1">
              <a:alpha val="45000"/>
            </a:schemeClr>
          </a:solidFill>
        </p:spPr>
      </p:sp>
      <p:sp>
        <p:nvSpPr>
          <p:cNvPr id="13" name="route dot"/>
          <p:cNvSpPr/>
          <p:nvPr/>
        </p:nvSpPr>
        <p:spPr>
          <a:xfrm>
            <a:off x="3657600" y="5684765"/>
            <a:ext cx="64008" cy="64008"/>
          </a:xfrm>
          <a:prstGeom prst="ellipse">
            <a:avLst/>
          </a:prstGeom>
          <a:solidFill>
            <a:schemeClr val="bg1">
              <a:alpha val="45000"/>
            </a:schemeClr>
          </a:solidFill>
        </p:spPr>
      </p:sp>
      <p:sp>
        <p:nvSpPr>
          <p:cNvPr id="14" name="route dot"/>
          <p:cNvSpPr/>
          <p:nvPr/>
        </p:nvSpPr>
        <p:spPr>
          <a:xfrm>
            <a:off x="3931920" y="5630789"/>
            <a:ext cx="64008" cy="64008"/>
          </a:xfrm>
          <a:prstGeom prst="ellipse">
            <a:avLst/>
          </a:prstGeom>
          <a:solidFill>
            <a:schemeClr val="bg1">
              <a:alpha val="45000"/>
            </a:schemeClr>
          </a:solidFill>
        </p:spPr>
      </p:sp>
      <p:sp>
        <p:nvSpPr>
          <p:cNvPr id="15" name="route dot"/>
          <p:cNvSpPr/>
          <p:nvPr/>
        </p:nvSpPr>
        <p:spPr>
          <a:xfrm>
            <a:off x="4206240" y="5586238"/>
            <a:ext cx="64008" cy="64008"/>
          </a:xfrm>
          <a:prstGeom prst="ellipse">
            <a:avLst/>
          </a:prstGeom>
          <a:solidFill>
            <a:schemeClr val="bg1">
              <a:alpha val="45000"/>
            </a:schemeClr>
          </a:solidFill>
        </p:spPr>
      </p:sp>
      <p:sp>
        <p:nvSpPr>
          <p:cNvPr id="16" name="route dot"/>
          <p:cNvSpPr/>
          <p:nvPr/>
        </p:nvSpPr>
        <p:spPr>
          <a:xfrm>
            <a:off x="4480560" y="5562018"/>
            <a:ext cx="64008" cy="64008"/>
          </a:xfrm>
          <a:prstGeom prst="ellipse">
            <a:avLst/>
          </a:prstGeom>
          <a:solidFill>
            <a:schemeClr val="bg1">
              <a:alpha val="45000"/>
            </a:schemeClr>
          </a:solidFill>
        </p:spPr>
      </p:sp>
      <p:sp>
        <p:nvSpPr>
          <p:cNvPr id="17" name="route dot"/>
          <p:cNvSpPr/>
          <p:nvPr/>
        </p:nvSpPr>
        <p:spPr>
          <a:xfrm>
            <a:off x="4754880" y="5564059"/>
            <a:ext cx="64008" cy="64008"/>
          </a:xfrm>
          <a:prstGeom prst="ellipse">
            <a:avLst/>
          </a:prstGeom>
          <a:solidFill>
            <a:schemeClr val="bg1">
              <a:alpha val="45000"/>
            </a:schemeClr>
          </a:solidFill>
        </p:spPr>
      </p:sp>
      <p:sp>
        <p:nvSpPr>
          <p:cNvPr id="18" name="route dot"/>
          <p:cNvSpPr/>
          <p:nvPr/>
        </p:nvSpPr>
        <p:spPr>
          <a:xfrm>
            <a:off x="5029200" y="5591862"/>
            <a:ext cx="64008" cy="64008"/>
          </a:xfrm>
          <a:prstGeom prst="ellipse">
            <a:avLst/>
          </a:prstGeom>
          <a:solidFill>
            <a:schemeClr val="bg1">
              <a:alpha val="45000"/>
            </a:schemeClr>
          </a:solidFill>
        </p:spPr>
      </p:sp>
      <p:sp>
        <p:nvSpPr>
          <p:cNvPr id="19" name="route dot"/>
          <p:cNvSpPr/>
          <p:nvPr/>
        </p:nvSpPr>
        <p:spPr>
          <a:xfrm>
            <a:off x="5303520" y="5638620"/>
            <a:ext cx="64008" cy="64008"/>
          </a:xfrm>
          <a:prstGeom prst="ellipse">
            <a:avLst/>
          </a:prstGeom>
          <a:solidFill>
            <a:schemeClr val="bg1">
              <a:alpha val="45000"/>
            </a:schemeClr>
          </a:solidFill>
        </p:spPr>
      </p:sp>
      <p:sp>
        <p:nvSpPr>
          <p:cNvPr id="20" name="route dot"/>
          <p:cNvSpPr/>
          <p:nvPr/>
        </p:nvSpPr>
        <p:spPr>
          <a:xfrm>
            <a:off x="5577840" y="5692885"/>
            <a:ext cx="64008" cy="64008"/>
          </a:xfrm>
          <a:prstGeom prst="ellipse">
            <a:avLst/>
          </a:prstGeom>
          <a:solidFill>
            <a:schemeClr val="bg1">
              <a:alpha val="45000"/>
            </a:schemeClr>
          </a:solidFill>
        </p:spPr>
      </p:sp>
      <p:sp>
        <p:nvSpPr>
          <p:cNvPr id="21" name="route dot"/>
          <p:cNvSpPr/>
          <p:nvPr/>
        </p:nvSpPr>
        <p:spPr>
          <a:xfrm>
            <a:off x="5852160" y="5741370"/>
            <a:ext cx="64008" cy="64008"/>
          </a:xfrm>
          <a:prstGeom prst="ellipse">
            <a:avLst/>
          </a:prstGeom>
          <a:solidFill>
            <a:schemeClr val="bg1">
              <a:alpha val="45000"/>
            </a:schemeClr>
          </a:solidFill>
        </p:spPr>
      </p:sp>
      <p:sp>
        <p:nvSpPr>
          <p:cNvPr id="22" name="route dot"/>
          <p:cNvSpPr/>
          <p:nvPr/>
        </p:nvSpPr>
        <p:spPr>
          <a:xfrm>
            <a:off x="6126480" y="5772205"/>
            <a:ext cx="64008" cy="64008"/>
          </a:xfrm>
          <a:prstGeom prst="ellipse">
            <a:avLst/>
          </a:prstGeom>
          <a:solidFill>
            <a:schemeClr val="bg1">
              <a:alpha val="45000"/>
            </a:schemeClr>
          </a:solidFill>
        </p:spPr>
      </p:sp>
      <p:sp>
        <p:nvSpPr>
          <p:cNvPr id="23" name="route dot"/>
          <p:cNvSpPr/>
          <p:nvPr/>
        </p:nvSpPr>
        <p:spPr>
          <a:xfrm>
            <a:off x="6400800" y="5777840"/>
            <a:ext cx="64008" cy="64008"/>
          </a:xfrm>
          <a:prstGeom prst="ellipse">
            <a:avLst/>
          </a:prstGeom>
          <a:solidFill>
            <a:schemeClr val="bg1">
              <a:alpha val="45000"/>
            </a:schemeClr>
          </a:solidFill>
        </p:spPr>
      </p:sp>
      <p:sp>
        <p:nvSpPr>
          <p:cNvPr id="24" name="route dot"/>
          <p:cNvSpPr/>
          <p:nvPr/>
        </p:nvSpPr>
        <p:spPr>
          <a:xfrm>
            <a:off x="6675120" y="5756896"/>
            <a:ext cx="64008" cy="64008"/>
          </a:xfrm>
          <a:prstGeom prst="ellipse">
            <a:avLst/>
          </a:prstGeom>
          <a:solidFill>
            <a:schemeClr val="bg1">
              <a:alpha val="45000"/>
            </a:schemeClr>
          </a:solidFill>
        </p:spPr>
      </p:sp>
      <p:sp>
        <p:nvSpPr>
          <p:cNvPr id="25" name="route dot"/>
          <p:cNvSpPr/>
          <p:nvPr/>
        </p:nvSpPr>
        <p:spPr>
          <a:xfrm>
            <a:off x="6949440" y="5714501"/>
            <a:ext cx="64008" cy="64008"/>
          </a:xfrm>
          <a:prstGeom prst="ellipse">
            <a:avLst/>
          </a:prstGeom>
          <a:solidFill>
            <a:schemeClr val="bg1">
              <a:alpha val="45000"/>
            </a:schemeClr>
          </a:solidFill>
        </p:spPr>
      </p:sp>
      <p:sp>
        <p:nvSpPr>
          <p:cNvPr id="26" name="route dot"/>
          <p:cNvSpPr/>
          <p:nvPr/>
        </p:nvSpPr>
        <p:spPr>
          <a:xfrm>
            <a:off x="7223760" y="5661034"/>
            <a:ext cx="64008" cy="64008"/>
          </a:xfrm>
          <a:prstGeom prst="ellipse">
            <a:avLst/>
          </a:prstGeom>
          <a:solidFill>
            <a:schemeClr val="bg1">
              <a:alpha val="45000"/>
            </a:schemeClr>
          </a:solidFill>
        </p:spPr>
      </p:sp>
      <p:sp>
        <p:nvSpPr>
          <p:cNvPr id="27" name="route dot"/>
          <p:cNvSpPr/>
          <p:nvPr/>
        </p:nvSpPr>
        <p:spPr>
          <a:xfrm>
            <a:off x="7498080" y="5609586"/>
            <a:ext cx="64008" cy="64008"/>
          </a:xfrm>
          <a:prstGeom prst="ellipse">
            <a:avLst/>
          </a:prstGeom>
          <a:solidFill>
            <a:schemeClr val="bg1">
              <a:alpha val="45000"/>
            </a:schemeClr>
          </a:solidFill>
        </p:spPr>
      </p:sp>
      <p:sp>
        <p:nvSpPr>
          <p:cNvPr id="28" name="route dot"/>
          <p:cNvSpPr/>
          <p:nvPr/>
        </p:nvSpPr>
        <p:spPr>
          <a:xfrm>
            <a:off x="7772400" y="5572753"/>
            <a:ext cx="64008" cy="64008"/>
          </a:xfrm>
          <a:prstGeom prst="ellipse">
            <a:avLst/>
          </a:prstGeom>
          <a:solidFill>
            <a:schemeClr val="bg1">
              <a:alpha val="45000"/>
            </a:schemeClr>
          </a:solidFill>
        </p:spPr>
      </p:sp>
      <p:sp>
        <p:nvSpPr>
          <p:cNvPr id="29" name="route dot"/>
          <p:cNvSpPr/>
          <p:nvPr/>
        </p:nvSpPr>
        <p:spPr>
          <a:xfrm>
            <a:off x="8046720" y="5559553"/>
            <a:ext cx="64008" cy="64008"/>
          </a:xfrm>
          <a:prstGeom prst="ellipse">
            <a:avLst/>
          </a:prstGeom>
          <a:solidFill>
            <a:schemeClr val="bg1">
              <a:alpha val="45000"/>
            </a:schemeClr>
          </a:solidFill>
        </p:spPr>
      </p:sp>
      <p:sp>
        <p:nvSpPr>
          <p:cNvPr id="30" name="route dot"/>
          <p:cNvSpPr/>
          <p:nvPr/>
        </p:nvSpPr>
        <p:spPr>
          <a:xfrm>
            <a:off x="8321040" y="5573218"/>
            <a:ext cx="64008" cy="64008"/>
          </a:xfrm>
          <a:prstGeom prst="ellipse">
            <a:avLst/>
          </a:prstGeom>
          <a:solidFill>
            <a:schemeClr val="bg1">
              <a:alpha val="45000"/>
            </a:schemeClr>
          </a:solidFill>
        </p:spPr>
      </p:sp>
      <p:sp>
        <p:nvSpPr>
          <p:cNvPr id="31" name="route dot"/>
          <p:cNvSpPr/>
          <p:nvPr/>
        </p:nvSpPr>
        <p:spPr>
          <a:xfrm>
            <a:off x="8595360" y="5610403"/>
            <a:ext cx="64008" cy="64008"/>
          </a:xfrm>
          <a:prstGeom prst="ellipse">
            <a:avLst/>
          </a:prstGeom>
          <a:solidFill>
            <a:schemeClr val="bg1">
              <a:alpha val="45000"/>
            </a:schemeClr>
          </a:solidFill>
        </p:spPr>
      </p:sp>
      <p:sp>
        <p:nvSpPr>
          <p:cNvPr id="32" name="route dot"/>
          <p:cNvSpPr/>
          <p:nvPr/>
        </p:nvSpPr>
        <p:spPr>
          <a:xfrm>
            <a:off x="8869680" y="5662003"/>
            <a:ext cx="64008" cy="64008"/>
          </a:xfrm>
          <a:prstGeom prst="ellipse">
            <a:avLst/>
          </a:prstGeom>
          <a:solidFill>
            <a:schemeClr val="bg1">
              <a:alpha val="45000"/>
            </a:schemeClr>
          </a:solidFill>
        </p:spPr>
      </p:sp>
      <p:sp>
        <p:nvSpPr>
          <p:cNvPr id="33" name="route dot"/>
          <p:cNvSpPr/>
          <p:nvPr/>
        </p:nvSpPr>
        <p:spPr>
          <a:xfrm>
            <a:off x="9144000" y="5715384"/>
            <a:ext cx="64008" cy="64008"/>
          </a:xfrm>
          <a:prstGeom prst="ellipse">
            <a:avLst/>
          </a:prstGeom>
          <a:solidFill>
            <a:schemeClr val="bg1">
              <a:alpha val="45000"/>
            </a:schemeClr>
          </a:solidFill>
        </p:spPr>
      </p:sp>
      <p:sp>
        <p:nvSpPr>
          <p:cNvPr id="34" name="route dot"/>
          <p:cNvSpPr/>
          <p:nvPr/>
        </p:nvSpPr>
        <p:spPr>
          <a:xfrm>
            <a:off x="9418320" y="5757478"/>
            <a:ext cx="64008" cy="64008"/>
          </a:xfrm>
          <a:prstGeom prst="ellipse">
            <a:avLst/>
          </a:prstGeom>
          <a:solidFill>
            <a:schemeClr val="bg1">
              <a:alpha val="45000"/>
            </a:schemeClr>
          </a:solidFill>
        </p:spPr>
      </p:sp>
      <p:sp>
        <p:nvSpPr>
          <p:cNvPr id="35" name="route dot"/>
          <p:cNvSpPr/>
          <p:nvPr/>
        </p:nvSpPr>
        <p:spPr>
          <a:xfrm>
            <a:off x="9692640" y="5777977"/>
            <a:ext cx="64008" cy="64008"/>
          </a:xfrm>
          <a:prstGeom prst="ellipse">
            <a:avLst/>
          </a:prstGeom>
          <a:solidFill>
            <a:schemeClr val="bg1">
              <a:alpha val="45000"/>
            </a:schemeClr>
          </a:solidFill>
        </p:spPr>
      </p:sp>
      <p:sp>
        <p:nvSpPr>
          <p:cNvPr id="36" name="route dot"/>
          <p:cNvSpPr/>
          <p:nvPr/>
        </p:nvSpPr>
        <p:spPr>
          <a:xfrm>
            <a:off x="9966960" y="5771864"/>
            <a:ext cx="64008" cy="64008"/>
          </a:xfrm>
          <a:prstGeom prst="ellipse">
            <a:avLst/>
          </a:prstGeom>
          <a:solidFill>
            <a:schemeClr val="bg1">
              <a:alpha val="45000"/>
            </a:schemeClr>
          </a:solidFill>
        </p:spPr>
      </p:sp>
      <p:sp>
        <p:nvSpPr>
          <p:cNvPr id="37" name="route start"/>
          <p:cNvSpPr/>
          <p:nvPr/>
        </p:nvSpPr>
        <p:spPr>
          <a:xfrm>
            <a:off x="1737360" y="5577840"/>
            <a:ext cx="228600" cy="228600"/>
          </a:xfrm>
          <a:prstGeom prst="ellipse">
            <a:avLst/>
          </a:prstGeom>
          <a:solidFill>
            <a:schemeClr val="accent2"/>
          </a:solidFill>
        </p:spPr>
      </p:sp>
      <p:sp>
        <p:nvSpPr>
          <p:cNvPr id="38" name="destination icon bg"/>
          <p:cNvSpPr/>
          <p:nvPr/>
        </p:nvSpPr>
        <p:spPr>
          <a:xfrm>
            <a:off x="10241280" y="5440680"/>
            <a:ext cx="411480" cy="411480"/>
          </a:xfrm>
          <a:prstGeom prst="ellipse">
            <a:avLst/>
          </a:prstGeom>
          <a:solidFill>
            <a:schemeClr val="accent3"/>
          </a:solidFill>
        </p:spPr>
      </p:sp>
      <p:pic>
        <p:nvPicPr>
          <p:cNvPr id="39" name="Image 1" descr="destination ico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52380" y="5551780"/>
            <a:ext cx="189281" cy="189281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244.8,&quot;left&quot;:374.4,&quot;top&quot;:133.2,&quot;width&quot;:540}"/>
</p:tagLst>
</file>

<file path=ppt/tags/tag2.xml><?xml version="1.0" encoding="utf-8"?>
<p:tagLst xmlns:p="http://schemas.openxmlformats.org/presentationml/2006/main">
  <p:tag name="KSO_WM_DIAGRAM_VIRTUALLY_FRAME" val="{&quot;height&quot;:244.8,&quot;left&quot;:374.4,&quot;top&quot;:133.2,&quot;width&quot;:540}"/>
</p:tagLst>
</file>

<file path=ppt/tags/tag3.xml><?xml version="1.0" encoding="utf-8"?>
<p:tagLst xmlns:p="http://schemas.openxmlformats.org/presentationml/2006/main">
  <p:tag name="KSO_WM_DIAGRAM_VIRTUALLY_FRAME" val="{&quot;height&quot;:244.8,&quot;left&quot;:374.4,&quot;top&quot;:133.2,&quot;width&quot;:540}"/>
</p:tagLst>
</file>

<file path=ppt/tags/tag4.xml><?xml version="1.0" encoding="utf-8"?>
<p:tagLst xmlns:p="http://schemas.openxmlformats.org/presentationml/2006/main">
  <p:tag name="KSO_WM_DIAGRAM_VIRTUALLY_FRAME" val="{&quot;height&quot;:244.8,&quot;left&quot;:374.4,&quot;top&quot;:133.2,&quot;width&quot;:540}"/>
</p:tagLst>
</file>

<file path=ppt/tags/tag5.xml><?xml version="1.0" encoding="utf-8"?>
<p:tagLst xmlns:p="http://schemas.openxmlformats.org/presentationml/2006/main">
  <p:tag name="KSO_WM_DIAGRAM_VIRTUALLY_FRAME" val="{&quot;height&quot;:244.8,&quot;left&quot;:374.4,&quot;top&quot;:133.2,&quot;width&quot;:540}"/>
</p:tagLst>
</file>

<file path=ppt/tags/tag6.xml><?xml version="1.0" encoding="utf-8"?>
<p:tagLst xmlns:p="http://schemas.openxmlformats.org/presentationml/2006/main">
  <p:tag name="KSO_WM_DIAGRAM_VIRTUALLY_FRAME" val="{&quot;height&quot;:244.8,&quot;left&quot;:374.4,&quot;top&quot;:133.2,&quot;width&quot;:540}"/>
</p:tagLst>
</file>

<file path=ppt/tags/tag7.xml><?xml version="1.0" encoding="utf-8"?>
<p:tagLst xmlns:p="http://schemas.openxmlformats.org/presentationml/2006/main">
  <p:tag name="KSO_WM_DIAGRAM_VIRTUALLY_FRAME" val="{&quot;height&quot;:244.8,&quot;left&quot;:374.4,&quot;top&quot;:133.2,&quot;width&quot;:540}"/>
</p:tagLst>
</file>

<file path=ppt/tags/tag8.xml><?xml version="1.0" encoding="utf-8"?>
<p:tagLst xmlns:p="http://schemas.openxmlformats.org/presentationml/2006/main">
  <p:tag name="KSO_WM_DIAGRAM_VIRTUALLY_FRAME" val="{&quot;height&quot;:244.8,&quot;left&quot;:374.4,&quot;top&quot;:133.2,&quot;width&quot;:540}"/>
</p:tagLst>
</file>

<file path=ppt/tags/tag9.xml><?xml version="1.0" encoding="utf-8"?>
<p:tagLst xmlns:p="http://schemas.openxmlformats.org/presentationml/2006/main">
  <p:tag name="KSO_WM_DIAGRAM_VIRTUALLY_FRAME" val="{&quot;height&quot;:244.8,&quot;left&quot;:374.4,&quot;top&quot;:133.2,&quot;width&quot;:540}"/>
</p:tagLst>
</file>

<file path=ppt/tags/tag10.xml><?xml version="1.0" encoding="utf-8"?>
<p:tagLst xmlns:p="http://schemas.openxmlformats.org/presentationml/2006/main">
  <p:tag name="KSO_WM_DIAGRAM_VIRTUALLY_FRAME" val="{&quot;height&quot;:244.8,&quot;left&quot;:374.4,&quot;top&quot;:133.2,&quot;width&quot;:540}"/>
</p:tagLst>
</file>

<file path=ppt/tags/tag11.xml><?xml version="1.0" encoding="utf-8"?>
<p:tagLst xmlns:p="http://schemas.openxmlformats.org/presentationml/2006/main">
  <p:tag name="KSO_WM_DIAGRAM_VIRTUALLY_FRAME" val="{&quot;height&quot;:270,&quot;left&quot;:43.2,&quot;top&quot;:100.8,&quot;width&quot;:871.2}"/>
</p:tagLst>
</file>

<file path=ppt/tags/tag12.xml><?xml version="1.0" encoding="utf-8"?>
<p:tagLst xmlns:p="http://schemas.openxmlformats.org/presentationml/2006/main">
  <p:tag name="KSO_WM_DIAGRAM_VIRTUALLY_FRAME" val="{&quot;height&quot;:270,&quot;left&quot;:43.2,&quot;top&quot;:100.8,&quot;width&quot;:871.2}"/>
</p:tagLst>
</file>

<file path=ppt/tags/tag13.xml><?xml version="1.0" encoding="utf-8"?>
<p:tagLst xmlns:p="http://schemas.openxmlformats.org/presentationml/2006/main">
  <p:tag name="KSO_WM_DIAGRAM_VIRTUALLY_FRAME" val="{&quot;height&quot;:270,&quot;left&quot;:43.2,&quot;top&quot;:100.8,&quot;width&quot;:871.2}"/>
</p:tagLst>
</file>

<file path=ppt/tags/tag14.xml><?xml version="1.0" encoding="utf-8"?>
<p:tagLst xmlns:p="http://schemas.openxmlformats.org/presentationml/2006/main">
  <p:tag name="KSO_WM_DIAGRAM_VIRTUALLY_FRAME" val="{&quot;height&quot;:270,&quot;left&quot;:43.2,&quot;top&quot;:100.8,&quot;width&quot;:871.2}"/>
</p:tagLst>
</file>

<file path=ppt/tags/tag15.xml><?xml version="1.0" encoding="utf-8"?>
<p:tagLst xmlns:p="http://schemas.openxmlformats.org/presentationml/2006/main">
  <p:tag name="KSO_WM_DIAGRAM_VIRTUALLY_FRAME" val="{&quot;height&quot;:270,&quot;left&quot;:43.2,&quot;top&quot;:100.8,&quot;width&quot;:871.2}"/>
</p:tagLst>
</file>

<file path=ppt/tags/tag16.xml><?xml version="1.0" encoding="utf-8"?>
<p:tagLst xmlns:p="http://schemas.openxmlformats.org/presentationml/2006/main">
  <p:tag name="KSO_WM_DIAGRAM_VIRTUALLY_FRAME" val="{&quot;height&quot;:270,&quot;left&quot;:43.2,&quot;top&quot;:100.8,&quot;width&quot;:871.2}"/>
</p:tagLst>
</file>

<file path=ppt/tags/tag17.xml><?xml version="1.0" encoding="utf-8"?>
<p:tagLst xmlns:p="http://schemas.openxmlformats.org/presentationml/2006/main">
  <p:tag name="KSO_WM_DIAGRAM_VIRTUALLY_FRAME" val="{&quot;height&quot;:270,&quot;left&quot;:43.2,&quot;top&quot;:100.8,&quot;width&quot;:871.2}"/>
</p:tagLst>
</file>

<file path=ppt/tags/tag18.xml><?xml version="1.0" encoding="utf-8"?>
<p:tagLst xmlns:p="http://schemas.openxmlformats.org/presentationml/2006/main">
  <p:tag name="KSO_WM_DIAGRAM_VIRTUALLY_FRAME" val="{&quot;height&quot;:270,&quot;left&quot;:43.2,&quot;top&quot;:100.8,&quot;width&quot;:871.2}"/>
</p:tagLst>
</file>

<file path=ppt/tags/tag19.xml><?xml version="1.0" encoding="utf-8"?>
<p:tagLst xmlns:p="http://schemas.openxmlformats.org/presentationml/2006/main">
  <p:tag name="KSO_WM_DIAGRAM_VIRTUALLY_FRAME" val="{&quot;height&quot;:270,&quot;left&quot;:43.2,&quot;top&quot;:100.8,&quot;width&quot;:871.2}"/>
</p:tagLst>
</file>

<file path=ppt/tags/tag20.xml><?xml version="1.0" encoding="utf-8"?>
<p:tagLst xmlns:p="http://schemas.openxmlformats.org/presentationml/2006/main">
  <p:tag name="KSO_WM_DIAGRAM_VIRTUALLY_FRAME" val="{&quot;height&quot;:270,&quot;left&quot;:43.2,&quot;top&quot;:100.8,&quot;width&quot;:871.2}"/>
</p:tagLst>
</file>

<file path=ppt/tags/tag21.xml><?xml version="1.0" encoding="utf-8"?>
<p:tagLst xmlns:p="http://schemas.openxmlformats.org/presentationml/2006/main">
  <p:tag name="KSO_WM_DIAGRAM_VIRTUALLY_FRAME" val="{&quot;height&quot;:270,&quot;left&quot;:43.2,&quot;top&quot;:100.8,&quot;width&quot;:871.2}"/>
</p:tagLst>
</file>

<file path=ppt/tags/tag22.xml><?xml version="1.0" encoding="utf-8"?>
<p:tagLst xmlns:p="http://schemas.openxmlformats.org/presentationml/2006/main">
  <p:tag name="KSO_WM_DIAGRAM_VIRTUALLY_FRAME" val="{&quot;height&quot;:270,&quot;left&quot;:43.2,&quot;top&quot;:100.8,&quot;width&quot;:871.2}"/>
</p:tagLst>
</file>

<file path=ppt/tags/tag23.xml><?xml version="1.0" encoding="utf-8"?>
<p:tagLst xmlns:p="http://schemas.openxmlformats.org/presentationml/2006/main">
  <p:tag name="KSO_WM_DIAGRAM_VIRTUALLY_FRAME" val="{&quot;height&quot;:270,&quot;left&quot;:43.2,&quot;top&quot;:100.8,&quot;width&quot;:871.2}"/>
</p:tagLst>
</file>

<file path=ppt/tags/tag24.xml><?xml version="1.0" encoding="utf-8"?>
<p:tagLst xmlns:p="http://schemas.openxmlformats.org/presentationml/2006/main">
  <p:tag name="KSO_WM_DIAGRAM_VIRTUALLY_FRAME" val="{&quot;height&quot;:270,&quot;left&quot;:43.2,&quot;top&quot;:100.8,&quot;width&quot;:871.2}"/>
</p:tagLst>
</file>

<file path=ppt/tags/tag25.xml><?xml version="1.0" encoding="utf-8"?>
<p:tagLst xmlns:p="http://schemas.openxmlformats.org/presentationml/2006/main">
  <p:tag name="KSO_WM_DIAGRAM_VIRTUALLY_FRAME" val="{&quot;height&quot;:270,&quot;left&quot;:43.2,&quot;top&quot;:100.8,&quot;width&quot;:871.2}"/>
</p:tagLst>
</file>

<file path=ppt/tags/tag26.xml><?xml version="1.0" encoding="utf-8"?>
<p:tagLst xmlns:p="http://schemas.openxmlformats.org/presentationml/2006/main">
  <p:tag name="KSO_WM_DIAGRAM_VIRTUALLY_FRAME" val="{&quot;height&quot;:270,&quot;left&quot;:43.2,&quot;top&quot;:100.8,&quot;width&quot;:871.2}"/>
</p:tagLst>
</file>

<file path=ppt/tags/tag27.xml><?xml version="1.0" encoding="utf-8"?>
<p:tagLst xmlns:p="http://schemas.openxmlformats.org/presentationml/2006/main">
  <p:tag name="KSO_WM_DIAGRAM_VIRTUALLY_FRAME" val="{&quot;height&quot;:270,&quot;left&quot;:43.2,&quot;top&quot;:100.8,&quot;width&quot;:871.2}"/>
</p:tagLst>
</file>

<file path=ppt/tags/tag28.xml><?xml version="1.0" encoding="utf-8"?>
<p:tagLst xmlns:p="http://schemas.openxmlformats.org/presentationml/2006/main">
  <p:tag name="KSO_WM_DIAGRAM_VIRTUALLY_FRAME" val="{&quot;height&quot;:270,&quot;left&quot;:43.2,&quot;top&quot;:100.8,&quot;width&quot;:871.2}"/>
</p:tagLst>
</file>

<file path=ppt/tags/tag29.xml><?xml version="1.0" encoding="utf-8"?>
<p:tagLst xmlns:p="http://schemas.openxmlformats.org/presentationml/2006/main">
  <p:tag name="KSO_WM_DIAGRAM_VIRTUALLY_FRAME" val="{&quot;height&quot;:270,&quot;left&quot;:43.2,&quot;top&quot;:100.8,&quot;width&quot;:871.2}"/>
</p:tagLst>
</file>

<file path=ppt/tags/tag30.xml><?xml version="1.0" encoding="utf-8"?>
<p:tagLst xmlns:p="http://schemas.openxmlformats.org/presentationml/2006/main">
  <p:tag name="KSO_WM_DIAGRAM_VIRTUALLY_FRAME" val="{&quot;height&quot;:270,&quot;left&quot;:43.2,&quot;top&quot;:100.8,&quot;width&quot;:871.2}"/>
</p:tagLst>
</file>

<file path=ppt/tags/tag31.xml><?xml version="1.0" encoding="utf-8"?>
<p:tagLst xmlns:p="http://schemas.openxmlformats.org/presentationml/2006/main">
  <p:tag name="KSO_WM_DIAGRAM_VIRTUALLY_FRAME" val="{&quot;height&quot;:270,&quot;left&quot;:43.2,&quot;top&quot;:100.8,&quot;width&quot;:871.2}"/>
</p:tagLst>
</file>

<file path=ppt/tags/tag32.xml><?xml version="1.0" encoding="utf-8"?>
<p:tagLst xmlns:p="http://schemas.openxmlformats.org/presentationml/2006/main">
  <p:tag name="KSO_WM_DIAGRAM_VIRTUALLY_FRAME" val="{&quot;height&quot;:270,&quot;left&quot;:43.2,&quot;top&quot;:100.8,&quot;width&quot;:871.2}"/>
</p:tagLst>
</file>

<file path=ppt/tags/tag33.xml><?xml version="1.0" encoding="utf-8"?>
<p:tagLst xmlns:p="http://schemas.openxmlformats.org/presentationml/2006/main">
  <p:tag name="KSO_WM_DIAGRAM_VIRTUALLY_FRAME" val="{&quot;height&quot;:270,&quot;left&quot;:43.2,&quot;top&quot;:100.8,&quot;width&quot;:871.2}"/>
</p:tagLst>
</file>

<file path=ppt/tags/tag34.xml><?xml version="1.0" encoding="utf-8"?>
<p:tagLst xmlns:p="http://schemas.openxmlformats.org/presentationml/2006/main">
  <p:tag name="KSO_WM_DIAGRAM_VIRTUALLY_FRAME" val="{&quot;height&quot;:270,&quot;left&quot;:43.2,&quot;top&quot;:100.8,&quot;width&quot;:871.2}"/>
</p:tagLst>
</file>

<file path=ppt/tags/tag35.xml><?xml version="1.0" encoding="utf-8"?>
<p:tagLst xmlns:p="http://schemas.openxmlformats.org/presentationml/2006/main">
  <p:tag name="KSO_WM_DIAGRAM_VIRTUALLY_FRAME" val="{&quot;height&quot;:270,&quot;left&quot;:43.2,&quot;top&quot;:100.8,&quot;width&quot;:871.2}"/>
</p:tagLst>
</file>

<file path=ppt/tags/tag36.xml><?xml version="1.0" encoding="utf-8"?>
<p:tagLst xmlns:p="http://schemas.openxmlformats.org/presentationml/2006/main">
  <p:tag name="KSO_WM_DIAGRAM_VIRTUALLY_FRAME" val="{&quot;height&quot;:270,&quot;left&quot;:43.2,&quot;top&quot;:100.8,&quot;width&quot;:871.2}"/>
</p:tagLst>
</file>

<file path=ppt/tags/tag37.xml><?xml version="1.0" encoding="utf-8"?>
<p:tagLst xmlns:p="http://schemas.openxmlformats.org/presentationml/2006/main">
  <p:tag name="KSO_WM_DIAGRAM_VIRTUALLY_FRAME" val="{&quot;height&quot;:270,&quot;left&quot;:43.2,&quot;top&quot;:100.8,&quot;width&quot;:871.2}"/>
</p:tagLst>
</file>

<file path=ppt/tags/tag38.xml><?xml version="1.0" encoding="utf-8"?>
<p:tagLst xmlns:p="http://schemas.openxmlformats.org/presentationml/2006/main">
  <p:tag name="KSO_WM_DIAGRAM_VIRTUALLY_FRAME" val="{&quot;height&quot;:270,&quot;left&quot;:43.2,&quot;top&quot;:100.8,&quot;width&quot;:871.2}"/>
</p:tagLst>
</file>

<file path=ppt/tags/tag39.xml><?xml version="1.0" encoding="utf-8"?>
<p:tagLst xmlns:p="http://schemas.openxmlformats.org/presentationml/2006/main">
  <p:tag name="KSO_WM_DIAGRAM_VIRTUALLY_FRAME" val="{&quot;height&quot;:270,&quot;left&quot;:43.2,&quot;top&quot;:100.8,&quot;width&quot;:871.2}"/>
</p:tagLst>
</file>

<file path=ppt/tags/tag40.xml><?xml version="1.0" encoding="utf-8"?>
<p:tagLst xmlns:p="http://schemas.openxmlformats.org/presentationml/2006/main">
  <p:tag name="KSO_WM_DIAGRAM_VIRTUALLY_FRAME" val="{&quot;height&quot;:270,&quot;left&quot;:43.2,&quot;top&quot;:100.8,&quot;width&quot;:871.2}"/>
</p:tagLst>
</file>

<file path=ppt/theme/theme1.xml><?xml version="1.0" encoding="utf-8"?>
<a:theme xmlns:a="http://schemas.openxmlformats.org/drawingml/2006/main" name="Poolmate">
  <a:themeElements>
    <a:clrScheme name="Poolmate">
      <a:dk1>
        <a:srgbClr val="1F2A3C"/>
      </a:dk1>
      <a:lt1>
        <a:srgbClr val="FFFFFF"/>
      </a:lt1>
      <a:dk2>
        <a:srgbClr val="0B1F3A"/>
      </a:dk2>
      <a:lt2>
        <a:srgbClr val="EEF3FA"/>
      </a:lt2>
      <a:accent1>
        <a:srgbClr val="1E6FD9"/>
      </a:accent1>
      <a:accent2>
        <a:srgbClr val="F5A524"/>
      </a:accent2>
      <a:accent3>
        <a:srgbClr val="12A594"/>
      </a:accent3>
      <a:accent4>
        <a:srgbClr val="5B6B82"/>
      </a:accent4>
      <a:accent5>
        <a:srgbClr val="C93B3B"/>
      </a:accent5>
      <a:accent6>
        <a:srgbClr val="9CC3F5"/>
      </a:accent6>
      <a:hlink>
        <a:srgbClr val="1E6FD9"/>
      </a:hlink>
      <a:folHlink>
        <a:srgbClr val="5B6B82"/>
      </a:folHlink>
    </a:clrScheme>
    <a:fontScheme name="Poolmat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Poolmate">
  <a:themeElements>
    <a:clrScheme name="Poolmate">
      <a:dk1>
        <a:srgbClr val="1F2A3C"/>
      </a:dk1>
      <a:lt1>
        <a:srgbClr val="FFFFFF"/>
      </a:lt1>
      <a:dk2>
        <a:srgbClr val="0B1F3A"/>
      </a:dk2>
      <a:lt2>
        <a:srgbClr val="EEF3FA"/>
      </a:lt2>
      <a:accent1>
        <a:srgbClr val="1E6FD9"/>
      </a:accent1>
      <a:accent2>
        <a:srgbClr val="F5A524"/>
      </a:accent2>
      <a:accent3>
        <a:srgbClr val="12A594"/>
      </a:accent3>
      <a:accent4>
        <a:srgbClr val="5B6B82"/>
      </a:accent4>
      <a:accent5>
        <a:srgbClr val="C93B3B"/>
      </a:accent5>
      <a:accent6>
        <a:srgbClr val="9CC3F5"/>
      </a:accent6>
      <a:hlink>
        <a:srgbClr val="1E6FD9"/>
      </a:hlink>
      <a:folHlink>
        <a:srgbClr val="5B6B82"/>
      </a:folHlink>
    </a:clrScheme>
    <a:fontScheme name="Poolmat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15057</Words>
  <Application>WPS Presentation</Application>
  <PresentationFormat>On-screen Show (16:9)</PresentationFormat>
  <Paragraphs>1100</Paragraphs>
  <Slides>27</Slides>
  <Notes>27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27</vt:i4>
      </vt:variant>
    </vt:vector>
  </HeadingPairs>
  <TitlesOfParts>
    <vt:vector size="37" baseType="lpstr">
      <vt:lpstr>Arial</vt:lpstr>
      <vt:lpstr>SimSun</vt:lpstr>
      <vt:lpstr>Wingdings</vt:lpstr>
      <vt:lpstr>Cambria</vt:lpstr>
      <vt:lpstr>Cambria</vt:lpstr>
      <vt:lpstr>Cambria</vt:lpstr>
      <vt:lpstr>Calibri</vt:lpstr>
      <vt:lpstr>Microsoft YaHei</vt:lpstr>
      <vt:lpstr>Arial Unicode MS</vt:lpstr>
      <vt:lpstr>Poolmate</vt:lpstr>
      <vt:lpstr>POOLMATE</vt:lpstr>
      <vt:lpstr>Introduction</vt:lpstr>
      <vt:lpstr>Abstract</vt:lpstr>
      <vt:lpstr>Problem Definition</vt:lpstr>
      <vt:lpstr>Objectives</vt:lpstr>
      <vt:lpstr>Existing System</vt:lpstr>
      <vt:lpstr>Proposed System</vt:lpstr>
      <vt:lpstr>Scope of the Project</vt:lpstr>
      <vt:lpstr>Literature Review</vt:lpstr>
      <vt:lpstr>Technologies Used</vt:lpstr>
      <vt:lpstr>Software and Hardware Requirements</vt:lpstr>
      <vt:lpstr>System Architecture</vt:lpstr>
      <vt:lpstr>Design Diagrams</vt:lpstr>
      <vt:lpstr>Module Description</vt:lpstr>
      <vt:lpstr>Algorithm / Methodology</vt:lpstr>
      <vt:lpstr>Implementation</vt:lpstr>
      <vt:lpstr>Results / Analysis</vt:lpstr>
      <vt:lpstr>Screenshots / Output</vt:lpstr>
      <vt:lpstr>Comparison with Existing System</vt:lpstr>
      <vt:lpstr>Testing</vt:lpstr>
      <vt:lpstr>Demo Video</vt:lpstr>
      <vt:lpstr>Advantages</vt:lpstr>
      <vt:lpstr>Limitations</vt:lpstr>
      <vt:lpstr>Conclusion</vt:lpstr>
      <vt:lpstr>Future Scope</vt:lpstr>
      <vt:lpstr>References</vt:lpstr>
      <vt:lpstr>Thank You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POOLMATE - MCA Mini Project Final Presentation</dc:title>
  <dc:creator>Sandeep Kumar VS</dc:creator>
  <dc:subject>MCA Mini Project Final Presentation</dc:subject>
  <cp:lastModifiedBy>Tuneco</cp:lastModifiedBy>
  <cp:revision>13</cp:revision>
  <dcterms:created xsi:type="dcterms:W3CDTF">2026-10-09T05:14:00Z</dcterms:created>
  <dcterms:modified xsi:type="dcterms:W3CDTF">2026-10-23T06:35:15Z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BB8112B28DBB4A95A3B0E15F5724FE5B_13</vt:lpwstr>
  </property>
  <property fmtid="{D5CDD505-2E9C-101B-9397-08002B2CF9AE}" pid="3" name="KSOProductBuildVer">
    <vt:lpwstr>1033-12.1.0.28099</vt:lpwstr>
  </property>
</Properties>
</file>